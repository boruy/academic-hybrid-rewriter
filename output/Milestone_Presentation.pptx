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800753f78444c0" /><Relationship Type="http://schemas.openxmlformats.org/officeDocument/2006/relationships/extended-properties" Target="/docProps/app.xml" Id="R06a5433fd373493d" /><Relationship Type="http://schemas.openxmlformats.org/officeDocument/2006/relationships/officeDocument" Target="/ppt/presentation.xml" Id="Rfc3c9de305a940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863b95692248ba"/>
  </p:sldMasterIdLst>
  <p:notesMasterIdLst>
    <p:notesMasterId xmlns:r="http://schemas.openxmlformats.org/officeDocument/2006/relationships" r:id="Rbddcabd66ea54e2a"/>
  </p:notesMasterIdLst>
  <p:sldIdLst>
    <p:sldId xmlns:r="http://schemas.openxmlformats.org/officeDocument/2006/relationships" id="256" r:id="R6a9a7db252aa42c0"/>
    <p:sldId xmlns:r="http://schemas.openxmlformats.org/officeDocument/2006/relationships" id="257" r:id="R785060a770254b02"/>
    <p:sldId xmlns:r="http://schemas.openxmlformats.org/officeDocument/2006/relationships" id="258" r:id="Ra069afce18364bab"/>
    <p:sldId xmlns:r="http://schemas.openxmlformats.org/officeDocument/2006/relationships" id="259" r:id="R7bd0bbdfbf434041"/>
    <p:sldId xmlns:r="http://schemas.openxmlformats.org/officeDocument/2006/relationships" id="260" r:id="Rfc754c21327d4cb1"/>
    <p:sldId xmlns:r="http://schemas.openxmlformats.org/officeDocument/2006/relationships" id="261" r:id="R321b07275f8040a0"/>
    <p:sldId xmlns:r="http://schemas.openxmlformats.org/officeDocument/2006/relationships" id="262" r:id="R21a98bcd0c5b48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3245e2e441408e" /><Relationship Type="http://schemas.openxmlformats.org/officeDocument/2006/relationships/slideMaster" Target="/ppt/slideMasters/slideMaster1.xml" Id="R5c863b95692248ba" /><Relationship Type="http://schemas.openxmlformats.org/officeDocument/2006/relationships/notesMaster" Target="/ppt/notesMasters/notesMaster1.xml" Id="Rbddcabd66ea54e2a" /><Relationship Type="http://schemas.openxmlformats.org/officeDocument/2006/relationships/presProps" Target="/ppt/presProps.xml" Id="R4559cb9f4c3d4cb9" /><Relationship Type="http://schemas.openxmlformats.org/officeDocument/2006/relationships/tableStyles" Target="/ppt/tableStyles.xml" Id="R5b9c90a061094000" /><Relationship Type="http://schemas.openxmlformats.org/officeDocument/2006/relationships/slide" Target="/ppt/slides/slide1.xml" Id="R6a9a7db252aa42c0" /><Relationship Type="http://schemas.openxmlformats.org/officeDocument/2006/relationships/slide" Target="/ppt/slides/slide2.xml" Id="R785060a770254b02" /><Relationship Type="http://schemas.openxmlformats.org/officeDocument/2006/relationships/slide" Target="/ppt/slides/slide3.xml" Id="Ra069afce18364bab" /><Relationship Type="http://schemas.openxmlformats.org/officeDocument/2006/relationships/slide" Target="/ppt/slides/slide4.xml" Id="R7bd0bbdfbf434041" /><Relationship Type="http://schemas.openxmlformats.org/officeDocument/2006/relationships/slide" Target="/ppt/slides/slide5.xml" Id="Rfc754c21327d4cb1" /><Relationship Type="http://schemas.openxmlformats.org/officeDocument/2006/relationships/slide" Target="/ppt/slides/slide6.xml" Id="R321b07275f8040a0" /><Relationship Type="http://schemas.openxmlformats.org/officeDocument/2006/relationships/slide" Target="/ppt/slides/slide7.xml" Id="R21a98bcd0c5b48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37c4250b9440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caa8a43cff4e45" /><Relationship Type="http://schemas.openxmlformats.org/officeDocument/2006/relationships/notesMaster" Target="/ppt/notesMasters/notesMaster1.xml" Id="Rb584badda1fa49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f5d08e1de74acd" /><Relationship Type="http://schemas.openxmlformats.org/officeDocument/2006/relationships/notesMaster" Target="/ppt/notesMasters/notesMaster1.xml" Id="R72cd7265d4c641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745121de144c03" /><Relationship Type="http://schemas.openxmlformats.org/officeDocument/2006/relationships/notesMaster" Target="/ppt/notesMasters/notesMaster1.xml" Id="Re0fb273792b447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13916ef126469d" /><Relationship Type="http://schemas.openxmlformats.org/officeDocument/2006/relationships/notesMaster" Target="/ppt/notesMasters/notesMaster1.xml" Id="R3e9d7f1ce4944c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3ed3b4d21a46f7" /><Relationship Type="http://schemas.openxmlformats.org/officeDocument/2006/relationships/notesMaster" Target="/ppt/notesMasters/notesMaster1.xml" Id="Rc7baf921b72047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5dfcee5d894e5f" /><Relationship Type="http://schemas.openxmlformats.org/officeDocument/2006/relationships/notesMaster" Target="/ppt/notesMasters/notesMaster1.xml" Id="R1ddafdc17c7c43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9d5cbc88db4004" /><Relationship Type="http://schemas.openxmlformats.org/officeDocument/2006/relationships/notesMaster" Target="/ppt/notesMasters/notesMaster1.xml" Id="R75a40179a33d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我们研究学术文本的风格增强，目标是在保留事实和原意的前提下，帮助作者发现并改写不合适的表达。第一阶段提出 Transformer 与 Mamba 混合结构，本次重点展示已经落实的数据、代码与运行证据。我们的范围仍然是英文句子级修订，作者保留最终决定权。今天展示的小模型是流程验证，尚不具备实际改写质量。</a:t>
            </a:r>
          </a:p>
          <a:p xmlns:a="http://schemas.openxmlformats.org/drawingml/2006/main">
            <a:r>
              <a:t>来源：本地 Proposal.pdf；数据与代码证据见 README.md、docs/Progress_Evidence.md。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我们正式选用了作者发布的 IteraTeR-HUMAN sentence 数据，而不是规模更大的 FULL 或 v2。下载版本固定并记录了哈希。原始数据共四千零十八对，包含多个领域。我们根据 arXiv 文档编号筛选学术文本，保留 style、clarity 和 fluency，删除空文本、重复、过长样本以及数值变化的文本对，得到六百七十六对。按文档分组重新划分，训练四百九十一、验证九十八、测试八十七对。这是按文档组划分八比一比一，所以句子数量比例不会完全一致。跨集合的文档和完全相同文本重叠都是零。下面的例子来自上游人工修订，不能当成模型输出。也需要强调，标签并不等于一定改善了学术风格。</a:t>
            </a:r>
          </a:p>
          <a:p xmlns:a="http://schemas.openxmlformats.org/drawingml/2006/main">
            <a:r>
              <a:t>来源：https://huggingface.co/datasets/wanyu/IteraTeR_human_sent ；https://github.com/vipulraheja/iterater ；data/raw/manifest.json；data/processed/stats.json。示例：arXiv 2012.08987，上游 train.json 第 778 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模型首先用 Transformer 编码源句，获得包含全句上下文的表示。Mamba 参考模块对表示做选择性状态空间处理，再通过残差或门控融合送给 Transformer 解码器。默认门控公式是 Z 等于 H 加上 G 乘 M，训练目标是忽略 padding 的序列交叉熵。我们实现了 gated、residual 和 replace 三种融合方式，其中 replace 用来消融跳连。当前 Mamba 使用普通 PyTorch 顺序扫描，是用于验证的参考实现，尚未验证与官方优化内核的数值一致性。它依然保留 Transformer 注意力，因此不能声称整个模型已经实现线性复杂度或速度提升。</a:t>
            </a:r>
          </a:p>
          <a:p xmlns:a="http://schemas.openxmlformats.org/drawingml/2006/main">
            <a:r>
              <a:t>来源：src/academic_rewriter/models.py；https://arxiv.org/abs/2312.00752 ；https://github.com/state-spaces/mamba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目前完成了清洗、文档级划分、仅用训练集学习的 tokenizer、动态 padding、目标掩码，以及两个模型的训练和生成流程。我们使用同一随机种子和小型 BART，在六十四个真实训练样本上分别运行三十步，验证集使用十六对。表中给出相同固定训练批次的前后损失，验证交叉熵则来自独立验证子集。两个模型都完成了反向传播、生成和保存。四项测试覆盖了数据泄漏、数值保护、Mamba 梯度和三种融合路径。这里的损失变化只说明流程已打通，不能说明 Hybrid 更好。保存的验证样例生成结果为空，无法用于改写，测试集没有参与模型评估。</a:t>
            </a:r>
          </a:p>
          <a:p xmlns:a="http://schemas.openxmlformats.org/drawingml/2006/main">
            <a:r>
              <a:t>来源：runs/transformer_smoke/result.json；runs/hybrid_smoke/result.json；runs/tests.txt。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当前最明显的问题是监督信号与项目目标之间还有差距。六百七十六对数据里只有二十四对标为 style，绝大多数属于清晰度和流畅度修订，因此我们需要扩充数据并独立标注学术风格。其次，数值一致检查只能发现部分事实变化，否定、语气、实体和引用还要人工检查。技术上，官方 Mamba 对运行环境和内核有要求，本机当前验证的是顺序扫描参考模块，不能用来推导优化版本的效率。另外，检测器仍然是规则原型，预训练微调、Mamba-only 基线和正式质量评估都未完成。</a:t>
            </a:r>
          </a:p>
          <a:p xmlns:a="http://schemas.openxmlformats.org/drawingml/2006/main">
            <a:r>
              <a:t>来源：data/processed/stats.json；src/academic_rewriter/detect.py；https://github.com/state-spaces/mamba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下面是建议的组内执行目标，不是老师给出的最终截止日期。Milestone 周先审核五十对样本并准备独立的检测标签。十一月第一周建立预训练 BART Baseline，使用验证集选择模型。第二周验证官方 Mamba 并进行 Hybrid 与融合消融。第三周开展盲评和效率测试，并集成作者审阅演示。成员分工沿用 Proposal：数据由 Licheng Wang 负责，训练评估由 Haoxiang Ning 负责，模型结构由 Borui Ning 负责，界面和材料由 Lingfeng Lu 负责。正式实验会匹配数据、长度和解码设置，并在固定方案后再评估测试集。</a:t>
            </a:r>
          </a:p>
          <a:p xmlns:a="http://schemas.openxmlformats.org/drawingml/2006/main">
            <a:r>
              <a:t>来源：Proposal.pdf；docs/Architecture_and_Protocol.md。以上日期为建议计划，需与课程最终日程核对。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本阶段的交付包括可追溯的真实数据、六百七十六对清洗样本、可运行的 Transformer 与 Hybrid 原型，以及真实的三十步 GPU 日志。代码仓库结构和运行说明已经建立，远程 GitHub 地址仍需在团队账户下发布。下一阶段的中心任务是预训练模型微调、完善学术风格监督和保持原意的独立评估。我们目前可以证明项目已经从构想进入实施，但尚未证明混合模型的质量或效率优势。</a:t>
            </a:r>
          </a:p>
          <a:p xmlns:a="http://schemas.openxmlformats.org/drawingml/2006/main">
            <a:r>
              <a:t>来源：README.md；docs/Progress_Evidence.md。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e803365c849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fbf6b53e14c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489894f0546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6b2a9f8384d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3bfcb34364e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54dbeb4d5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878A49-456B-42F8-92DF-54B095820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51777E-AF86-4E02-A7A3-D5960DDCC2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F93A70-99FC-4E31-8F9A-FAEAC8A6B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138A3F-99F2-412F-B181-9D5D28AD87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83C8AD-450B-4B47-82EF-1E6F8B7DA5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4BD89B-4A40-4349-B19E-FF9E9EC0BD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2C522F-459C-4052-B8B8-0D1AB97ABE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2E917D-6EA0-4DC6-8A0D-FECF564A1F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607629-C109-4771-B0C5-74A0C40C2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E171F6-B161-47C2-BC8A-78E1C5B23B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8b909b936b43b0" /><Relationship Type="http://schemas.openxmlformats.org/officeDocument/2006/relationships/slideLayout" Target="/ppt/slideLayouts/slideLayout1.xml" Id="Rf99becb497554712" /><Relationship Type="http://schemas.openxmlformats.org/officeDocument/2006/relationships/slideLayout" Target="/ppt/slideLayouts/slideLayout2.xml" Id="R6c7222ada3a347bf" /><Relationship Type="http://schemas.openxmlformats.org/officeDocument/2006/relationships/slideLayout" Target="/ppt/slideLayouts/slideLayout3.xml" Id="R6c25b305f3744211" /><Relationship Type="http://schemas.openxmlformats.org/officeDocument/2006/relationships/slideLayout" Target="/ppt/slideLayouts/slideLayout4.xml" Id="Re4f34994bfe747d1" /><Relationship Type="http://schemas.openxmlformats.org/officeDocument/2006/relationships/slideLayout" Target="/ppt/slideLayouts/slideLayout5.xml" Id="Rc87dec5953a64ff8" /><Relationship Type="http://schemas.openxmlformats.org/officeDocument/2006/relationships/slideLayout" Target="/ppt/slideLayouts/slideLayout6.xml" Id="R7a6597fa836f43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9becb497554712"/>
    <p:sldLayoutId xmlns:r="http://schemas.openxmlformats.org/officeDocument/2006/relationships" id="2147483650" r:id="R6c7222ada3a347bf"/>
    <p:sldLayoutId xmlns:r="http://schemas.openxmlformats.org/officeDocument/2006/relationships" id="2147483651" r:id="R6c25b305f3744211"/>
    <p:sldLayoutId xmlns:r="http://schemas.openxmlformats.org/officeDocument/2006/relationships" id="2147483652" r:id="Re4f34994bfe747d1"/>
    <p:sldLayoutId xmlns:r="http://schemas.openxmlformats.org/officeDocument/2006/relationships" id="2147483653" r:id="Rc87dec5953a64ff8"/>
    <p:sldLayoutId xmlns:r="http://schemas.openxmlformats.org/officeDocument/2006/relationships" id="2147483654" r:id="R7a6597fa836f43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b66298fe547f4" /><Relationship Type="http://schemas.openxmlformats.org/officeDocument/2006/relationships/notesSlide" Target="/ppt/notesSlides/notesSlide1.xml" Id="R28924b59381248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e41ad1a8a476c" /><Relationship Type="http://schemas.openxmlformats.org/officeDocument/2006/relationships/notesSlide" Target="/ppt/notesSlides/notesSlide2.xml" Id="R7179c1b3f166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7abbfb4564a11" /><Relationship Type="http://schemas.openxmlformats.org/officeDocument/2006/relationships/notesSlide" Target="/ppt/notesSlides/notesSlide3.xml" Id="Re33b394e901c48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dadd23778647d4" /><Relationship Type="http://schemas.openxmlformats.org/officeDocument/2006/relationships/notesSlide" Target="/ppt/notesSlides/notesSlide4.xml" Id="R01aa507c927747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02a0501174e7b" /><Relationship Type="http://schemas.openxmlformats.org/officeDocument/2006/relationships/notesSlide" Target="/ppt/notesSlides/notesSlide5.xml" Id="Rd94f44548deb4a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c1ede8be7e40ee" /><Relationship Type="http://schemas.openxmlformats.org/officeDocument/2006/relationships/notesSlide" Target="/ppt/notesSlides/notesSlide6.xml" Id="Rd952d099b4fd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e3fe62483434e" /><Relationship Type="http://schemas.openxmlformats.org/officeDocument/2006/relationships/notesSlide" Target="/ppt/notesSlides/notesSlide7.xml" Id="Rf41b3a4cd62245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4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54FA9-05A9-4CEB-9158-68EE4B9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5E8E6"/>
                </a:solidFill>
                <a:latin typeface="Arial"/>
                <a:ea typeface="Arial"/>
                <a:cs typeface="Arial"/>
              </a:rPr>
              <a:t>PROJECT PRESENTATION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8605C-D778-4B8D-BD62-E0333847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Academic Text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Style Enhancement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4A213-58C4-4620-BFBD-56DC2416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Transformer + Mamba hybrid for meaning-preserving revision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CB291-4C9E-4D6A-88A6-41C10C6A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5E8E6"/>
                </a:solidFill>
                <a:latin typeface="Arial"/>
                <a:ea typeface="Arial"/>
                <a:cs typeface="Arial"/>
              </a:rPr>
              <a:t>Milestone: real data, working code and initial GPU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005A1-E501-461B-9D9F-64E5845C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Borui Ning   Licheng Wang   Haoxiang Ning   Lingfeng Lu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0CE9C-BBD0-4AE3-9B67-CDD6EEB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E8E6"/>
                </a:solidFill>
                <a:latin typeface="Arial"/>
                <a:ea typeface="Arial"/>
                <a:cs typeface="Arial"/>
              </a:rPr>
              <a:t>Week 9   October 25–31,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48D093-241C-47F5-9ADD-DE3240BA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E8E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3283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5686E-7498-4B2D-BEB1-21795B93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444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27382-2C27-4D0E-8AC4-A3609B29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955FC1-15BD-4959-B71E-7B7A921C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7D80"/>
                </a:solidFill>
                <a:latin typeface="Arial"/>
                <a:ea typeface="Arial"/>
                <a:cs typeface="Arial"/>
              </a:rPr>
              <a:t>IteraTeR-HUMAN sentence release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89D33-923F-4248-B551-5AA4681E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444"/>
                </a:solidFill>
                <a:latin typeface="Arial"/>
                <a:ea typeface="Arial"/>
                <a:cs typeface="Arial"/>
              </a:rPr>
              <a:t>4,018 original records     676 retained arXiv revision pairs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56840-CF2E-4683-8233-1F88031B9FDD}"/>
              </a:ext>
            </a:extLst>
          </p:cNvPr>
          <p:cNvGraphicFramePr/>
          <p:nvPr/>
        </p:nvGraphicFramePr>
        <p:xfrm>
          <a:off xmlns:a="http://schemas.openxmlformats.org/drawingml/2006/main" x="685800" y="2505075"/>
          <a:ext xmlns:a="http://schemas.openxmlformats.org/drawingml/2006/main" cx="10820400" cy="1981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2705100"/>
                <a:gridCol w="2705100"/>
              </a:tblGrid>
              <a:tr h="495300">
                <a:tc>
                  <a:txBody>
                    <a:bodyPr lIns="152400" tIns="11430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Pairs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Documents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</a:tr>
              <a:tr h="495300">
                <a:tc>
                  <a:txBody>
                    <a:bodyPr lIns="152400" tIns="114300" rIns="114300" bIns="95250"/>
                    <a:lstStyle/>
                    <a:p>
                      <a:r>
                        <a:rPr sz="195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95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491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95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152400" tIns="114300" rIns="114300" bIns="95250"/>
                    <a:lstStyle/>
                    <a:p>
                      <a:r>
                        <a:rPr sz="195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95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98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95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  <a:tr h="495300">
                <a:tc>
                  <a:txBody>
                    <a:bodyPr lIns="152400" tIns="114300" rIns="114300" bIns="95250"/>
                    <a:lstStyle/>
                    <a:p>
                      <a:r>
                        <a:rPr sz="195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95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87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95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7DF44-4D3B-4291-B6E1-A8F1C761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7D80"/>
                </a:solidFill>
                <a:latin typeface="Arial"/>
                <a:ea typeface="Arial"/>
                <a:cs typeface="Arial"/>
              </a:rPr>
              <a:t>Real human revision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EA413-45AD-4A7C-B23D-6F89BBEC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444"/>
                </a:solidFill>
                <a:latin typeface="Arial"/>
                <a:ea typeface="Arial"/>
                <a:cs typeface="Arial"/>
              </a:rPr>
              <a:t>Source: Discovering new intents is a crucial task in a dialogue system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632E2-525B-4A03-851D-8AA97258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444"/>
                </a:solidFill>
                <a:latin typeface="Arial"/>
                <a:ea typeface="Arial"/>
                <a:cs typeface="Arial"/>
              </a:rPr>
              <a:t>Reference: Discovering new intents is a crucial task in dialogue systems 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88A55-EEA1-4DC2-9E04-FB2AAA7D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Document-group split, seed 42. Cross-split document and exact-text overlap: 0.</a:t>
            </a:r>
          </a:p>
        </p:txBody>
      </p:sp>
    </p:spTree>
    <p:extLst>
      <p:ext uri="{BB962C8B-B14F-4D97-AF65-F5344CB8AC3E}">
        <p14:creationId xmlns:p14="http://schemas.microsoft.com/office/powerpoint/2010/main" val="21292511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8A900-5D06-4BA6-8795-7A8B2E6E097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305800" y="32385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7D80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F8BB0-5009-47DD-8A73-AE354E22850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562600" y="32385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7D80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CDEE7-7BA5-4A1C-9C27-A4E6C420A77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19400" y="32385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37D80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3E146-0EFA-4DB7-96B8-1A8B24C1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444"/>
                </a:solidFill>
                <a:latin typeface="Arial"/>
                <a:ea typeface="Arial"/>
                <a:cs typeface="Arial"/>
              </a:rPr>
              <a:t>Proposed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87956-7DC1-46C4-BB1B-3ACD90F2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A39D6-FEE7-417D-B70E-BA60CCB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7D80"/>
                </a:solidFill>
                <a:latin typeface="Arial"/>
                <a:ea typeface="Arial"/>
                <a:cs typeface="Arial"/>
              </a:rPr>
              <a:t>Sentence-level detection and rewriting with author review</a:t>
            </a:r>
          </a:p>
        </p:txBody>
      </p:sp>
      <p:sp>
        <p:nvSpPr>
          <p:cNvPr id="4" name="Transformer encoder">
            <a:extLst xmlns:a="http://schemas.openxmlformats.org/drawingml/2006/main">
              <a:ext uri="{FF2B5EF4-FFF2-40B4-BE49-F238E27FC236}">
                <a16:creationId xmlns:a16="http://schemas.microsoft.com/office/drawing/2014/main" id="{45C54710-632D-4B9D-9C14-6E94D5C6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13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7B7F3-74F8-4DC5-810D-E7E892D0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Global source context</a:t>
            </a:r>
          </a:p>
        </p:txBody>
      </p:sp>
      <p:sp>
        <p:nvSpPr>
          <p:cNvPr id="6" name="Mamba refinement">
            <a:extLst xmlns:a="http://schemas.openxmlformats.org/drawingml/2006/main">
              <a:ext uri="{FF2B5EF4-FFF2-40B4-BE49-F238E27FC236}">
                <a16:creationId xmlns:a16="http://schemas.microsoft.com/office/drawing/2014/main" id="{AB679AD9-1743-4F9D-AFD6-B50C4E19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13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7D8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Mamba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refinement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5C1E6-43B7-4078-9842-D9FB6D02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Selective state updates</a:t>
            </a:r>
          </a:p>
        </p:txBody>
      </p:sp>
      <p:sp>
        <p:nvSpPr>
          <p:cNvPr id="8" name="Feature fusion">
            <a:extLst xmlns:a="http://schemas.openxmlformats.org/drawingml/2006/main">
              <a:ext uri="{FF2B5EF4-FFF2-40B4-BE49-F238E27FC236}">
                <a16:creationId xmlns:a16="http://schemas.microsoft.com/office/drawing/2014/main" id="{8E8815C8-D34A-49FF-8013-F75A7399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213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1C878-5B83-46B6-95D9-A56C31FB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00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Gated / residual / replace</a:t>
            </a:r>
          </a:p>
        </p:txBody>
      </p:sp>
      <p:sp>
        <p:nvSpPr>
          <p:cNvPr id="10" name="Transformer decoder">
            <a:extLst xmlns:a="http://schemas.openxmlformats.org/drawingml/2006/main">
              <a:ext uri="{FF2B5EF4-FFF2-40B4-BE49-F238E27FC236}">
                <a16:creationId xmlns:a16="http://schemas.microsoft.com/office/drawing/2014/main" id="{C0CEE973-BE4A-4275-B48A-81DED43F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2133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522B3-8DE2-40D4-A0D4-7A1E960F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0025"/>
            <a:ext cx="2133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Autoregressive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5B7F7-B9C6-4DF6-B4E2-07352E0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Source 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9963C-CF7D-46D0-8D1D-E44C124B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444"/>
                </a:solidFill>
                <a:latin typeface="Arial"/>
                <a:ea typeface="Arial"/>
                <a:cs typeface="Arial"/>
              </a:rPr>
              <a:t>Z = H + G ⊙ M       G = sigmoid(W[H; M] + b)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8C9F0-0349-4B03-9760-532CC594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444"/>
                </a:solidFill>
                <a:latin typeface="Arial"/>
                <a:ea typeface="Arial"/>
                <a:cs typeface="Arial"/>
              </a:rPr>
              <a:t>Objective: target-token cross-entropy with padding ignored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9C5E3-0EAD-42A5-BAC2-4EBC0A8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334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Current adapter: sequential PyTorch reference. Official optimized kernel validation is pending.</a:t>
            </a:r>
          </a:p>
        </p:txBody>
      </p:sp>
    </p:spTree>
    <p:extLst>
      <p:ext uri="{BB962C8B-B14F-4D97-AF65-F5344CB8AC3E}">
        <p14:creationId xmlns:p14="http://schemas.microsoft.com/office/powerpoint/2010/main" val="87937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EAD1A-593D-4F07-A7DC-4FA69721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444"/>
                </a:solidFill>
                <a:latin typeface="Arial"/>
                <a:ea typeface="Arial"/>
                <a:cs typeface="Arial"/>
              </a:rPr>
              <a:t>Current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61034-7205-426B-A565-E21BC953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D160A-CDF5-4A65-AC18-5D5A4A81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7D80"/>
                </a:solidFill>
                <a:latin typeface="Arial"/>
                <a:ea typeface="Arial"/>
                <a:cs typeface="Arial"/>
              </a:rPr>
              <a:t>Both pipelines completed forward, backward and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05717-D75A-4AC7-8B25-239F0A1D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444"/>
                </a:solidFill>
                <a:latin typeface="Arial"/>
                <a:ea typeface="Arial"/>
                <a:cs typeface="Arial"/>
              </a:rPr>
              <a:t>30 GPU updates per model     64 train pairs     16 validation pairs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A11F9-1111-4C5F-9CAB-A9FD3D74D89E}"/>
              </a:ext>
            </a:extLst>
          </p:cNvPr>
          <p:cNvGraphicFramePr/>
          <p:nvPr/>
        </p:nvGraphicFramePr>
        <p:xfrm>
          <a:off xmlns:a="http://schemas.openxmlformats.org/drawingml/2006/main" x="685800" y="2657475"/>
          <a:ext xmlns:a="http://schemas.openxmlformats.org/drawingml/2006/main" cx="108204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686050"/>
                <a:gridCol w="2686050"/>
                <a:gridCol w="2495550"/>
              </a:tblGrid>
              <a:tr h="704850">
                <a:tc>
                  <a:txBody>
                    <a:bodyPr lIns="152400" tIns="11430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Initial batch CE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 batch CE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CE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</a:tr>
              <a:tr h="704850"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Transformer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7.778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6.571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6.841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7.778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6.570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6.840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7A05C-7A7A-411A-BE90-17E4FBCC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444"/>
                </a:solidFill>
                <a:latin typeface="Arial"/>
                <a:ea typeface="Arial"/>
                <a:cs typeface="Arial"/>
              </a:rPr>
              <a:t>4 integrity tests passed. Checkpoints and logs saved locally.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6B961-FB0C-44EF-95B3-57B6E815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7D8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7D80"/>
                </a:solidFill>
                <a:latin typeface="Arial"/>
                <a:ea typeface="Arial"/>
                <a:cs typeface="Arial"/>
              </a:rPr>
              <a:t>Random tiny models verify connectivity. Rewriting quality remains unestablished.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CE956-9541-40DF-9C69-1D47A669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33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RTX 4060 Laptop GPU. PyTorch 2.2.0+cu121. Test set excluded from model evaluation.</a:t>
            </a:r>
          </a:p>
        </p:txBody>
      </p:sp>
    </p:spTree>
    <p:extLst>
      <p:ext uri="{BB962C8B-B14F-4D97-AF65-F5344CB8AC3E}">
        <p14:creationId xmlns:p14="http://schemas.microsoft.com/office/powerpoint/2010/main" val="1630651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EA0A2-B273-4095-BD32-7AEA923F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444"/>
                </a:solidFill>
                <a:latin typeface="Arial"/>
                <a:ea typeface="Arial"/>
                <a:cs typeface="Arial"/>
              </a:rPr>
              <a:t>Current challenges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2850C-761D-430C-BF7D-80223C6B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E7EE7-BD16-4FAE-9650-2D6E8B1F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7D80"/>
                </a:solidFill>
                <a:latin typeface="Arial"/>
                <a:ea typeface="Arial"/>
                <a:cs typeface="Arial"/>
              </a:rPr>
              <a:t>Data coverage and model validation remain the main constraints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E53C5-A510-40ED-8E01-84D1964A6344}"/>
              </a:ext>
            </a:extLst>
          </p:cNvPr>
          <p:cNvGraphicFramePr/>
          <p:nvPr/>
        </p:nvGraphicFramePr>
        <p:xfrm>
          <a:off xmlns:a="http://schemas.openxmlformats.org/drawingml/2006/main" x="685800" y="2152650"/>
          <a:ext xmlns:a="http://schemas.openxmlformats.org/drawingml/2006/main" cx="108204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790950"/>
                <a:gridCol w="4552950"/>
              </a:tblGrid>
              <a:tr h="731520">
                <a:tc>
                  <a:txBody>
                    <a:bodyPr lIns="152400" tIns="114300" rIns="11430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Problem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evidence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</a:tr>
              <a:tr h="731520"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Style supervision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24 of 676 pairs have a style label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Expand academic pairs and annotate tone independently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Meaning preservation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Number checks miss negation, hedging and entities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Audit source/reference pairs and use blind human review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  <a:tr h="731520"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Mamba integration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Reference scan runs. Official backend is untested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Validate Linux/WSL2 kernels, gradients and memory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Prototype maturity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Random tiny models and a heuristic detector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725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Fine-tune pretrained BART and train a labeled detector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5FED3-CA19-4EDE-84C0-B370A725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33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No final quality, speedup or academic-style improvement claim is supported yet.</a:t>
            </a:r>
          </a:p>
        </p:txBody>
      </p:sp>
    </p:spTree>
    <p:extLst>
      <p:ext uri="{BB962C8B-B14F-4D97-AF65-F5344CB8AC3E}">
        <p14:creationId xmlns:p14="http://schemas.microsoft.com/office/powerpoint/2010/main" val="187360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65D7F-51F3-4D1B-8B05-6F758BE3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444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6C446-56A8-42C6-8D21-F3A8BBF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9011D-E0DD-4981-BB80-D40F1E34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37D8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7D80"/>
                </a:solidFill>
                <a:latin typeface="Arial"/>
                <a:ea typeface="Arial"/>
                <a:cs typeface="Arial"/>
              </a:rPr>
              <a:t>Suggested team targets after the milestone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1DF23-1E73-4D6E-B949-9D6F016A5600}"/>
              </a:ext>
            </a:extLst>
          </p:cNvPr>
          <p:cNvGraphicFramePr/>
          <p:nvPr/>
        </p:nvGraphicFramePr>
        <p:xfrm>
          <a:off xmlns:a="http://schemas.openxmlformats.org/drawingml/2006/main" x="685800" y="2133600"/>
          <a:ext xmlns:a="http://schemas.openxmlformats.org/drawingml/2006/main" cx="108204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543175"/>
                <a:gridCol w="6181725"/>
              </a:tblGrid>
              <a:tr h="683895">
                <a:tc>
                  <a:txBody>
                    <a:bodyPr lIns="152400" tIns="11430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date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Reviewable output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T w="7620">
                      <a:solidFill>
                        <a:srgbClr val="CFD9D7"/>
                      </a:solidFill>
                      <a:prstDash val="solid"/>
                    </a:lnT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153444"/>
                    </a:solidFill>
                  </a:tcPr>
                </a:tc>
              </a:tr>
              <a:tr h="683895"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Oct 25–31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Licheng Wang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Audit 50 pairs and create detector labels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Nov 1–7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Haoxiang Ning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Pretrained BART baseline and validation checkpoint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  <a:tr h="683895"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Nov 8–14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Borui Ning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Official Mamba checks and fusion ablations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Nov 15–21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FD9D7"/>
                      </a:solidFill>
                      <a:prstDash val="solid"/>
                    </a:lnL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Lingfeng Lu + team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  <a:tc>
                  <a:txBody>
                    <a:bodyPr lIns="152400" tIns="114300" rIns="114300" bIns="95250"/>
                    <a:lstStyle/>
                    <a:p>
                      <a:r>
                        <a:rPr sz="1800" b="0">
                          <a:solidFill>
                            <a:srgbClr val="153444"/>
                          </a:solidFill>
                          <a:latin typeface="Arial"/>
                          <a:ea typeface="Arial"/>
                          <a:cs typeface="Arial"/>
                        </a:rPr>
                        <a:t>Blind review, efficiency table and author-review demo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FD9D7"/>
                      </a:solidFill>
                      <a:prstDash val="solid"/>
                    </a:lnR>
                    <a:lnB w="7620">
                      <a:solidFill>
                        <a:srgbClr val="CFD9D7"/>
                      </a:solidFill>
                      <a:prstDash val="solid"/>
                    </a:lnB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80E9A-B4A2-4EE5-9B64-528DDFDB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534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53444"/>
                </a:solidFill>
                <a:latin typeface="Arial"/>
                <a:ea typeface="Arial"/>
                <a:cs typeface="Arial"/>
              </a:rPr>
              <a:t>Matched splits and decoding. Validation-based selection. Test after protocol freeze.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C302B-7A57-4493-ADC1-1F8D42A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33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Working targets, not course-issued deadlines. Confirm the final course schedule.</a:t>
            </a:r>
          </a:p>
        </p:txBody>
      </p:sp>
    </p:spTree>
    <p:extLst>
      <p:ext uri="{BB962C8B-B14F-4D97-AF65-F5344CB8AC3E}">
        <p14:creationId xmlns:p14="http://schemas.microsoft.com/office/powerpoint/2010/main" val="1132728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34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36111-7E07-4691-9BFE-DAB01152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Milestone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D085F-A21F-462A-99D6-FDB8B291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E8E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ADC78-BB9E-4212-822C-374F42C3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5E8E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E8E6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8C7B2-AF06-4C85-AAB7-E57C95F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676 real academic revision pairs with auditable splits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C8807-E8D2-4439-8C8B-C2AA0AD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Transformer and Hybrid training pipelines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803E0-241B-4808-B24B-C5B5090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GPU logs, checkpoints and reproducible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E3B6E-A307-4BF1-AC55-5D625360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5E8E6"/>
                </a:solidFill>
                <a:latin typeface="Arial"/>
                <a:ea typeface="Arial"/>
                <a:cs typeface="Arial"/>
              </a:rPr>
              <a:t>Next focus: pretrained training and independent quality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4FBDF-32F4-4B2D-9DC6-CD064891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33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5E8E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5E8E6"/>
                </a:solidFill>
                <a:latin typeface="Arial"/>
                <a:ea typeface="Arial"/>
                <a:cs typeface="Arial"/>
              </a:rPr>
              <a:t>Local repository prepared. Remote GitHub publication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308913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2026-10-24T03:24:46.9340000Z</dcterms:created>
  <dcterms:modified xsi:type="dcterms:W3CDTF">2026-10-24T03:24:46.9340000Z</dcterms:modified>
</coreProperties>
</file>