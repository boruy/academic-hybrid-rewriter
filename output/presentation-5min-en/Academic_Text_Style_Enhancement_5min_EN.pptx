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5c6bba25b8c431c" /><Relationship Type="http://schemas.openxmlformats.org/officeDocument/2006/relationships/extended-properties" Target="/docProps/app.xml" Id="R5ec0337e3a484e4f" /><Relationship Type="http://schemas.openxmlformats.org/officeDocument/2006/relationships/officeDocument" Target="/ppt/presentation.xml" Id="Re60e0273ce9d4e37" /></Relationships>
</file>

<file path=ppt/presentation.xml><?xml version="1.0" encoding="utf-8"?>
<p:presentation xmlns:p="http://schemas.openxmlformats.org/presentationml/2006/main">
  <p:sldMasterIdLst>
    <p:sldMasterId xmlns:r="http://schemas.openxmlformats.org/officeDocument/2006/relationships" id="2147483648" r:id="R088162d2ab404ead"/>
  </p:sldMasterIdLst>
  <p:notesMasterIdLst>
    <p:notesMasterId xmlns:r="http://schemas.openxmlformats.org/officeDocument/2006/relationships" r:id="R2cb41c1b31364b7b"/>
  </p:notesMasterIdLst>
  <p:sldIdLst>
    <p:sldId xmlns:r="http://schemas.openxmlformats.org/officeDocument/2006/relationships" id="256" r:id="Rf656fe3f5b074548"/>
    <p:sldId xmlns:r="http://schemas.openxmlformats.org/officeDocument/2006/relationships" id="257" r:id="Rd28a84a300c34def"/>
    <p:sldId xmlns:r="http://schemas.openxmlformats.org/officeDocument/2006/relationships" id="258" r:id="Rf4c03224a7034ff4"/>
    <p:sldId xmlns:r="http://schemas.openxmlformats.org/officeDocument/2006/relationships" id="259" r:id="R59c4c7e25c7e48c8"/>
    <p:sldId xmlns:r="http://schemas.openxmlformats.org/officeDocument/2006/relationships" id="260" r:id="Rb6ecd5d525e74427"/>
    <p:sldId xmlns:r="http://schemas.openxmlformats.org/officeDocument/2006/relationships" id="261" r:id="R1a24f01abdd14fc8"/>
    <p:sldId xmlns:r="http://schemas.openxmlformats.org/officeDocument/2006/relationships" id="262" r:id="Reab54d44b2934b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eb105264494f6f" /><Relationship Type="http://schemas.openxmlformats.org/officeDocument/2006/relationships/slideMaster" Target="/ppt/slideMasters/slideMaster1.xml" Id="R088162d2ab404ead" /><Relationship Type="http://schemas.openxmlformats.org/officeDocument/2006/relationships/notesMaster" Target="/ppt/notesMasters/notesMaster1.xml" Id="R2cb41c1b31364b7b" /><Relationship Type="http://schemas.openxmlformats.org/officeDocument/2006/relationships/presProps" Target="/ppt/presProps.xml" Id="R044ca834bf094038" /><Relationship Type="http://schemas.openxmlformats.org/officeDocument/2006/relationships/tableStyles" Target="/ppt/tableStyles.xml" Id="R5decbcb60b4c4a0c" /><Relationship Type="http://schemas.openxmlformats.org/officeDocument/2006/relationships/slide" Target="/ppt/slides/slide1.xml" Id="Rf656fe3f5b074548" /><Relationship Type="http://schemas.openxmlformats.org/officeDocument/2006/relationships/slide" Target="/ppt/slides/slide2.xml" Id="Rd28a84a300c34def" /><Relationship Type="http://schemas.openxmlformats.org/officeDocument/2006/relationships/slide" Target="/ppt/slides/slide3.xml" Id="Rf4c03224a7034ff4" /><Relationship Type="http://schemas.openxmlformats.org/officeDocument/2006/relationships/slide" Target="/ppt/slides/slide4.xml" Id="R59c4c7e25c7e48c8" /><Relationship Type="http://schemas.openxmlformats.org/officeDocument/2006/relationships/slide" Target="/ppt/slides/slide5.xml" Id="Rb6ecd5d525e74427" /><Relationship Type="http://schemas.openxmlformats.org/officeDocument/2006/relationships/slide" Target="/ppt/slides/slide6.xml" Id="R1a24f01abdd14fc8" /><Relationship Type="http://schemas.openxmlformats.org/officeDocument/2006/relationships/slide" Target="/ppt/slides/slide7.xml" Id="Reab54d44b2934b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bf4a31730c4c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e0c7f1375e493c" /><Relationship Type="http://schemas.openxmlformats.org/officeDocument/2006/relationships/notesMaster" Target="/ppt/notesMasters/notesMaster1.xml" Id="R0a0ee2617cd641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f32f7edc41414c" /><Relationship Type="http://schemas.openxmlformats.org/officeDocument/2006/relationships/notesMaster" Target="/ppt/notesMasters/notesMaster1.xml" Id="R0aeb6f7f162045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77ac46c01b4a8b" /><Relationship Type="http://schemas.openxmlformats.org/officeDocument/2006/relationships/notesMaster" Target="/ppt/notesMasters/notesMaster1.xml" Id="R4ddfcbe4744747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84fc41c3d54f0a" /><Relationship Type="http://schemas.openxmlformats.org/officeDocument/2006/relationships/notesMaster" Target="/ppt/notesMasters/notesMaster1.xml" Id="Rfbe3d7ac5d2149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a3f37655064f5d" /><Relationship Type="http://schemas.openxmlformats.org/officeDocument/2006/relationships/notesMaster" Target="/ppt/notesMasters/notesMaster1.xml" Id="R01d6723cb77c4b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e2e9c90e66411f" /><Relationship Type="http://schemas.openxmlformats.org/officeDocument/2006/relationships/notesMaster" Target="/ppt/notesMasters/notesMaster1.xml" Id="Rd87bf5056bd946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e5395646924aaa" /><Relationship Type="http://schemas.openxmlformats.org/officeDocument/2006/relationships/notesMaster" Target="/ppt/notesMasters/notesMaster1.xml" Id="R45beb1e971a344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a:t>
            </a:r>
          </a:p>
          <a:p xmlns:a="http://schemas.openxmlformats.org/drawingml/2006/main">
            <a:r>
              <a:t/>
            </a:r>
          </a:p>
          <a:p xmlns:a="http://schemas.openxmlformats.org/drawingml/2006/main">
            <a:r>
              <a:t>Good morning. Our project explores academic sentence revision using a Transformer and Mamba hybrid. The goal is to improve academic expression while preserving the author's meaning. Today, I will explain our data and model, show the latest training and test results, and discuss what we still need to validate.</a:t>
            </a:r>
          </a:p>
          <a:p xmlns:a="http://schemas.openxmlformats.org/drawingml/2006/main">
            <a:r>
              <a:t/>
            </a:r>
          </a:p>
          <a:p xmlns:a="http://schemas.openxmlformats.org/drawingml/2006/main">
            <a:r>
              <a:t>Sources (not spoken):</a:t>
            </a:r>
          </a:p>
          <a:p xmlns:a="http://schemas.openxmlformats.org/drawingml/2006/main">
            <a:r>
              <a:t>README.md</a:t>
            </a:r>
          </a:p>
          <a:p xmlns:a="http://schemas.openxmlformats.org/drawingml/2006/main">
            <a:r>
              <a:t>docs/Architecture_and_Protocol.md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We use the human revision release of IteraTeR and retain 676 pairs from arXiv documents after cleaning. The training set contains 491 pairs, validation contains 98, and the test set contains 87. We group records by document and linked text before splitting, so the recorded cross-split document and exact-text overlap is zero. However, only 24 pairs carry a style label. Most examples concern clarity or fluency. This means our current dataset supports revision experiments, but it provides limited direct supervision for academic tone. Near-duplicate meanings may also remain.</a:t>
            </a:r>
          </a:p>
          <a:p xmlns:a="http://schemas.openxmlformats.org/drawingml/2006/main">
            <a:r>
              <a:t/>
            </a:r>
          </a:p>
          <a:p xmlns:a="http://schemas.openxmlformats.org/drawingml/2006/main">
            <a:r>
              <a:t>Sources (not spoken):</a:t>
            </a:r>
          </a:p>
          <a:p xmlns:a="http://schemas.openxmlformats.org/drawingml/2006/main">
            <a:r>
              <a:t>data/processed/stats.json</a:t>
            </a:r>
          </a:p>
          <a:p xmlns:a="http://schemas.openxmlformats.org/drawingml/2006/main">
            <a:r>
              <a:t>docs/Dataset_Card.md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50 seconds.</a:t>
            </a:r>
          </a:p>
          <a:p xmlns:a="http://schemas.openxmlformats.org/drawingml/2006/main">
            <a:r>
              <a:t/>
            </a:r>
          </a:p>
          <a:p xmlns:a="http://schemas.openxmlformats.org/drawingml/2006/main">
            <a:r>
              <a:t>Our backbone is pretrained BART, which supplies the encoder and decoder. The encoder produces contextual representations, H. We normalize these representations and pass them through a Mamba refinement module to obtain M. A learned gate controls how much of M we add back to H. The BART decoder then generates the revised sentence from the fused representation, Z. We train with target-token cross-entropy and ignore padding labels. Residual and replacement fusion are also available for future ablations. The current Mamba module uses a sequential PyTorch reference implementation. We have not verified parity with official optimized kernels, and this hybrid still contains Transformer attention.</a:t>
            </a:r>
          </a:p>
          <a:p xmlns:a="http://schemas.openxmlformats.org/drawingml/2006/main">
            <a:r>
              <a:t/>
            </a:r>
          </a:p>
          <a:p xmlns:a="http://schemas.openxmlformats.org/drawingml/2006/main">
            <a:r>
              <a:t>Sources (not spoken):</a:t>
            </a:r>
          </a:p>
          <a:p xmlns:a="http://schemas.openxmlformats.org/drawingml/2006/main">
            <a:r>
              <a:t>docs/Architecture_and_Protocol.md</a:t>
            </a:r>
          </a:p>
          <a:p xmlns:a="http://schemas.openxmlformats.org/drawingml/2006/main">
            <a:r>
              <a:t>src/academic_rewriter/models.py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50 seconds.</a:t>
            </a:r>
          </a:p>
          <a:p xmlns:a="http://schemas.openxmlformats.org/drawingml/2006/main">
            <a:r>
              <a:t/>
            </a:r>
          </a:p>
          <a:p xmlns:a="http://schemas.openxmlformats.org/drawingml/2006/main">
            <a:r>
              <a:t>We have progressed beyond tiny random models to pretrained BART experiments. These three runs use all 491 training pairs, 98 validation pairs, and 300 updates with seed 42. Validation cross-entropy is 1.231 for BART, 1.138 for the frozen-backbone hybrid, and 1.079 for the fully trainable hybrid. The frozen hybrid trains about 4.92 million parameters, compared with 139.42 million for BART. Its measured peak allocated GPU memory is also lower in these runs. These are preliminary observations. The learning rates and trainable parameter counts differ, so this comparison does not isolate an architectural advantage. We need matched controls and multiple seeds.</a:t>
            </a:r>
          </a:p>
          <a:p xmlns:a="http://schemas.openxmlformats.org/drawingml/2006/main">
            <a:r>
              <a:t/>
            </a:r>
          </a:p>
          <a:p xmlns:a="http://schemas.openxmlformats.org/drawingml/2006/main">
            <a:r>
              <a:t>Sources (not spoken):</a:t>
            </a:r>
          </a:p>
          <a:p xmlns:a="http://schemas.openxmlformats.org/drawingml/2006/main">
            <a:r>
              <a:t>runs/bart_baseline/result.json</a:t>
            </a:r>
          </a:p>
          <a:p xmlns:a="http://schemas.openxmlformats.org/drawingml/2006/main">
            <a:r>
              <a:t>runs/bart_adapter_visible/result.json</a:t>
            </a:r>
          </a:p>
          <a:p xmlns:a="http://schemas.openxmlformats.org/drawingml/2006/main">
            <a:r>
              <a:t>runs/bart_hybrid_unfrozen/result.json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55 seconds.</a:t>
            </a:r>
          </a:p>
          <a:p xmlns:a="http://schemas.openxmlformats.org/drawingml/2006/main">
            <a:r>
              <a:t/>
            </a:r>
          </a:p>
          <a:p xmlns:a="http://schemas.openxmlformats.org/drawingml/2006/main">
            <a:r>
              <a:t>The test comparison covers BART and the frozen-backbone hybrid on the same 87 examples. Both use deterministic generation with the same token limits. Their whitespace ROUGE-L scores are almost identical, at approximately 0.758 and 0.757. The hybrid has lower test cross-entropy, but that does not translate into a clear overlap improvement. Exact copying occurs in 24 of 87 cases for each model. The hybrid preserves the detected number multiset in 85 cases, compared with all 87 for BART. Some examples contain no numbers, so this measure is especially limited. These results do not establish better academic tone or semantic equivalence. The test set has now been inspected, which must guide how we design future confirmatory evaluation.</a:t>
            </a:r>
          </a:p>
          <a:p xmlns:a="http://schemas.openxmlformats.org/drawingml/2006/main">
            <a:r>
              <a:t/>
            </a:r>
          </a:p>
          <a:p xmlns:a="http://schemas.openxmlformats.org/drawingml/2006/main">
            <a:r>
              <a:t>Sources (not spoken):</a:t>
            </a:r>
          </a:p>
          <a:p xmlns:a="http://schemas.openxmlformats.org/drawingml/2006/main">
            <a:r>
              <a:t>runs/bart_baseline/evaluation/test/metrics.json</a:t>
            </a:r>
          </a:p>
          <a:p xmlns:a="http://schemas.openxmlformats.org/drawingml/2006/main">
            <a:r>
              <a:t>runs/bart_adapter_visible/evaluation/test/metrics.json</a:t>
            </a:r>
          </a:p>
          <a:p xmlns:a="http://schemas.openxmlformats.org/drawingml/2006/main">
            <a:r>
              <a:t>output/visualizations/test-results-data.json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a:t>
            </a:r>
          </a:p>
          <a:p xmlns:a="http://schemas.openxmlformats.org/drawingml/2006/main">
            <a:r>
              <a:t/>
            </a:r>
          </a:p>
          <a:p xmlns:a="http://schemas.openxmlformats.org/drawingml/2006/main">
            <a:r>
              <a:t>This real test example explains why we need qualitative review. The source says that the tails are closely related to positional information. The human reference changes this to information captured by positional embeddings, which is more specific. Our frozen hybrid mainly removes the space before the final period and leaves the substantive wording unchanged. It still receives a whitespace ROUGE-L score of 0.741 because much of the sentence overlaps with the reference. This example is diagnostic, rather than representative of every output. It shows that overlap alone cannot tell us whether the model made the intended revision.</a:t>
            </a:r>
          </a:p>
          <a:p xmlns:a="http://schemas.openxmlformats.org/drawingml/2006/main">
            <a:r>
              <a:t/>
            </a:r>
          </a:p>
          <a:p xmlns:a="http://schemas.openxmlformats.org/drawingml/2006/main">
            <a:r>
              <a:t>Sources (not spoken):</a:t>
            </a:r>
          </a:p>
          <a:p xmlns:a="http://schemas.openxmlformats.org/drawingml/2006/main">
            <a:r>
              <a:t>output/visualizations/test-results-data.json, example 5c8cdc75ae10060f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Our next work addresses these gaps. First, we will audit revision pairs and collect independent academic-tone and meaning judgments. Second, we will run matched BART and hybrid experiments with multiple seeds and select checkpoints using validation data. We will also validate the official Mamba backend before making efficiency claims. Since we have already examined this test set, any confirmatory study should use fresh held-out examples or an explicitly revised protocol. We now have a reproducible training and evaluation pipeline. Our remaining research question is whether the hybrid improves useful revision while preserving meaning. Thank you.</a:t>
            </a:r>
          </a:p>
          <a:p xmlns:a="http://schemas.openxmlformats.org/drawingml/2006/main">
            <a:r>
              <a:t/>
            </a:r>
          </a:p>
          <a:p xmlns:a="http://schemas.openxmlformats.org/drawingml/2006/main">
            <a:r>
              <a:t>Sources (not spoken):</a:t>
            </a:r>
          </a:p>
          <a:p xmlns:a="http://schemas.openxmlformats.org/drawingml/2006/main">
            <a:r>
              <a:t>docs/Architecture_and_Protocol.md</a:t>
            </a:r>
          </a:p>
          <a:p xmlns:a="http://schemas.openxmlformats.org/drawingml/2006/main">
            <a:r>
              <a:t>data/processed/stats.json</a:t>
            </a:r>
          </a:p>
          <a:p xmlns:a="http://schemas.openxmlformats.org/drawingml/2006/main">
            <a:r>
              <a:t>output/visualizations/test-results-data.json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0bb998960f40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86f1e9276848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49b5f5a14246d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76dbe01da74e4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ac23f303bc48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c5ef31f7e447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280729-EAC3-4B48-AF70-BEF22D0A60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08C5B4E-5C7E-4434-B14C-CC6D718209F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14C86C-7B75-48FF-8838-089E952CAAF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A1D18D-3D4C-41D9-9B93-8160FD766B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FD099C-C65D-4322-9396-452FA017ADA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7587EA9-3C55-4850-BBD1-B5728218C6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34961C-25AE-4EEE-B637-0812091CEE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45CCBD-91A0-4BFA-AF48-D360A11FEE5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532BDB-3883-43CC-AB98-25F8C8D6B2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A8F09F-FC1D-4DE8-BC7F-C7D9968E21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edbe528e774879" /><Relationship Type="http://schemas.openxmlformats.org/officeDocument/2006/relationships/slideLayout" Target="/ppt/slideLayouts/slideLayout1.xml" Id="Rea5bcdb360514a7a" /><Relationship Type="http://schemas.openxmlformats.org/officeDocument/2006/relationships/slideLayout" Target="/ppt/slideLayouts/slideLayout2.xml" Id="R8a0eaa7c6118468b" /><Relationship Type="http://schemas.openxmlformats.org/officeDocument/2006/relationships/slideLayout" Target="/ppt/slideLayouts/slideLayout3.xml" Id="R1a75369cbd3f4e97" /><Relationship Type="http://schemas.openxmlformats.org/officeDocument/2006/relationships/slideLayout" Target="/ppt/slideLayouts/slideLayout4.xml" Id="R3df23b32b8714c3b" /><Relationship Type="http://schemas.openxmlformats.org/officeDocument/2006/relationships/slideLayout" Target="/ppt/slideLayouts/slideLayout5.xml" Id="Rf01eb6d808ea4f23" /><Relationship Type="http://schemas.openxmlformats.org/officeDocument/2006/relationships/slideLayout" Target="/ppt/slideLayouts/slideLayout6.xml" Id="R9190dc121d3e4d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5bcdb360514a7a"/>
    <p:sldLayoutId xmlns:r="http://schemas.openxmlformats.org/officeDocument/2006/relationships" id="2147483650" r:id="R8a0eaa7c6118468b"/>
    <p:sldLayoutId xmlns:r="http://schemas.openxmlformats.org/officeDocument/2006/relationships" id="2147483651" r:id="R1a75369cbd3f4e97"/>
    <p:sldLayoutId xmlns:r="http://schemas.openxmlformats.org/officeDocument/2006/relationships" id="2147483652" r:id="R3df23b32b8714c3b"/>
    <p:sldLayoutId xmlns:r="http://schemas.openxmlformats.org/officeDocument/2006/relationships" id="2147483653" r:id="Rf01eb6d808ea4f23"/>
    <p:sldLayoutId xmlns:r="http://schemas.openxmlformats.org/officeDocument/2006/relationships" id="2147483654" r:id="R9190dc121d3e4d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3af5859ce844504" /><Relationship Type="http://schemas.openxmlformats.org/officeDocument/2006/relationships/notesSlide" Target="/ppt/notesSlides/notesSlide1.xml" Id="R33ba7c45712a4c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efe566017a64fdb" /><Relationship Type="http://schemas.openxmlformats.org/officeDocument/2006/relationships/chart" Target="/ppt/slides/charts/chart1.xml" Id="Rbf696304013847e3" /><Relationship Type="http://schemas.openxmlformats.org/officeDocument/2006/relationships/notesSlide" Target="/ppt/notesSlides/notesSlide2.xml" Id="Rdb6e19e7c04d4a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87d41a4167546e5" /><Relationship Type="http://schemas.openxmlformats.org/officeDocument/2006/relationships/notesSlide" Target="/ppt/notesSlides/notesSlide3.xml" Id="R98851ef45f054b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c6d81f3f4b4f21" /><Relationship Type="http://schemas.openxmlformats.org/officeDocument/2006/relationships/chart" Target="/ppt/slides/charts/chart2.xml" Id="R557b8c83d93e49b8" /><Relationship Type="http://schemas.openxmlformats.org/officeDocument/2006/relationships/notesSlide" Target="/ppt/notesSlides/notesSlide4.xml" Id="Rf7ebac014a8c45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2880ecc11cb439b" /><Relationship Type="http://schemas.openxmlformats.org/officeDocument/2006/relationships/notesSlide" Target="/ppt/notesSlides/notesSlide5.xml" Id="Rbdbb570edfe34e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a231332dfb645a8" /><Relationship Type="http://schemas.openxmlformats.org/officeDocument/2006/relationships/notesSlide" Target="/ppt/notesSlides/notesSlide6.xml" Id="R62abc744e0f241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8e3421da4b6414c" /><Relationship Type="http://schemas.openxmlformats.org/officeDocument/2006/relationships/notesSlide" Target="/ppt/notesSlides/notesSlide7.xml" Id="R82c9e74d734742a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Revision pairs</c:v>
          </c:tx>
          <c:spPr>
            <a:solidFill xmlns:a="http://schemas.openxmlformats.org/drawingml/2006/main">
              <a:srgbClr val="087E83"/>
            </a:solidFill>
          </c:spPr>
          <c:invertIfNegative val="0"/>
          <c:dPt>
            <c:idx val="1"/>
            <c:invertIfNegative val="0"/>
            <c:spPr>
              <a:solidFill xmlns:a="http://schemas.openxmlformats.org/drawingml/2006/main">
                <a:srgbClr val="63AAA8"/>
              </a:solidFill>
            </c:spPr>
          </c:dPt>
          <c:dPt>
            <c:idx val="2"/>
            <c:invertIfNegative val="0"/>
            <c:spPr>
              <a:solidFill xmlns:a="http://schemas.openxmlformats.org/drawingml/2006/main">
                <a:srgbClr val="A2C8C3"/>
              </a:solidFill>
            </c:spPr>
          </c:dPt>
          <c:cat>
            <c:strRef>
              <c:f>'Chart Data'!$A$2:$A$4</c:f>
              <c:strCache>
                <c:ptCount val="3"/>
                <c:pt idx="0">
                  <c:v>Train</c:v>
                </c:pt>
                <c:pt idx="1">
                  <c:v>Validation</c:v>
                </c:pt>
                <c:pt idx="2">
                  <c:v>Test</c:v>
                </c:pt>
              </c:strCache>
            </c:strRef>
          </c:cat>
          <c:val>
            <c:numRef>
              <c:f>'Chart Data'!$B$2:$B$4</c:f>
              <c:numCache>
                <c:formatCode>General</c:formatCode>
                <c:ptCount val="3"/>
                <c:pt idx="0">
                  <c:v>491</c:v>
                </c:pt>
                <c:pt idx="1">
                  <c:v>98</c:v>
                </c:pt>
                <c:pt idx="2">
                  <c:v>87</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42F39"/>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8DFDC"/>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76E"/>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42F39"/>
                </a:solidFill>
                <a:latin typeface="Arial"/>
                <a:ea typeface="Arial"/>
                <a:cs typeface="Arial"/>
              </a:defRPr>
            </a:pPr>
          </a:p>
        </c:txPr>
        <c:crossAx val="48650112"/>
        <c:crossBetween val="between"/>
      </c:valAx>
      <c:spPr>
        <a:solidFill xmlns:a="http://schemas.openxmlformats.org/drawingml/2006/main">
          <a:srgbClr val="F5F3EE"/>
        </a:solidFill>
      </c:spPr>
    </c:plotArea>
    <c:plotVisOnly val="1"/>
  </c:chart>
  <c:spPr>
    <a:solidFill xmlns:a="http://schemas.openxmlformats.org/drawingml/2006/main">
      <a:srgbClr val="F5F3EE"/>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Validation CE</c:v>
          </c:tx>
          <c:spPr>
            <a:solidFill xmlns:a="http://schemas.openxmlformats.org/drawingml/2006/main">
              <a:srgbClr val="087E83"/>
            </a:solidFill>
          </c:spPr>
          <c:invertIfNegative val="0"/>
          <c:dPt>
            <c:idx val="0"/>
            <c:invertIfNegative val="0"/>
            <c:spPr>
              <a:solidFill xmlns:a="http://schemas.openxmlformats.org/drawingml/2006/main">
                <a:srgbClr val="77949D"/>
              </a:solidFill>
            </c:spPr>
          </c:dPt>
          <c:dPt>
            <c:idx val="2"/>
            <c:invertIfNegative val="0"/>
            <c:spPr>
              <a:solidFill xmlns:a="http://schemas.openxmlformats.org/drawingml/2006/main">
                <a:srgbClr val="184B56"/>
              </a:solidFill>
            </c:spPr>
          </c:dPt>
          <c:cat>
            <c:strRef>
              <c:f>'Chart Data'!$A$2:$A$4</c:f>
              <c:strCache>
                <c:ptCount val="3"/>
                <c:pt idx="0">
                  <c:v>BART</c:v>
                </c:pt>
                <c:pt idx="1">
                  <c:v>Frozen hybrid</c:v>
                </c:pt>
                <c:pt idx="2">
                  <c:v>Full hybrid</c:v>
                </c:pt>
              </c:strCache>
            </c:strRef>
          </c:cat>
          <c:val>
            <c:numRef>
              <c:f>'Chart Data'!$B$2:$B$4</c:f>
              <c:numCache>
                <c:formatCode>0.0</c:formatCode>
                <c:ptCount val="3"/>
                <c:pt idx="0">
                  <c:v>1.231</c:v>
                </c:pt>
                <c:pt idx="1">
                  <c:v>1.138</c:v>
                </c:pt>
                <c:pt idx="2">
                  <c:v>1.079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950" b="1">
                  <a:solidFill>
                    <a:srgbClr val="142F39"/>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F39"/>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D8DFDC"/>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76E"/>
                </a:solidFill>
                <a:latin typeface="Arial"/>
                <a:ea typeface="Arial"/>
                <a:cs typeface="Arial"/>
              </a:defRPr>
            </a:pPr>
          </a:p>
        </c:txPr>
        <c:crossAx val="48650112"/>
        <c:crossBetween val="between"/>
        <c:majorUnit val="0.5"/>
      </c:valAx>
      <c:spPr>
        <a:solidFill xmlns:a="http://schemas.openxmlformats.org/drawingml/2006/main">
          <a:srgbClr val="F5F3EE"/>
        </a:solidFill>
      </c:spPr>
    </c:plotArea>
    <c:plotVisOnly val="1"/>
  </c:chart>
  <c:spPr>
    <a:solidFill xmlns:a="http://schemas.openxmlformats.org/drawingml/2006/main">
      <a:srgbClr val="F5F3E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F39"/>
        </a:solidFill>
      </p:bgPr>
    </p:bg>
    <p:spTree>
      <p:nvGrpSpPr>
        <p:cNvPr id="1" name=""/>
        <p:cNvGrpSpPr/>
        <p:nvPr/>
      </p:nvGrpSpPr>
      <p:grpSpPr>
        <a:xfrm xmlns:a="http://schemas.openxmlformats.org/drawingml/2006/main"/>
      </p:grpSpPr>
      <p:sp>
        <p:nvSpPr>
          <p:cNvPr id="5" name="Academic Text&#10;Style Enhancement">
            <a:extLst xmlns:a="http://schemas.openxmlformats.org/drawingml/2006/main">
              <a:ext uri="{FF2B5EF4-FFF2-40B4-BE49-F238E27FC236}">
                <a16:creationId xmlns:a16="http://schemas.microsoft.com/office/drawing/2014/main" id="{EADC8E13-042C-4106-9FF0-9A767372011F}"/>
              </a:ext>
            </a:extLst>
          </p:cNvPr>
          <p:cNvSpPr>
            <a:spLocks xmlns:a="http://schemas.openxmlformats.org/drawingml/2006/main" noGrp="1"/>
          </p:cNvSpPr>
          <p:nvPr/>
        </p:nvSpPr>
        <p:spPr>
          <a:xfrm xmlns:a="http://schemas.openxmlformats.org/drawingml/2006/main">
            <a:off x="609600" y="1409700"/>
            <a:ext cx="10763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700" b="1">
                <a:solidFill>
                  <a:srgbClr val="FFFFFF"/>
                </a:solidFill>
                <a:latin typeface="Arial"/>
                <a:ea typeface="Arial"/>
                <a:cs typeface="Arial"/>
              </a:defRPr>
            </a:defPPr>
            <a:lvl1pPr>
              <a:defRPr sz="5700" b="1">
                <a:solidFill>
                  <a:srgbClr val="FFFFFF"/>
                </a:solidFill>
                <a:latin typeface="Arial"/>
                <a:ea typeface="Arial"/>
                <a:cs typeface="Arial"/>
              </a:defRPr>
            </a:lvl1pPr>
            <a:lvl2pPr>
              <a:defRPr sz="5700" b="1">
                <a:solidFill>
                  <a:srgbClr val="FFFFFF"/>
                </a:solidFill>
                <a:latin typeface="Arial"/>
                <a:ea typeface="Arial"/>
                <a:cs typeface="Arial"/>
              </a:defRPr>
            </a:lvl2pPr>
            <a:lvl3pPr>
              <a:defRPr sz="5700" b="1">
                <a:solidFill>
                  <a:srgbClr val="FFFFFF"/>
                </a:solidFill>
                <a:latin typeface="Arial"/>
                <a:ea typeface="Arial"/>
                <a:cs typeface="Arial"/>
              </a:defRPr>
            </a:lvl3pPr>
            <a:lvl4pPr>
              <a:defRPr sz="5700" b="1">
                <a:solidFill>
                  <a:srgbClr val="FFFFFF"/>
                </a:solidFill>
                <a:latin typeface="Arial"/>
                <a:ea typeface="Arial"/>
                <a:cs typeface="Arial"/>
              </a:defRPr>
            </a:lvl4pPr>
            <a:lvl5pPr>
              <a:defRPr sz="5700" b="1">
                <a:solidFill>
                  <a:srgbClr val="FFFFFF"/>
                </a:solidFill>
                <a:latin typeface="Arial"/>
                <a:ea typeface="Arial"/>
                <a:cs typeface="Arial"/>
              </a:defRPr>
            </a:lvl5pPr>
            <a:lvl6pPr>
              <a:defRPr sz="5700" b="1">
                <a:solidFill>
                  <a:srgbClr val="FFFFFF"/>
                </a:solidFill>
                <a:latin typeface="Arial"/>
                <a:ea typeface="Arial"/>
                <a:cs typeface="Arial"/>
              </a:defRPr>
            </a:lvl6pPr>
            <a:lvl7pPr>
              <a:defRPr sz="5700" b="1">
                <a:solidFill>
                  <a:srgbClr val="FFFFFF"/>
                </a:solidFill>
                <a:latin typeface="Arial"/>
                <a:ea typeface="Arial"/>
                <a:cs typeface="Arial"/>
              </a:defRPr>
            </a:lvl7pPr>
            <a:lvl8pPr>
              <a:defRPr sz="5700" b="1">
                <a:solidFill>
                  <a:srgbClr val="FFFFFF"/>
                </a:solidFill>
                <a:latin typeface="Arial"/>
                <a:ea typeface="Arial"/>
                <a:cs typeface="Arial"/>
              </a:defRPr>
            </a:lvl8pPr>
            <a:lvl9pPr>
              <a:defRPr sz="5700" b="1">
                <a:solidFill>
                  <a:srgbClr val="FFFFFF"/>
                </a:solidFill>
                <a:latin typeface="Arial"/>
                <a:ea typeface="Arial"/>
                <a:cs typeface="Arial"/>
              </a:defRPr>
            </a:lvl9pPr>
          </a:lstStyle>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Academic Text</a:t>
            </a:r>
          </a:p>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Style Enhancement</a:t>
            </a:r>
          </a:p>
        </p:txBody>
      </p:sp>
      <p:sp>
        <p:nvSpPr>
          <p:cNvPr id="2" name="BART + Mamba for academic sentence revision">
            <a:extLst xmlns:a="http://schemas.openxmlformats.org/drawingml/2006/main">
              <a:ext uri="{FF2B5EF4-FFF2-40B4-BE49-F238E27FC236}">
                <a16:creationId xmlns:a16="http://schemas.microsoft.com/office/drawing/2014/main" id="{8A2D3B76-C154-495F-8997-18797736F4C5}"/>
              </a:ext>
            </a:extLst>
          </p:cNvPr>
          <p:cNvSpPr>
            <a:spLocks xmlns:a="http://schemas.openxmlformats.org/drawingml/2006/main" noGrp="1"/>
          </p:cNvSpPr>
          <p:nvPr/>
        </p:nvSpPr>
        <p:spPr>
          <a:xfrm xmlns:a="http://schemas.openxmlformats.org/drawingml/2006/main">
            <a:off x="647700" y="363855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B6D9D6"/>
                </a:solidFill>
                <a:latin typeface="Arial"/>
                <a:ea typeface="Arial"/>
                <a:cs typeface="Arial"/>
              </a:defRPr>
            </a:defPPr>
            <a:lvl1pPr>
              <a:defRPr sz="2400" b="0">
                <a:solidFill>
                  <a:srgbClr val="B6D9D6"/>
                </a:solidFill>
                <a:latin typeface="Arial"/>
                <a:ea typeface="Arial"/>
                <a:cs typeface="Arial"/>
              </a:defRPr>
            </a:lvl1pPr>
            <a:lvl2pPr>
              <a:defRPr sz="2400" b="0">
                <a:solidFill>
                  <a:srgbClr val="B6D9D6"/>
                </a:solidFill>
                <a:latin typeface="Arial"/>
                <a:ea typeface="Arial"/>
                <a:cs typeface="Arial"/>
              </a:defRPr>
            </a:lvl2pPr>
            <a:lvl3pPr>
              <a:defRPr sz="2400" b="0">
                <a:solidFill>
                  <a:srgbClr val="B6D9D6"/>
                </a:solidFill>
                <a:latin typeface="Arial"/>
                <a:ea typeface="Arial"/>
                <a:cs typeface="Arial"/>
              </a:defRPr>
            </a:lvl3pPr>
            <a:lvl4pPr>
              <a:defRPr sz="2400" b="0">
                <a:solidFill>
                  <a:srgbClr val="B6D9D6"/>
                </a:solidFill>
                <a:latin typeface="Arial"/>
                <a:ea typeface="Arial"/>
                <a:cs typeface="Arial"/>
              </a:defRPr>
            </a:lvl4pPr>
            <a:lvl5pPr>
              <a:defRPr sz="2400" b="0">
                <a:solidFill>
                  <a:srgbClr val="B6D9D6"/>
                </a:solidFill>
                <a:latin typeface="Arial"/>
                <a:ea typeface="Arial"/>
                <a:cs typeface="Arial"/>
              </a:defRPr>
            </a:lvl5pPr>
            <a:lvl6pPr>
              <a:defRPr sz="2400" b="0">
                <a:solidFill>
                  <a:srgbClr val="B6D9D6"/>
                </a:solidFill>
                <a:latin typeface="Arial"/>
                <a:ea typeface="Arial"/>
                <a:cs typeface="Arial"/>
              </a:defRPr>
            </a:lvl6pPr>
            <a:lvl7pPr>
              <a:defRPr sz="2400" b="0">
                <a:solidFill>
                  <a:srgbClr val="B6D9D6"/>
                </a:solidFill>
                <a:latin typeface="Arial"/>
                <a:ea typeface="Arial"/>
                <a:cs typeface="Arial"/>
              </a:defRPr>
            </a:lvl7pPr>
            <a:lvl8pPr>
              <a:defRPr sz="2400" b="0">
                <a:solidFill>
                  <a:srgbClr val="B6D9D6"/>
                </a:solidFill>
                <a:latin typeface="Arial"/>
                <a:ea typeface="Arial"/>
                <a:cs typeface="Arial"/>
              </a:defRPr>
            </a:lvl8pPr>
            <a:lvl9pPr>
              <a:defRPr sz="2400" b="0">
                <a:solidFill>
                  <a:srgbClr val="B6D9D6"/>
                </a:solidFill>
                <a:latin typeface="Arial"/>
                <a:ea typeface="Arial"/>
                <a:cs typeface="Arial"/>
              </a:defRPr>
            </a:lvl9pPr>
          </a:lstStyle>
          <a:p xmlns:a="http://schemas.openxmlformats.org/drawingml/2006/main">
            <a:pPr>
              <a:defRPr sz="2400" b="0">
                <a:solidFill>
                  <a:srgbClr val="B6D9D6"/>
                </a:solidFill>
                <a:latin typeface="Arial"/>
                <a:ea typeface="Arial"/>
                <a:cs typeface="Arial"/>
              </a:defRPr>
            </a:pPr>
            <a:r>
              <a:rPr sz="2400" b="0">
                <a:solidFill>
                  <a:srgbClr val="B6D9D6"/>
                </a:solidFill>
                <a:latin typeface="Arial"/>
                <a:ea typeface="Arial"/>
                <a:cs typeface="Arial"/>
              </a:rPr>
              <a:t>BART + Mamba for academic sentence revision</a:t>
            </a:r>
          </a:p>
        </p:txBody>
      </p:sp>
      <p:sp>
        <p:nvSpPr>
          <p:cNvPr id="3" name="Project progress report">
            <a:extLst xmlns:a="http://schemas.openxmlformats.org/drawingml/2006/main">
              <a:ext uri="{FF2B5EF4-FFF2-40B4-BE49-F238E27FC236}">
                <a16:creationId xmlns:a16="http://schemas.microsoft.com/office/drawing/2014/main" id="{327280A2-E1B3-4D11-AE95-33C6B308B8CA}"/>
              </a:ext>
            </a:extLst>
          </p:cNvPr>
          <p:cNvSpPr>
            <a:spLocks xmlns:a="http://schemas.openxmlformats.org/drawingml/2006/main" noGrp="1"/>
          </p:cNvSpPr>
          <p:nvPr/>
        </p:nvSpPr>
        <p:spPr>
          <a:xfrm xmlns:a="http://schemas.openxmlformats.org/drawingml/2006/main">
            <a:off x="647700" y="51435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FFFFF"/>
                </a:solidFill>
                <a:latin typeface="Arial"/>
                <a:ea typeface="Arial"/>
                <a:cs typeface="Arial"/>
              </a:defRPr>
            </a:defPPr>
            <a:lvl1pPr>
              <a:defRPr sz="1800" b="0">
                <a:solidFill>
                  <a:srgbClr val="FFFFFF"/>
                </a:solidFill>
                <a:latin typeface="Arial"/>
                <a:ea typeface="Arial"/>
                <a:cs typeface="Arial"/>
              </a:defRPr>
            </a:lvl1pPr>
            <a:lvl2pPr>
              <a:defRPr sz="1800" b="0">
                <a:solidFill>
                  <a:srgbClr val="FFFFFF"/>
                </a:solidFill>
                <a:latin typeface="Arial"/>
                <a:ea typeface="Arial"/>
                <a:cs typeface="Arial"/>
              </a:defRPr>
            </a:lvl2pPr>
            <a:lvl3pPr>
              <a:defRPr sz="1800" b="0">
                <a:solidFill>
                  <a:srgbClr val="FFFFFF"/>
                </a:solidFill>
                <a:latin typeface="Arial"/>
                <a:ea typeface="Arial"/>
                <a:cs typeface="Arial"/>
              </a:defRPr>
            </a:lvl3pPr>
            <a:lvl4pPr>
              <a:defRPr sz="1800" b="0">
                <a:solidFill>
                  <a:srgbClr val="FFFFFF"/>
                </a:solidFill>
                <a:latin typeface="Arial"/>
                <a:ea typeface="Arial"/>
                <a:cs typeface="Arial"/>
              </a:defRPr>
            </a:lvl4pPr>
            <a:lvl5pPr>
              <a:defRPr sz="1800" b="0">
                <a:solidFill>
                  <a:srgbClr val="FFFFFF"/>
                </a:solidFill>
                <a:latin typeface="Arial"/>
                <a:ea typeface="Arial"/>
                <a:cs typeface="Arial"/>
              </a:defRPr>
            </a:lvl5pPr>
            <a:lvl6pPr>
              <a:defRPr sz="1800" b="0">
                <a:solidFill>
                  <a:srgbClr val="FFFFFF"/>
                </a:solidFill>
                <a:latin typeface="Arial"/>
                <a:ea typeface="Arial"/>
                <a:cs typeface="Arial"/>
              </a:defRPr>
            </a:lvl6pPr>
            <a:lvl7pPr>
              <a:defRPr sz="1800" b="0">
                <a:solidFill>
                  <a:srgbClr val="FFFFFF"/>
                </a:solidFill>
                <a:latin typeface="Arial"/>
                <a:ea typeface="Arial"/>
                <a:cs typeface="Arial"/>
              </a:defRPr>
            </a:lvl7pPr>
            <a:lvl8pPr>
              <a:defRPr sz="1800" b="0">
                <a:solidFill>
                  <a:srgbClr val="FFFFFF"/>
                </a:solidFill>
                <a:latin typeface="Arial"/>
                <a:ea typeface="Arial"/>
                <a:cs typeface="Arial"/>
              </a:defRPr>
            </a:lvl8pPr>
            <a:lvl9pPr>
              <a:defRPr sz="1800" b="0">
                <a:solidFill>
                  <a:srgbClr val="FFFFFF"/>
                </a:solidFill>
                <a:latin typeface="Arial"/>
                <a:ea typeface="Arial"/>
                <a:cs typeface="Arial"/>
              </a:defRPr>
            </a:lvl9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Project progress report</a:t>
            </a:r>
          </a:p>
        </p:txBody>
      </p:sp>
      <p:sp>
        <p:nvSpPr>
          <p:cNvPr id="4" name="26 October 2026">
            <a:extLst xmlns:a="http://schemas.openxmlformats.org/drawingml/2006/main">
              <a:ext uri="{FF2B5EF4-FFF2-40B4-BE49-F238E27FC236}">
                <a16:creationId xmlns:a16="http://schemas.microsoft.com/office/drawing/2014/main" id="{D876C457-F3BE-4396-B626-099F50F6021A}"/>
              </a:ext>
            </a:extLst>
          </p:cNvPr>
          <p:cNvSpPr>
            <a:spLocks xmlns:a="http://schemas.openxmlformats.org/drawingml/2006/main" noGrp="1"/>
          </p:cNvSpPr>
          <p:nvPr/>
        </p:nvSpPr>
        <p:spPr>
          <a:xfrm xmlns:a="http://schemas.openxmlformats.org/drawingml/2006/main">
            <a:off x="647700" y="56197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B6D9D6"/>
                </a:solidFill>
                <a:latin typeface="Arial"/>
                <a:ea typeface="Arial"/>
                <a:cs typeface="Arial"/>
              </a:defRPr>
            </a:defPPr>
            <a:lvl1pPr>
              <a:defRPr sz="1650" b="0">
                <a:solidFill>
                  <a:srgbClr val="B6D9D6"/>
                </a:solidFill>
                <a:latin typeface="Arial"/>
                <a:ea typeface="Arial"/>
                <a:cs typeface="Arial"/>
              </a:defRPr>
            </a:lvl1pPr>
            <a:lvl2pPr>
              <a:defRPr sz="1650" b="0">
                <a:solidFill>
                  <a:srgbClr val="B6D9D6"/>
                </a:solidFill>
                <a:latin typeface="Arial"/>
                <a:ea typeface="Arial"/>
                <a:cs typeface="Arial"/>
              </a:defRPr>
            </a:lvl2pPr>
            <a:lvl3pPr>
              <a:defRPr sz="1650" b="0">
                <a:solidFill>
                  <a:srgbClr val="B6D9D6"/>
                </a:solidFill>
                <a:latin typeface="Arial"/>
                <a:ea typeface="Arial"/>
                <a:cs typeface="Arial"/>
              </a:defRPr>
            </a:lvl3pPr>
            <a:lvl4pPr>
              <a:defRPr sz="1650" b="0">
                <a:solidFill>
                  <a:srgbClr val="B6D9D6"/>
                </a:solidFill>
                <a:latin typeface="Arial"/>
                <a:ea typeface="Arial"/>
                <a:cs typeface="Arial"/>
              </a:defRPr>
            </a:lvl4pPr>
            <a:lvl5pPr>
              <a:defRPr sz="1650" b="0">
                <a:solidFill>
                  <a:srgbClr val="B6D9D6"/>
                </a:solidFill>
                <a:latin typeface="Arial"/>
                <a:ea typeface="Arial"/>
                <a:cs typeface="Arial"/>
              </a:defRPr>
            </a:lvl5pPr>
            <a:lvl6pPr>
              <a:defRPr sz="1650" b="0">
                <a:solidFill>
                  <a:srgbClr val="B6D9D6"/>
                </a:solidFill>
                <a:latin typeface="Arial"/>
                <a:ea typeface="Arial"/>
                <a:cs typeface="Arial"/>
              </a:defRPr>
            </a:lvl6pPr>
            <a:lvl7pPr>
              <a:defRPr sz="1650" b="0">
                <a:solidFill>
                  <a:srgbClr val="B6D9D6"/>
                </a:solidFill>
                <a:latin typeface="Arial"/>
                <a:ea typeface="Arial"/>
                <a:cs typeface="Arial"/>
              </a:defRPr>
            </a:lvl7pPr>
            <a:lvl8pPr>
              <a:defRPr sz="1650" b="0">
                <a:solidFill>
                  <a:srgbClr val="B6D9D6"/>
                </a:solidFill>
                <a:latin typeface="Arial"/>
                <a:ea typeface="Arial"/>
                <a:cs typeface="Arial"/>
              </a:defRPr>
            </a:lvl8pPr>
            <a:lvl9pPr>
              <a:defRPr sz="1650" b="0">
                <a:solidFill>
                  <a:srgbClr val="B6D9D6"/>
                </a:solidFill>
                <a:latin typeface="Arial"/>
                <a:ea typeface="Arial"/>
                <a:cs typeface="Arial"/>
              </a:defRPr>
            </a:lvl9pPr>
          </a:lstStyle>
          <a:p xmlns:a="http://schemas.openxmlformats.org/drawingml/2006/main">
            <a:pPr>
              <a:defRPr sz="1650" b="0">
                <a:solidFill>
                  <a:srgbClr val="B6D9D6"/>
                </a:solidFill>
                <a:latin typeface="Arial"/>
                <a:ea typeface="Arial"/>
                <a:cs typeface="Arial"/>
              </a:defRPr>
            </a:pPr>
            <a:r>
              <a:rPr sz="1650" b="0">
                <a:solidFill>
                  <a:srgbClr val="B6D9D6"/>
                </a:solidFill>
                <a:latin typeface="Arial"/>
                <a:ea typeface="Arial"/>
                <a:cs typeface="Arial"/>
              </a:rPr>
              <a:t>26 October 2026</a:t>
            </a:r>
          </a:p>
        </p:txBody>
      </p:sp>
    </p:spTree>
    <p:extLst>
      <p:ext uri="{BB962C8B-B14F-4D97-AF65-F5344CB8AC3E}">
        <p14:creationId xmlns:p14="http://schemas.microsoft.com/office/powerpoint/2010/main" val="133129380"/>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0" name="676 academic revision pairs">
            <a:extLst xmlns:a="http://schemas.openxmlformats.org/drawingml/2006/main">
              <a:ext uri="{FF2B5EF4-FFF2-40B4-BE49-F238E27FC236}">
                <a16:creationId xmlns:a16="http://schemas.microsoft.com/office/drawing/2014/main" id="{C93E0290-64FF-4068-B3AD-0FA147FF5FE8}"/>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142F39"/>
                </a:solidFill>
                <a:latin typeface="Arial"/>
                <a:ea typeface="Arial"/>
                <a:cs typeface="Arial"/>
              </a:defRPr>
            </a:defPPr>
            <a:lvl1pPr>
              <a:defRPr sz="3450" b="1">
                <a:solidFill>
                  <a:srgbClr val="142F39"/>
                </a:solidFill>
                <a:latin typeface="Arial"/>
                <a:ea typeface="Arial"/>
                <a:cs typeface="Arial"/>
              </a:defRPr>
            </a:lvl1pPr>
            <a:lvl2pPr>
              <a:defRPr sz="3450" b="1">
                <a:solidFill>
                  <a:srgbClr val="142F39"/>
                </a:solidFill>
                <a:latin typeface="Arial"/>
                <a:ea typeface="Arial"/>
                <a:cs typeface="Arial"/>
              </a:defRPr>
            </a:lvl2pPr>
            <a:lvl3pPr>
              <a:defRPr sz="3450" b="1">
                <a:solidFill>
                  <a:srgbClr val="142F39"/>
                </a:solidFill>
                <a:latin typeface="Arial"/>
                <a:ea typeface="Arial"/>
                <a:cs typeface="Arial"/>
              </a:defRPr>
            </a:lvl3pPr>
            <a:lvl4pPr>
              <a:defRPr sz="3450" b="1">
                <a:solidFill>
                  <a:srgbClr val="142F39"/>
                </a:solidFill>
                <a:latin typeface="Arial"/>
                <a:ea typeface="Arial"/>
                <a:cs typeface="Arial"/>
              </a:defRPr>
            </a:lvl4pPr>
            <a:lvl5pPr>
              <a:defRPr sz="3450" b="1">
                <a:solidFill>
                  <a:srgbClr val="142F39"/>
                </a:solidFill>
                <a:latin typeface="Arial"/>
                <a:ea typeface="Arial"/>
                <a:cs typeface="Arial"/>
              </a:defRPr>
            </a:lvl5pPr>
            <a:lvl6pPr>
              <a:defRPr sz="3450" b="1">
                <a:solidFill>
                  <a:srgbClr val="142F39"/>
                </a:solidFill>
                <a:latin typeface="Arial"/>
                <a:ea typeface="Arial"/>
                <a:cs typeface="Arial"/>
              </a:defRPr>
            </a:lvl6pPr>
            <a:lvl7pPr>
              <a:defRPr sz="3450" b="1">
                <a:solidFill>
                  <a:srgbClr val="142F39"/>
                </a:solidFill>
                <a:latin typeface="Arial"/>
                <a:ea typeface="Arial"/>
                <a:cs typeface="Arial"/>
              </a:defRPr>
            </a:lvl7pPr>
            <a:lvl8pPr>
              <a:defRPr sz="3450" b="1">
                <a:solidFill>
                  <a:srgbClr val="142F39"/>
                </a:solidFill>
                <a:latin typeface="Arial"/>
                <a:ea typeface="Arial"/>
                <a:cs typeface="Arial"/>
              </a:defRPr>
            </a:lvl8pPr>
            <a:lvl9pPr>
              <a:defRPr sz="3450" b="1">
                <a:solidFill>
                  <a:srgbClr val="142F39"/>
                </a:solidFill>
                <a:latin typeface="Arial"/>
                <a:ea typeface="Arial"/>
                <a:cs typeface="Arial"/>
              </a:defRPr>
            </a:lvl9pPr>
          </a:lstStyle>
          <a:p xmlns:a="http://schemas.openxmlformats.org/drawingml/2006/main">
            <a:pPr>
              <a:defRPr sz="3450" b="1">
                <a:solidFill>
                  <a:srgbClr val="142F39"/>
                </a:solidFill>
                <a:latin typeface="Arial"/>
                <a:ea typeface="Arial"/>
                <a:cs typeface="Arial"/>
              </a:defRPr>
            </a:pPr>
            <a:r>
              <a:rPr sz="3450" b="1">
                <a:solidFill>
                  <a:srgbClr val="142F39"/>
                </a:solidFill>
                <a:latin typeface="Arial"/>
                <a:ea typeface="Arial"/>
                <a:cs typeface="Arial"/>
              </a:rPr>
              <a:t>676 academic revision pairs</a:t>
            </a:r>
          </a:p>
        </p:txBody>
      </p:sp>
      <p:sp>
        <p:nvSpPr>
          <p:cNvPr id="2" name="2">
            <a:extLst xmlns:a="http://schemas.openxmlformats.org/drawingml/2006/main">
              <a:ext uri="{FF2B5EF4-FFF2-40B4-BE49-F238E27FC236}">
                <a16:creationId xmlns:a16="http://schemas.microsoft.com/office/drawing/2014/main" id="{FE496EEB-8DFC-4863-9D20-781D0AA505C7}"/>
              </a:ext>
            </a:extLst>
          </p:cNvPr>
          <p:cNvSpPr>
            <a:spLocks xmlns:a="http://schemas.openxmlformats.org/drawingml/2006/main" noGrp="1"/>
          </p:cNvSpPr>
          <p:nvPr/>
        </p:nvSpPr>
        <p:spPr>
          <a:xfrm xmlns:a="http://schemas.openxmlformats.org/drawingml/2006/main">
            <a:off x="11182350" y="63150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76E"/>
                </a:solidFill>
                <a:latin typeface="Arial"/>
                <a:ea typeface="Arial"/>
                <a:cs typeface="Arial"/>
              </a:defRPr>
            </a:defPPr>
            <a:lvl1pPr>
              <a:defRPr sz="1350" b="0">
                <a:solidFill>
                  <a:srgbClr val="52676E"/>
                </a:solidFill>
                <a:latin typeface="Arial"/>
                <a:ea typeface="Arial"/>
                <a:cs typeface="Arial"/>
              </a:defRPr>
            </a:lvl1pPr>
            <a:lvl2pPr>
              <a:defRPr sz="1350" b="0">
                <a:solidFill>
                  <a:srgbClr val="52676E"/>
                </a:solidFill>
                <a:latin typeface="Arial"/>
                <a:ea typeface="Arial"/>
                <a:cs typeface="Arial"/>
              </a:defRPr>
            </a:lvl2pPr>
            <a:lvl3pPr>
              <a:defRPr sz="1350" b="0">
                <a:solidFill>
                  <a:srgbClr val="52676E"/>
                </a:solidFill>
                <a:latin typeface="Arial"/>
                <a:ea typeface="Arial"/>
                <a:cs typeface="Arial"/>
              </a:defRPr>
            </a:lvl3pPr>
            <a:lvl4pPr>
              <a:defRPr sz="1350" b="0">
                <a:solidFill>
                  <a:srgbClr val="52676E"/>
                </a:solidFill>
                <a:latin typeface="Arial"/>
                <a:ea typeface="Arial"/>
                <a:cs typeface="Arial"/>
              </a:defRPr>
            </a:lvl4pPr>
            <a:lvl5pPr>
              <a:defRPr sz="1350" b="0">
                <a:solidFill>
                  <a:srgbClr val="52676E"/>
                </a:solidFill>
                <a:latin typeface="Arial"/>
                <a:ea typeface="Arial"/>
                <a:cs typeface="Arial"/>
              </a:defRPr>
            </a:lvl5pPr>
            <a:lvl6pPr>
              <a:defRPr sz="1350" b="0">
                <a:solidFill>
                  <a:srgbClr val="52676E"/>
                </a:solidFill>
                <a:latin typeface="Arial"/>
                <a:ea typeface="Arial"/>
                <a:cs typeface="Arial"/>
              </a:defRPr>
            </a:lvl6pPr>
            <a:lvl7pPr>
              <a:defRPr sz="1350" b="0">
                <a:solidFill>
                  <a:srgbClr val="52676E"/>
                </a:solidFill>
                <a:latin typeface="Arial"/>
                <a:ea typeface="Arial"/>
                <a:cs typeface="Arial"/>
              </a:defRPr>
            </a:lvl7pPr>
            <a:lvl8pPr>
              <a:defRPr sz="1350" b="0">
                <a:solidFill>
                  <a:srgbClr val="52676E"/>
                </a:solidFill>
                <a:latin typeface="Arial"/>
                <a:ea typeface="Arial"/>
                <a:cs typeface="Arial"/>
              </a:defRPr>
            </a:lvl8pPr>
            <a:lvl9pPr>
              <a:defRPr sz="1350" b="0">
                <a:solidFill>
                  <a:srgbClr val="52676E"/>
                </a:solidFill>
                <a:latin typeface="Arial"/>
                <a:ea typeface="Arial"/>
                <a:cs typeface="Arial"/>
              </a:defRPr>
            </a:lvl9pPr>
          </a:lstStyle>
          <a:p xmlns:a="http://schemas.openxmlformats.org/drawingml/2006/main">
            <a:pPr>
              <a:defRPr sz="1350" b="0">
                <a:solidFill>
                  <a:srgbClr val="52676E"/>
                </a:solidFill>
                <a:latin typeface="Arial"/>
                <a:ea typeface="Arial"/>
                <a:cs typeface="Arial"/>
              </a:defRPr>
            </a:pPr>
            <a:r>
              <a:rPr sz="1350" b="0">
                <a:solidFill>
                  <a:srgbClr val="52676E"/>
                </a:solidFill>
                <a:latin typeface="Arial"/>
                <a:ea typeface="Arial"/>
                <a:cs typeface="Arial"/>
              </a:rPr>
              <a:t>2</a:t>
            </a:r>
          </a:p>
        </p:txBody>
      </p:sp>
      <p:sp>
        <p:nvSpPr>
          <p:cNvPr id="3" name="IteraTeR-HUMAN, filtered to arXiv documents">
            <a:extLst xmlns:a="http://schemas.openxmlformats.org/drawingml/2006/main">
              <a:ext uri="{FF2B5EF4-FFF2-40B4-BE49-F238E27FC236}">
                <a16:creationId xmlns:a16="http://schemas.microsoft.com/office/drawing/2014/main" id="{763506B1-61DF-4CF0-A09E-A78C5AB0002C}"/>
              </a:ext>
            </a:extLst>
          </p:cNvPr>
          <p:cNvSpPr>
            <a:spLocks xmlns:a="http://schemas.openxmlformats.org/drawingml/2006/main" noGrp="1"/>
          </p:cNvSpPr>
          <p:nvPr/>
        </p:nvSpPr>
        <p:spPr>
          <a:xfrm xmlns:a="http://schemas.openxmlformats.org/drawingml/2006/main">
            <a:off x="609600" y="14097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2676E"/>
                </a:solidFill>
                <a:latin typeface="Arial"/>
                <a:ea typeface="Arial"/>
                <a:cs typeface="Arial"/>
              </a:defRPr>
            </a:defPPr>
            <a:lvl1pPr>
              <a:defRPr sz="2100" b="0">
                <a:solidFill>
                  <a:srgbClr val="52676E"/>
                </a:solidFill>
                <a:latin typeface="Arial"/>
                <a:ea typeface="Arial"/>
                <a:cs typeface="Arial"/>
              </a:defRPr>
            </a:lvl1pPr>
            <a:lvl2pPr>
              <a:defRPr sz="2100" b="0">
                <a:solidFill>
                  <a:srgbClr val="52676E"/>
                </a:solidFill>
                <a:latin typeface="Arial"/>
                <a:ea typeface="Arial"/>
                <a:cs typeface="Arial"/>
              </a:defRPr>
            </a:lvl2pPr>
            <a:lvl3pPr>
              <a:defRPr sz="2100" b="0">
                <a:solidFill>
                  <a:srgbClr val="52676E"/>
                </a:solidFill>
                <a:latin typeface="Arial"/>
                <a:ea typeface="Arial"/>
                <a:cs typeface="Arial"/>
              </a:defRPr>
            </a:lvl3pPr>
            <a:lvl4pPr>
              <a:defRPr sz="2100" b="0">
                <a:solidFill>
                  <a:srgbClr val="52676E"/>
                </a:solidFill>
                <a:latin typeface="Arial"/>
                <a:ea typeface="Arial"/>
                <a:cs typeface="Arial"/>
              </a:defRPr>
            </a:lvl4pPr>
            <a:lvl5pPr>
              <a:defRPr sz="2100" b="0">
                <a:solidFill>
                  <a:srgbClr val="52676E"/>
                </a:solidFill>
                <a:latin typeface="Arial"/>
                <a:ea typeface="Arial"/>
                <a:cs typeface="Arial"/>
              </a:defRPr>
            </a:lvl5pPr>
            <a:lvl6pPr>
              <a:defRPr sz="2100" b="0">
                <a:solidFill>
                  <a:srgbClr val="52676E"/>
                </a:solidFill>
                <a:latin typeface="Arial"/>
                <a:ea typeface="Arial"/>
                <a:cs typeface="Arial"/>
              </a:defRPr>
            </a:lvl6pPr>
            <a:lvl7pPr>
              <a:defRPr sz="2100" b="0">
                <a:solidFill>
                  <a:srgbClr val="52676E"/>
                </a:solidFill>
                <a:latin typeface="Arial"/>
                <a:ea typeface="Arial"/>
                <a:cs typeface="Arial"/>
              </a:defRPr>
            </a:lvl7pPr>
            <a:lvl8pPr>
              <a:defRPr sz="2100" b="0">
                <a:solidFill>
                  <a:srgbClr val="52676E"/>
                </a:solidFill>
                <a:latin typeface="Arial"/>
                <a:ea typeface="Arial"/>
                <a:cs typeface="Arial"/>
              </a:defRPr>
            </a:lvl8pPr>
            <a:lvl9pPr>
              <a:defRPr sz="2100" b="0">
                <a:solidFill>
                  <a:srgbClr val="52676E"/>
                </a:solidFill>
                <a:latin typeface="Arial"/>
                <a:ea typeface="Arial"/>
                <a:cs typeface="Arial"/>
              </a:defRPr>
            </a:lvl9pPr>
          </a:lstStyle>
          <a:p xmlns:a="http://schemas.openxmlformats.org/drawingml/2006/main">
            <a:pPr>
              <a:defRPr sz="2100" b="0">
                <a:solidFill>
                  <a:srgbClr val="52676E"/>
                </a:solidFill>
                <a:latin typeface="Arial"/>
                <a:ea typeface="Arial"/>
                <a:cs typeface="Arial"/>
              </a:defRPr>
            </a:pPr>
            <a:r>
              <a:rPr sz="2100" b="0">
                <a:solidFill>
                  <a:srgbClr val="52676E"/>
                </a:solidFill>
                <a:latin typeface="Arial"/>
                <a:ea typeface="Arial"/>
                <a:cs typeface="Arial"/>
              </a:rPr>
              <a:t>IteraTeR-HUMAN, filtered to arXiv documents</a:t>
            </a:r>
          </a:p>
        </p:txBody>
      </p:sp>
      <p:graphicFrame>
        <p:nvGraphicFramePr>
          <p:cNvPr id="4" name="Chart">
            <a:extLst xmlns:a="http://schemas.openxmlformats.org/drawingml/2006/main">
              <a:ext uri="{FF2B5EF4-FFF2-40B4-BE49-F238E27FC236}">
                <a16:creationId xmlns:a16="http://schemas.microsoft.com/office/drawing/2014/main" id="{A1D3E66F-777B-40D3-A131-F71E658DD4CB}"/>
              </a:ext>
            </a:extLst>
          </p:cNvPr>
          <p:cNvGraphicFramePr/>
          <p:nvPr/>
        </p:nvGraphicFramePr>
        <p:xfrm>
          <a:off xmlns:a="http://schemas.openxmlformats.org/drawingml/2006/main" x="476250" y="2190750"/>
          <a:ext xmlns:a="http://schemas.openxmlformats.org/drawingml/2006/main" cx="7086600" cy="3238500"/>
        </p:xfrm>
        <a:graphic xmlns:a="http://schemas.openxmlformats.org/drawingml/2006/main">
          <a:graphicData uri="http://schemas.openxmlformats.org/drawingml/2006/chart">
            <c:chart xmlns:r="http://schemas.openxmlformats.org/officeDocument/2006/relationships" xmlns:c="http://schemas.openxmlformats.org/drawingml/2006/chart" r:id="Rbf696304013847e3"/>
          </a:graphicData>
        </a:graphic>
      </p:graphicFrame>
      <p:sp>
        <p:nvSpPr>
          <p:cNvPr id="5" name="95">
            <a:extLst xmlns:a="http://schemas.openxmlformats.org/drawingml/2006/main">
              <a:ext uri="{FF2B5EF4-FFF2-40B4-BE49-F238E27FC236}">
                <a16:creationId xmlns:a16="http://schemas.microsoft.com/office/drawing/2014/main" id="{B9B7F75C-CCBD-47FC-AD38-BB489BBF7BAD}"/>
              </a:ext>
            </a:extLst>
          </p:cNvPr>
          <p:cNvSpPr>
            <a:spLocks xmlns:a="http://schemas.openxmlformats.org/drawingml/2006/main" noGrp="1"/>
          </p:cNvSpPr>
          <p:nvPr/>
        </p:nvSpPr>
        <p:spPr>
          <a:xfrm xmlns:a="http://schemas.openxmlformats.org/drawingml/2006/main">
            <a:off x="8191500" y="2266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700" b="1">
                <a:solidFill>
                  <a:srgbClr val="087E83"/>
                </a:solidFill>
                <a:latin typeface="Arial"/>
                <a:ea typeface="Arial"/>
                <a:cs typeface="Arial"/>
              </a:defRPr>
            </a:defPPr>
            <a:lvl1pPr>
              <a:defRPr sz="5700" b="1">
                <a:solidFill>
                  <a:srgbClr val="087E83"/>
                </a:solidFill>
                <a:latin typeface="Arial"/>
                <a:ea typeface="Arial"/>
                <a:cs typeface="Arial"/>
              </a:defRPr>
            </a:lvl1pPr>
            <a:lvl2pPr>
              <a:defRPr sz="5700" b="1">
                <a:solidFill>
                  <a:srgbClr val="087E83"/>
                </a:solidFill>
                <a:latin typeface="Arial"/>
                <a:ea typeface="Arial"/>
                <a:cs typeface="Arial"/>
              </a:defRPr>
            </a:lvl2pPr>
            <a:lvl3pPr>
              <a:defRPr sz="5700" b="1">
                <a:solidFill>
                  <a:srgbClr val="087E83"/>
                </a:solidFill>
                <a:latin typeface="Arial"/>
                <a:ea typeface="Arial"/>
                <a:cs typeface="Arial"/>
              </a:defRPr>
            </a:lvl3pPr>
            <a:lvl4pPr>
              <a:defRPr sz="5700" b="1">
                <a:solidFill>
                  <a:srgbClr val="087E83"/>
                </a:solidFill>
                <a:latin typeface="Arial"/>
                <a:ea typeface="Arial"/>
                <a:cs typeface="Arial"/>
              </a:defRPr>
            </a:lvl4pPr>
            <a:lvl5pPr>
              <a:defRPr sz="5700" b="1">
                <a:solidFill>
                  <a:srgbClr val="087E83"/>
                </a:solidFill>
                <a:latin typeface="Arial"/>
                <a:ea typeface="Arial"/>
                <a:cs typeface="Arial"/>
              </a:defRPr>
            </a:lvl5pPr>
            <a:lvl6pPr>
              <a:defRPr sz="5700" b="1">
                <a:solidFill>
                  <a:srgbClr val="087E83"/>
                </a:solidFill>
                <a:latin typeface="Arial"/>
                <a:ea typeface="Arial"/>
                <a:cs typeface="Arial"/>
              </a:defRPr>
            </a:lvl6pPr>
            <a:lvl7pPr>
              <a:defRPr sz="5700" b="1">
                <a:solidFill>
                  <a:srgbClr val="087E83"/>
                </a:solidFill>
                <a:latin typeface="Arial"/>
                <a:ea typeface="Arial"/>
                <a:cs typeface="Arial"/>
              </a:defRPr>
            </a:lvl7pPr>
            <a:lvl8pPr>
              <a:defRPr sz="5700" b="1">
                <a:solidFill>
                  <a:srgbClr val="087E83"/>
                </a:solidFill>
                <a:latin typeface="Arial"/>
                <a:ea typeface="Arial"/>
                <a:cs typeface="Arial"/>
              </a:defRPr>
            </a:lvl8pPr>
            <a:lvl9pPr>
              <a:defRPr sz="5700" b="1">
                <a:solidFill>
                  <a:srgbClr val="087E83"/>
                </a:solidFill>
                <a:latin typeface="Arial"/>
                <a:ea typeface="Arial"/>
                <a:cs typeface="Arial"/>
              </a:defRPr>
            </a:lvl9pPr>
          </a:lstStyle>
          <a:p xmlns:a="http://schemas.openxmlformats.org/drawingml/2006/main">
            <a:pPr>
              <a:defRPr sz="5700" b="1">
                <a:solidFill>
                  <a:srgbClr val="087E83"/>
                </a:solidFill>
                <a:latin typeface="Arial"/>
                <a:ea typeface="Arial"/>
                <a:cs typeface="Arial"/>
              </a:defRPr>
            </a:pPr>
            <a:r>
              <a:rPr sz="5700" b="1">
                <a:solidFill>
                  <a:srgbClr val="087E83"/>
                </a:solidFill>
                <a:latin typeface="Arial"/>
                <a:ea typeface="Arial"/>
                <a:cs typeface="Arial"/>
              </a:rPr>
              <a:t>95</a:t>
            </a:r>
          </a:p>
        </p:txBody>
      </p:sp>
      <p:sp>
        <p:nvSpPr>
          <p:cNvPr id="6" name="source documents">
            <a:extLst xmlns:a="http://schemas.openxmlformats.org/drawingml/2006/main">
              <a:ext uri="{FF2B5EF4-FFF2-40B4-BE49-F238E27FC236}">
                <a16:creationId xmlns:a16="http://schemas.microsoft.com/office/drawing/2014/main" id="{D564118C-3E3E-4523-A211-0BD49CC1ACBB}"/>
              </a:ext>
            </a:extLst>
          </p:cNvPr>
          <p:cNvSpPr>
            <a:spLocks xmlns:a="http://schemas.openxmlformats.org/drawingml/2006/main" noGrp="1"/>
          </p:cNvSpPr>
          <p:nvPr/>
        </p:nvSpPr>
        <p:spPr>
          <a:xfrm xmlns:a="http://schemas.openxmlformats.org/drawingml/2006/main">
            <a:off x="8229600" y="32004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F39"/>
                </a:solidFill>
                <a:latin typeface="Arial"/>
                <a:ea typeface="Arial"/>
                <a:cs typeface="Arial"/>
              </a:defRPr>
            </a:defPPr>
            <a:lvl1pPr>
              <a:defRPr sz="2025" b="0">
                <a:solidFill>
                  <a:srgbClr val="142F39"/>
                </a:solidFill>
                <a:latin typeface="Arial"/>
                <a:ea typeface="Arial"/>
                <a:cs typeface="Arial"/>
              </a:defRPr>
            </a:lvl1pPr>
            <a:lvl2pPr>
              <a:defRPr sz="2025" b="0">
                <a:solidFill>
                  <a:srgbClr val="142F39"/>
                </a:solidFill>
                <a:latin typeface="Arial"/>
                <a:ea typeface="Arial"/>
                <a:cs typeface="Arial"/>
              </a:defRPr>
            </a:lvl2pPr>
            <a:lvl3pPr>
              <a:defRPr sz="2025" b="0">
                <a:solidFill>
                  <a:srgbClr val="142F39"/>
                </a:solidFill>
                <a:latin typeface="Arial"/>
                <a:ea typeface="Arial"/>
                <a:cs typeface="Arial"/>
              </a:defRPr>
            </a:lvl3pPr>
            <a:lvl4pPr>
              <a:defRPr sz="2025" b="0">
                <a:solidFill>
                  <a:srgbClr val="142F39"/>
                </a:solidFill>
                <a:latin typeface="Arial"/>
                <a:ea typeface="Arial"/>
                <a:cs typeface="Arial"/>
              </a:defRPr>
            </a:lvl4pPr>
            <a:lvl5pPr>
              <a:defRPr sz="2025" b="0">
                <a:solidFill>
                  <a:srgbClr val="142F39"/>
                </a:solidFill>
                <a:latin typeface="Arial"/>
                <a:ea typeface="Arial"/>
                <a:cs typeface="Arial"/>
              </a:defRPr>
            </a:lvl5pPr>
            <a:lvl6pPr>
              <a:defRPr sz="2025" b="0">
                <a:solidFill>
                  <a:srgbClr val="142F39"/>
                </a:solidFill>
                <a:latin typeface="Arial"/>
                <a:ea typeface="Arial"/>
                <a:cs typeface="Arial"/>
              </a:defRPr>
            </a:lvl6pPr>
            <a:lvl7pPr>
              <a:defRPr sz="2025" b="0">
                <a:solidFill>
                  <a:srgbClr val="142F39"/>
                </a:solidFill>
                <a:latin typeface="Arial"/>
                <a:ea typeface="Arial"/>
                <a:cs typeface="Arial"/>
              </a:defRPr>
            </a:lvl7pPr>
            <a:lvl8pPr>
              <a:defRPr sz="2025" b="0">
                <a:solidFill>
                  <a:srgbClr val="142F39"/>
                </a:solidFill>
                <a:latin typeface="Arial"/>
                <a:ea typeface="Arial"/>
                <a:cs typeface="Arial"/>
              </a:defRPr>
            </a:lvl8pPr>
            <a:lvl9pPr>
              <a:defRPr sz="2025" b="0">
                <a:solidFill>
                  <a:srgbClr val="142F39"/>
                </a:solidFill>
                <a:latin typeface="Arial"/>
                <a:ea typeface="Arial"/>
                <a:cs typeface="Arial"/>
              </a:defRPr>
            </a:lvl9pPr>
          </a:lstStyle>
          <a:p xmlns:a="http://schemas.openxmlformats.org/drawingml/2006/main">
            <a:pPr>
              <a:defRPr sz="2025" b="0">
                <a:solidFill>
                  <a:srgbClr val="142F39"/>
                </a:solidFill>
                <a:latin typeface="Arial"/>
                <a:ea typeface="Arial"/>
                <a:cs typeface="Arial"/>
              </a:defRPr>
            </a:pPr>
            <a:r>
              <a:rPr sz="2025" b="0">
                <a:solidFill>
                  <a:srgbClr val="142F39"/>
                </a:solidFill>
                <a:latin typeface="Arial"/>
                <a:ea typeface="Arial"/>
                <a:cs typeface="Arial"/>
              </a:rPr>
              <a:t>source documents</a:t>
            </a:r>
          </a:p>
        </p:txBody>
      </p:sp>
      <p:sp>
        <p:nvSpPr>
          <p:cNvPr id="7" name="24 / 676">
            <a:extLst xmlns:a="http://schemas.openxmlformats.org/drawingml/2006/main">
              <a:ext uri="{FF2B5EF4-FFF2-40B4-BE49-F238E27FC236}">
                <a16:creationId xmlns:a16="http://schemas.microsoft.com/office/drawing/2014/main" id="{9A070327-1F4C-400E-A6B0-B03B3A1D96FC}"/>
              </a:ext>
            </a:extLst>
          </p:cNvPr>
          <p:cNvSpPr>
            <a:spLocks xmlns:a="http://schemas.openxmlformats.org/drawingml/2006/main" noGrp="1"/>
          </p:cNvSpPr>
          <p:nvPr/>
        </p:nvSpPr>
        <p:spPr>
          <a:xfrm xmlns:a="http://schemas.openxmlformats.org/drawingml/2006/main">
            <a:off x="8191500" y="39909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B55D43"/>
                </a:solidFill>
                <a:latin typeface="Arial"/>
                <a:ea typeface="Arial"/>
                <a:cs typeface="Arial"/>
              </a:defRPr>
            </a:defPPr>
            <a:lvl1pPr>
              <a:defRPr sz="3600" b="1">
                <a:solidFill>
                  <a:srgbClr val="B55D43"/>
                </a:solidFill>
                <a:latin typeface="Arial"/>
                <a:ea typeface="Arial"/>
                <a:cs typeface="Arial"/>
              </a:defRPr>
            </a:lvl1pPr>
            <a:lvl2pPr>
              <a:defRPr sz="3600" b="1">
                <a:solidFill>
                  <a:srgbClr val="B55D43"/>
                </a:solidFill>
                <a:latin typeface="Arial"/>
                <a:ea typeface="Arial"/>
                <a:cs typeface="Arial"/>
              </a:defRPr>
            </a:lvl2pPr>
            <a:lvl3pPr>
              <a:defRPr sz="3600" b="1">
                <a:solidFill>
                  <a:srgbClr val="B55D43"/>
                </a:solidFill>
                <a:latin typeface="Arial"/>
                <a:ea typeface="Arial"/>
                <a:cs typeface="Arial"/>
              </a:defRPr>
            </a:lvl3pPr>
            <a:lvl4pPr>
              <a:defRPr sz="3600" b="1">
                <a:solidFill>
                  <a:srgbClr val="B55D43"/>
                </a:solidFill>
                <a:latin typeface="Arial"/>
                <a:ea typeface="Arial"/>
                <a:cs typeface="Arial"/>
              </a:defRPr>
            </a:lvl4pPr>
            <a:lvl5pPr>
              <a:defRPr sz="3600" b="1">
                <a:solidFill>
                  <a:srgbClr val="B55D43"/>
                </a:solidFill>
                <a:latin typeface="Arial"/>
                <a:ea typeface="Arial"/>
                <a:cs typeface="Arial"/>
              </a:defRPr>
            </a:lvl5pPr>
            <a:lvl6pPr>
              <a:defRPr sz="3600" b="1">
                <a:solidFill>
                  <a:srgbClr val="B55D43"/>
                </a:solidFill>
                <a:latin typeface="Arial"/>
                <a:ea typeface="Arial"/>
                <a:cs typeface="Arial"/>
              </a:defRPr>
            </a:lvl6pPr>
            <a:lvl7pPr>
              <a:defRPr sz="3600" b="1">
                <a:solidFill>
                  <a:srgbClr val="B55D43"/>
                </a:solidFill>
                <a:latin typeface="Arial"/>
                <a:ea typeface="Arial"/>
                <a:cs typeface="Arial"/>
              </a:defRPr>
            </a:lvl7pPr>
            <a:lvl8pPr>
              <a:defRPr sz="3600" b="1">
                <a:solidFill>
                  <a:srgbClr val="B55D43"/>
                </a:solidFill>
                <a:latin typeface="Arial"/>
                <a:ea typeface="Arial"/>
                <a:cs typeface="Arial"/>
              </a:defRPr>
            </a:lvl8pPr>
            <a:lvl9pPr>
              <a:defRPr sz="3600" b="1">
                <a:solidFill>
                  <a:srgbClr val="B55D43"/>
                </a:solidFill>
                <a:latin typeface="Arial"/>
                <a:ea typeface="Arial"/>
                <a:cs typeface="Arial"/>
              </a:defRPr>
            </a:lvl9pPr>
          </a:lstStyle>
          <a:p xmlns:a="http://schemas.openxmlformats.org/drawingml/2006/main">
            <a:pPr>
              <a:defRPr sz="3600" b="1">
                <a:solidFill>
                  <a:srgbClr val="B55D43"/>
                </a:solidFill>
                <a:latin typeface="Arial"/>
                <a:ea typeface="Arial"/>
                <a:cs typeface="Arial"/>
              </a:defRPr>
            </a:pPr>
            <a:r>
              <a:rPr sz="3600" b="1">
                <a:solidFill>
                  <a:srgbClr val="B55D43"/>
                </a:solidFill>
                <a:latin typeface="Arial"/>
                <a:ea typeface="Arial"/>
                <a:cs typeface="Arial"/>
              </a:rPr>
              <a:t>24 / 676</a:t>
            </a:r>
          </a:p>
        </p:txBody>
      </p:sp>
      <p:sp>
        <p:nvSpPr>
          <p:cNvPr id="8" name="pairs carry a style label">
            <a:extLst xmlns:a="http://schemas.openxmlformats.org/drawingml/2006/main">
              <a:ext uri="{FF2B5EF4-FFF2-40B4-BE49-F238E27FC236}">
                <a16:creationId xmlns:a16="http://schemas.microsoft.com/office/drawing/2014/main" id="{BCEBB954-E438-44CD-9877-3C58ED37AF75}"/>
              </a:ext>
            </a:extLst>
          </p:cNvPr>
          <p:cNvSpPr>
            <a:spLocks xmlns:a="http://schemas.openxmlformats.org/drawingml/2006/main" noGrp="1"/>
          </p:cNvSpPr>
          <p:nvPr/>
        </p:nvSpPr>
        <p:spPr>
          <a:xfrm xmlns:a="http://schemas.openxmlformats.org/drawingml/2006/main">
            <a:off x="8229600" y="46863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42F39"/>
                </a:solidFill>
                <a:latin typeface="Arial"/>
                <a:ea typeface="Arial"/>
                <a:cs typeface="Arial"/>
              </a:defRPr>
            </a:defPPr>
            <a:lvl1pPr>
              <a:defRPr sz="1950" b="0">
                <a:solidFill>
                  <a:srgbClr val="142F39"/>
                </a:solidFill>
                <a:latin typeface="Arial"/>
                <a:ea typeface="Arial"/>
                <a:cs typeface="Arial"/>
              </a:defRPr>
            </a:lvl1pPr>
            <a:lvl2pPr>
              <a:defRPr sz="1950" b="0">
                <a:solidFill>
                  <a:srgbClr val="142F39"/>
                </a:solidFill>
                <a:latin typeface="Arial"/>
                <a:ea typeface="Arial"/>
                <a:cs typeface="Arial"/>
              </a:defRPr>
            </a:lvl2pPr>
            <a:lvl3pPr>
              <a:defRPr sz="1950" b="0">
                <a:solidFill>
                  <a:srgbClr val="142F39"/>
                </a:solidFill>
                <a:latin typeface="Arial"/>
                <a:ea typeface="Arial"/>
                <a:cs typeface="Arial"/>
              </a:defRPr>
            </a:lvl3pPr>
            <a:lvl4pPr>
              <a:defRPr sz="1950" b="0">
                <a:solidFill>
                  <a:srgbClr val="142F39"/>
                </a:solidFill>
                <a:latin typeface="Arial"/>
                <a:ea typeface="Arial"/>
                <a:cs typeface="Arial"/>
              </a:defRPr>
            </a:lvl4pPr>
            <a:lvl5pPr>
              <a:defRPr sz="1950" b="0">
                <a:solidFill>
                  <a:srgbClr val="142F39"/>
                </a:solidFill>
                <a:latin typeface="Arial"/>
                <a:ea typeface="Arial"/>
                <a:cs typeface="Arial"/>
              </a:defRPr>
            </a:lvl5pPr>
            <a:lvl6pPr>
              <a:defRPr sz="1950" b="0">
                <a:solidFill>
                  <a:srgbClr val="142F39"/>
                </a:solidFill>
                <a:latin typeface="Arial"/>
                <a:ea typeface="Arial"/>
                <a:cs typeface="Arial"/>
              </a:defRPr>
            </a:lvl6pPr>
            <a:lvl7pPr>
              <a:defRPr sz="1950" b="0">
                <a:solidFill>
                  <a:srgbClr val="142F39"/>
                </a:solidFill>
                <a:latin typeface="Arial"/>
                <a:ea typeface="Arial"/>
                <a:cs typeface="Arial"/>
              </a:defRPr>
            </a:lvl7pPr>
            <a:lvl8pPr>
              <a:defRPr sz="1950" b="0">
                <a:solidFill>
                  <a:srgbClr val="142F39"/>
                </a:solidFill>
                <a:latin typeface="Arial"/>
                <a:ea typeface="Arial"/>
                <a:cs typeface="Arial"/>
              </a:defRPr>
            </a:lvl8pPr>
            <a:lvl9pPr>
              <a:defRPr sz="1950" b="0">
                <a:solidFill>
                  <a:srgbClr val="142F39"/>
                </a:solidFill>
                <a:latin typeface="Arial"/>
                <a:ea typeface="Arial"/>
                <a:cs typeface="Arial"/>
              </a:defRPr>
            </a:lvl9pPr>
          </a:lstStyle>
          <a:p xmlns:a="http://schemas.openxmlformats.org/drawingml/2006/main">
            <a:pPr>
              <a:defRPr sz="1950" b="0">
                <a:solidFill>
                  <a:srgbClr val="142F39"/>
                </a:solidFill>
                <a:latin typeface="Arial"/>
                <a:ea typeface="Arial"/>
                <a:cs typeface="Arial"/>
              </a:defRPr>
            </a:pPr>
            <a:r>
              <a:rPr sz="1950" b="0">
                <a:solidFill>
                  <a:srgbClr val="142F39"/>
                </a:solidFill>
                <a:latin typeface="Arial"/>
                <a:ea typeface="Arial"/>
                <a:cs typeface="Arial"/>
              </a:rPr>
              <a:t>pairs carry a style label</a:t>
            </a:r>
          </a:p>
        </p:txBody>
      </p:sp>
      <p:sp>
        <p:nvSpPr>
          <p:cNvPr id="9" name="Document and exact-text overlap across splits: 0. Semantic n">
            <a:extLst xmlns:a="http://schemas.openxmlformats.org/drawingml/2006/main">
              <a:ext uri="{FF2B5EF4-FFF2-40B4-BE49-F238E27FC236}">
                <a16:creationId xmlns:a16="http://schemas.microsoft.com/office/drawing/2014/main" id="{8A8E79AA-903F-44C2-9358-65988E7B21A6}"/>
              </a:ext>
            </a:extLst>
          </p:cNvPr>
          <p:cNvSpPr>
            <a:spLocks xmlns:a="http://schemas.openxmlformats.org/drawingml/2006/main" noGrp="1"/>
          </p:cNvSpPr>
          <p:nvPr/>
        </p:nvSpPr>
        <p:spPr>
          <a:xfrm xmlns:a="http://schemas.openxmlformats.org/drawingml/2006/main">
            <a:off x="609600" y="6172200"/>
            <a:ext cx="1024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76E"/>
                </a:solidFill>
                <a:latin typeface="Arial"/>
                <a:ea typeface="Arial"/>
                <a:cs typeface="Arial"/>
              </a:defRPr>
            </a:defPPr>
            <a:lvl1pPr>
              <a:defRPr sz="1350" b="0">
                <a:solidFill>
                  <a:srgbClr val="52676E"/>
                </a:solidFill>
                <a:latin typeface="Arial"/>
                <a:ea typeface="Arial"/>
                <a:cs typeface="Arial"/>
              </a:defRPr>
            </a:lvl1pPr>
            <a:lvl2pPr>
              <a:defRPr sz="1350" b="0">
                <a:solidFill>
                  <a:srgbClr val="52676E"/>
                </a:solidFill>
                <a:latin typeface="Arial"/>
                <a:ea typeface="Arial"/>
                <a:cs typeface="Arial"/>
              </a:defRPr>
            </a:lvl2pPr>
            <a:lvl3pPr>
              <a:defRPr sz="1350" b="0">
                <a:solidFill>
                  <a:srgbClr val="52676E"/>
                </a:solidFill>
                <a:latin typeface="Arial"/>
                <a:ea typeface="Arial"/>
                <a:cs typeface="Arial"/>
              </a:defRPr>
            </a:lvl3pPr>
            <a:lvl4pPr>
              <a:defRPr sz="1350" b="0">
                <a:solidFill>
                  <a:srgbClr val="52676E"/>
                </a:solidFill>
                <a:latin typeface="Arial"/>
                <a:ea typeface="Arial"/>
                <a:cs typeface="Arial"/>
              </a:defRPr>
            </a:lvl4pPr>
            <a:lvl5pPr>
              <a:defRPr sz="1350" b="0">
                <a:solidFill>
                  <a:srgbClr val="52676E"/>
                </a:solidFill>
                <a:latin typeface="Arial"/>
                <a:ea typeface="Arial"/>
                <a:cs typeface="Arial"/>
              </a:defRPr>
            </a:lvl5pPr>
            <a:lvl6pPr>
              <a:defRPr sz="1350" b="0">
                <a:solidFill>
                  <a:srgbClr val="52676E"/>
                </a:solidFill>
                <a:latin typeface="Arial"/>
                <a:ea typeface="Arial"/>
                <a:cs typeface="Arial"/>
              </a:defRPr>
            </a:lvl6pPr>
            <a:lvl7pPr>
              <a:defRPr sz="1350" b="0">
                <a:solidFill>
                  <a:srgbClr val="52676E"/>
                </a:solidFill>
                <a:latin typeface="Arial"/>
                <a:ea typeface="Arial"/>
                <a:cs typeface="Arial"/>
              </a:defRPr>
            </a:lvl7pPr>
            <a:lvl8pPr>
              <a:defRPr sz="1350" b="0">
                <a:solidFill>
                  <a:srgbClr val="52676E"/>
                </a:solidFill>
                <a:latin typeface="Arial"/>
                <a:ea typeface="Arial"/>
                <a:cs typeface="Arial"/>
              </a:defRPr>
            </a:lvl8pPr>
            <a:lvl9pPr>
              <a:defRPr sz="1350" b="0">
                <a:solidFill>
                  <a:srgbClr val="52676E"/>
                </a:solidFill>
                <a:latin typeface="Arial"/>
                <a:ea typeface="Arial"/>
                <a:cs typeface="Arial"/>
              </a:defRPr>
            </a:lvl9pPr>
          </a:lstStyle>
          <a:p xmlns:a="http://schemas.openxmlformats.org/drawingml/2006/main">
            <a:pPr>
              <a:defRPr sz="1350" b="0">
                <a:solidFill>
                  <a:srgbClr val="52676E"/>
                </a:solidFill>
                <a:latin typeface="Arial"/>
                <a:ea typeface="Arial"/>
                <a:cs typeface="Arial"/>
              </a:defRPr>
            </a:pPr>
            <a:r>
              <a:rPr sz="1350" b="0">
                <a:solidFill>
                  <a:srgbClr val="52676E"/>
                </a:solidFill>
                <a:latin typeface="Arial"/>
                <a:ea typeface="Arial"/>
                <a:cs typeface="Arial"/>
              </a:rPr>
              <a:t>Document and exact-text overlap across splits: 0. Semantic near duplicates may remain.</a:t>
            </a:r>
          </a:p>
        </p:txBody>
      </p:sp>
    </p:spTree>
    <p:extLst>
      <p:ext uri="{BB962C8B-B14F-4D97-AF65-F5344CB8AC3E}">
        <p14:creationId xmlns:p14="http://schemas.microsoft.com/office/powerpoint/2010/main" val="1759945716"/>
      </p:ext>
    </p:extLst>
  </p:cSld>
</p:sld>
</file>

<file path=ppt/slides/slide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8" name="A gated Mamba adapter inside BART">
            <a:extLst xmlns:a="http://schemas.openxmlformats.org/drawingml/2006/main">
              <a:ext uri="{FF2B5EF4-FFF2-40B4-BE49-F238E27FC236}">
                <a16:creationId xmlns:a16="http://schemas.microsoft.com/office/drawing/2014/main" id="{6621FE82-DDA4-423B-971D-C4D50823B8DF}"/>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142F39"/>
                </a:solidFill>
                <a:latin typeface="Arial"/>
                <a:ea typeface="Arial"/>
                <a:cs typeface="Arial"/>
              </a:defRPr>
            </a:defPPr>
            <a:lvl1pPr>
              <a:defRPr sz="3450" b="1">
                <a:solidFill>
                  <a:srgbClr val="142F39"/>
                </a:solidFill>
                <a:latin typeface="Arial"/>
                <a:ea typeface="Arial"/>
                <a:cs typeface="Arial"/>
              </a:defRPr>
            </a:lvl1pPr>
            <a:lvl2pPr>
              <a:defRPr sz="3450" b="1">
                <a:solidFill>
                  <a:srgbClr val="142F39"/>
                </a:solidFill>
                <a:latin typeface="Arial"/>
                <a:ea typeface="Arial"/>
                <a:cs typeface="Arial"/>
              </a:defRPr>
            </a:lvl2pPr>
            <a:lvl3pPr>
              <a:defRPr sz="3450" b="1">
                <a:solidFill>
                  <a:srgbClr val="142F39"/>
                </a:solidFill>
                <a:latin typeface="Arial"/>
                <a:ea typeface="Arial"/>
                <a:cs typeface="Arial"/>
              </a:defRPr>
            </a:lvl3pPr>
            <a:lvl4pPr>
              <a:defRPr sz="3450" b="1">
                <a:solidFill>
                  <a:srgbClr val="142F39"/>
                </a:solidFill>
                <a:latin typeface="Arial"/>
                <a:ea typeface="Arial"/>
                <a:cs typeface="Arial"/>
              </a:defRPr>
            </a:lvl4pPr>
            <a:lvl5pPr>
              <a:defRPr sz="3450" b="1">
                <a:solidFill>
                  <a:srgbClr val="142F39"/>
                </a:solidFill>
                <a:latin typeface="Arial"/>
                <a:ea typeface="Arial"/>
                <a:cs typeface="Arial"/>
              </a:defRPr>
            </a:lvl5pPr>
            <a:lvl6pPr>
              <a:defRPr sz="3450" b="1">
                <a:solidFill>
                  <a:srgbClr val="142F39"/>
                </a:solidFill>
                <a:latin typeface="Arial"/>
                <a:ea typeface="Arial"/>
                <a:cs typeface="Arial"/>
              </a:defRPr>
            </a:lvl6pPr>
            <a:lvl7pPr>
              <a:defRPr sz="3450" b="1">
                <a:solidFill>
                  <a:srgbClr val="142F39"/>
                </a:solidFill>
                <a:latin typeface="Arial"/>
                <a:ea typeface="Arial"/>
                <a:cs typeface="Arial"/>
              </a:defRPr>
            </a:lvl7pPr>
            <a:lvl8pPr>
              <a:defRPr sz="3450" b="1">
                <a:solidFill>
                  <a:srgbClr val="142F39"/>
                </a:solidFill>
                <a:latin typeface="Arial"/>
                <a:ea typeface="Arial"/>
                <a:cs typeface="Arial"/>
              </a:defRPr>
            </a:lvl8pPr>
            <a:lvl9pPr>
              <a:defRPr sz="3450" b="1">
                <a:solidFill>
                  <a:srgbClr val="142F39"/>
                </a:solidFill>
                <a:latin typeface="Arial"/>
                <a:ea typeface="Arial"/>
                <a:cs typeface="Arial"/>
              </a:defRPr>
            </a:lvl9pPr>
          </a:lstStyle>
          <a:p xmlns:a="http://schemas.openxmlformats.org/drawingml/2006/main">
            <a:pPr>
              <a:defRPr sz="3450" b="1">
                <a:solidFill>
                  <a:srgbClr val="142F39"/>
                </a:solidFill>
                <a:latin typeface="Arial"/>
                <a:ea typeface="Arial"/>
                <a:cs typeface="Arial"/>
              </a:defRPr>
            </a:pPr>
            <a:r>
              <a:rPr sz="3450" b="1">
                <a:solidFill>
                  <a:srgbClr val="142F39"/>
                </a:solidFill>
                <a:latin typeface="Arial"/>
                <a:ea typeface="Arial"/>
                <a:cs typeface="Arial"/>
              </a:rPr>
              <a:t>A gated Mamba adapter inside BART</a:t>
            </a:r>
          </a:p>
        </p:txBody>
      </p:sp>
      <p:sp>
        <p:nvSpPr>
          <p:cNvPr id="2" name="3">
            <a:extLst xmlns:a="http://schemas.openxmlformats.org/drawingml/2006/main">
              <a:ext uri="{FF2B5EF4-FFF2-40B4-BE49-F238E27FC236}">
                <a16:creationId xmlns:a16="http://schemas.microsoft.com/office/drawing/2014/main" id="{F118B51B-42B0-4595-8EB0-CBA5436F4A6D}"/>
              </a:ext>
            </a:extLst>
          </p:cNvPr>
          <p:cNvSpPr>
            <a:spLocks xmlns:a="http://schemas.openxmlformats.org/drawingml/2006/main" noGrp="1"/>
          </p:cNvSpPr>
          <p:nvPr/>
        </p:nvSpPr>
        <p:spPr>
          <a:xfrm xmlns:a="http://schemas.openxmlformats.org/drawingml/2006/main">
            <a:off x="11182350" y="63150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76E"/>
                </a:solidFill>
                <a:latin typeface="Arial"/>
                <a:ea typeface="Arial"/>
                <a:cs typeface="Arial"/>
              </a:defRPr>
            </a:defPPr>
            <a:lvl1pPr>
              <a:defRPr sz="1350" b="0">
                <a:solidFill>
                  <a:srgbClr val="52676E"/>
                </a:solidFill>
                <a:latin typeface="Arial"/>
                <a:ea typeface="Arial"/>
                <a:cs typeface="Arial"/>
              </a:defRPr>
            </a:lvl1pPr>
            <a:lvl2pPr>
              <a:defRPr sz="1350" b="0">
                <a:solidFill>
                  <a:srgbClr val="52676E"/>
                </a:solidFill>
                <a:latin typeface="Arial"/>
                <a:ea typeface="Arial"/>
                <a:cs typeface="Arial"/>
              </a:defRPr>
            </a:lvl2pPr>
            <a:lvl3pPr>
              <a:defRPr sz="1350" b="0">
                <a:solidFill>
                  <a:srgbClr val="52676E"/>
                </a:solidFill>
                <a:latin typeface="Arial"/>
                <a:ea typeface="Arial"/>
                <a:cs typeface="Arial"/>
              </a:defRPr>
            </a:lvl3pPr>
            <a:lvl4pPr>
              <a:defRPr sz="1350" b="0">
                <a:solidFill>
                  <a:srgbClr val="52676E"/>
                </a:solidFill>
                <a:latin typeface="Arial"/>
                <a:ea typeface="Arial"/>
                <a:cs typeface="Arial"/>
              </a:defRPr>
            </a:lvl4pPr>
            <a:lvl5pPr>
              <a:defRPr sz="1350" b="0">
                <a:solidFill>
                  <a:srgbClr val="52676E"/>
                </a:solidFill>
                <a:latin typeface="Arial"/>
                <a:ea typeface="Arial"/>
                <a:cs typeface="Arial"/>
              </a:defRPr>
            </a:lvl5pPr>
            <a:lvl6pPr>
              <a:defRPr sz="1350" b="0">
                <a:solidFill>
                  <a:srgbClr val="52676E"/>
                </a:solidFill>
                <a:latin typeface="Arial"/>
                <a:ea typeface="Arial"/>
                <a:cs typeface="Arial"/>
              </a:defRPr>
            </a:lvl6pPr>
            <a:lvl7pPr>
              <a:defRPr sz="1350" b="0">
                <a:solidFill>
                  <a:srgbClr val="52676E"/>
                </a:solidFill>
                <a:latin typeface="Arial"/>
                <a:ea typeface="Arial"/>
                <a:cs typeface="Arial"/>
              </a:defRPr>
            </a:lvl7pPr>
            <a:lvl8pPr>
              <a:defRPr sz="1350" b="0">
                <a:solidFill>
                  <a:srgbClr val="52676E"/>
                </a:solidFill>
                <a:latin typeface="Arial"/>
                <a:ea typeface="Arial"/>
                <a:cs typeface="Arial"/>
              </a:defRPr>
            </a:lvl8pPr>
            <a:lvl9pPr>
              <a:defRPr sz="1350" b="0">
                <a:solidFill>
                  <a:srgbClr val="52676E"/>
                </a:solidFill>
                <a:latin typeface="Arial"/>
                <a:ea typeface="Arial"/>
                <a:cs typeface="Arial"/>
              </a:defRPr>
            </a:lvl9pPr>
          </a:lstStyle>
          <a:p xmlns:a="http://schemas.openxmlformats.org/drawingml/2006/main">
            <a:pPr>
              <a:defRPr sz="1350" b="0">
                <a:solidFill>
                  <a:srgbClr val="52676E"/>
                </a:solidFill>
                <a:latin typeface="Arial"/>
                <a:ea typeface="Arial"/>
                <a:cs typeface="Arial"/>
              </a:defRPr>
            </a:pPr>
            <a:r>
              <a:rPr sz="1350" b="0">
                <a:solidFill>
                  <a:srgbClr val="52676E"/>
                </a:solidFill>
                <a:latin typeface="Arial"/>
                <a:ea typeface="Arial"/>
                <a:cs typeface="Arial"/>
              </a:rPr>
              <a:t>3</a:t>
            </a:r>
          </a:p>
        </p:txBody>
      </p:sp>
      <p:sp>
        <p:nvSpPr>
          <p:cNvPr id="3" name="Z = H + G ⊙ M">
            <a:extLst xmlns:a="http://schemas.openxmlformats.org/drawingml/2006/main">
              <a:ext uri="{FF2B5EF4-FFF2-40B4-BE49-F238E27FC236}">
                <a16:creationId xmlns:a16="http://schemas.microsoft.com/office/drawing/2014/main" id="{B035C7A4-3EF7-4B4F-A8ED-76A322368496}"/>
              </a:ext>
            </a:extLst>
          </p:cNvPr>
          <p:cNvSpPr>
            <a:spLocks xmlns:a="http://schemas.openxmlformats.org/drawingml/2006/main" noGrp="1"/>
          </p:cNvSpPr>
          <p:nvPr/>
        </p:nvSpPr>
        <p:spPr>
          <a:xfrm xmlns:a="http://schemas.openxmlformats.org/drawingml/2006/main">
            <a:off x="609600" y="1714500"/>
            <a:ext cx="10839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00" b="1">
                <a:solidFill>
                  <a:srgbClr val="087E83"/>
                </a:solidFill>
                <a:latin typeface="Arial"/>
                <a:ea typeface="Arial"/>
                <a:cs typeface="Arial"/>
              </a:defRPr>
            </a:defPPr>
            <a:lvl1pPr>
              <a:defRPr sz="5100" b="1">
                <a:solidFill>
                  <a:srgbClr val="087E83"/>
                </a:solidFill>
                <a:latin typeface="Arial"/>
                <a:ea typeface="Arial"/>
                <a:cs typeface="Arial"/>
              </a:defRPr>
            </a:lvl1pPr>
            <a:lvl2pPr>
              <a:defRPr sz="5100" b="1">
                <a:solidFill>
                  <a:srgbClr val="087E83"/>
                </a:solidFill>
                <a:latin typeface="Arial"/>
                <a:ea typeface="Arial"/>
                <a:cs typeface="Arial"/>
              </a:defRPr>
            </a:lvl2pPr>
            <a:lvl3pPr>
              <a:defRPr sz="5100" b="1">
                <a:solidFill>
                  <a:srgbClr val="087E83"/>
                </a:solidFill>
                <a:latin typeface="Arial"/>
                <a:ea typeface="Arial"/>
                <a:cs typeface="Arial"/>
              </a:defRPr>
            </a:lvl3pPr>
            <a:lvl4pPr>
              <a:defRPr sz="5100" b="1">
                <a:solidFill>
                  <a:srgbClr val="087E83"/>
                </a:solidFill>
                <a:latin typeface="Arial"/>
                <a:ea typeface="Arial"/>
                <a:cs typeface="Arial"/>
              </a:defRPr>
            </a:lvl4pPr>
            <a:lvl5pPr>
              <a:defRPr sz="5100" b="1">
                <a:solidFill>
                  <a:srgbClr val="087E83"/>
                </a:solidFill>
                <a:latin typeface="Arial"/>
                <a:ea typeface="Arial"/>
                <a:cs typeface="Arial"/>
              </a:defRPr>
            </a:lvl5pPr>
            <a:lvl6pPr>
              <a:defRPr sz="5100" b="1">
                <a:solidFill>
                  <a:srgbClr val="087E83"/>
                </a:solidFill>
                <a:latin typeface="Arial"/>
                <a:ea typeface="Arial"/>
                <a:cs typeface="Arial"/>
              </a:defRPr>
            </a:lvl6pPr>
            <a:lvl7pPr>
              <a:defRPr sz="5100" b="1">
                <a:solidFill>
                  <a:srgbClr val="087E83"/>
                </a:solidFill>
                <a:latin typeface="Arial"/>
                <a:ea typeface="Arial"/>
                <a:cs typeface="Arial"/>
              </a:defRPr>
            </a:lvl7pPr>
            <a:lvl8pPr>
              <a:defRPr sz="5100" b="1">
                <a:solidFill>
                  <a:srgbClr val="087E83"/>
                </a:solidFill>
                <a:latin typeface="Arial"/>
                <a:ea typeface="Arial"/>
                <a:cs typeface="Arial"/>
              </a:defRPr>
            </a:lvl8pPr>
            <a:lvl9pPr>
              <a:defRPr sz="5100" b="1">
                <a:solidFill>
                  <a:srgbClr val="087E83"/>
                </a:solidFill>
                <a:latin typeface="Arial"/>
                <a:ea typeface="Arial"/>
                <a:cs typeface="Arial"/>
              </a:defRPr>
            </a:lvl9pPr>
          </a:lstStyle>
          <a:p xmlns:a="http://schemas.openxmlformats.org/drawingml/2006/main">
            <a:pPr>
              <a:defRPr sz="5100" b="1">
                <a:solidFill>
                  <a:srgbClr val="087E83"/>
                </a:solidFill>
                <a:latin typeface="Arial"/>
                <a:ea typeface="Arial"/>
                <a:cs typeface="Arial"/>
              </a:defRPr>
            </a:pPr>
            <a:r>
              <a:rPr sz="5100" b="1">
                <a:solidFill>
                  <a:srgbClr val="087E83"/>
                </a:solidFill>
                <a:latin typeface="Arial"/>
                <a:ea typeface="Arial"/>
                <a:cs typeface="Arial"/>
              </a:rPr>
              <a:t>Z = H + G ⊙ M</a:t>
            </a:r>
          </a:p>
        </p:txBody>
      </p:sp>
      <p:sp>
        <p:nvSpPr>
          <p:cNvPr id="4" name="The gate controls the adapter contribution">
            <a:extLst xmlns:a="http://schemas.openxmlformats.org/drawingml/2006/main">
              <a:ext uri="{FF2B5EF4-FFF2-40B4-BE49-F238E27FC236}">
                <a16:creationId xmlns:a16="http://schemas.microsoft.com/office/drawing/2014/main" id="{BE4C34EB-985E-4255-8B71-A46AF3C7D58B}"/>
              </a:ext>
            </a:extLst>
          </p:cNvPr>
          <p:cNvSpPr>
            <a:spLocks xmlns:a="http://schemas.openxmlformats.org/drawingml/2006/main" noGrp="1"/>
          </p:cNvSpPr>
          <p:nvPr/>
        </p:nvSpPr>
        <p:spPr>
          <a:xfrm xmlns:a="http://schemas.openxmlformats.org/drawingml/2006/main">
            <a:off x="647700" y="2724150"/>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52676E"/>
                </a:solidFill>
                <a:latin typeface="Arial"/>
                <a:ea typeface="Arial"/>
                <a:cs typeface="Arial"/>
              </a:defRPr>
            </a:defPPr>
            <a:lvl1pPr>
              <a:defRPr sz="2250" b="0">
                <a:solidFill>
                  <a:srgbClr val="52676E"/>
                </a:solidFill>
                <a:latin typeface="Arial"/>
                <a:ea typeface="Arial"/>
                <a:cs typeface="Arial"/>
              </a:defRPr>
            </a:lvl1pPr>
            <a:lvl2pPr>
              <a:defRPr sz="2250" b="0">
                <a:solidFill>
                  <a:srgbClr val="52676E"/>
                </a:solidFill>
                <a:latin typeface="Arial"/>
                <a:ea typeface="Arial"/>
                <a:cs typeface="Arial"/>
              </a:defRPr>
            </a:lvl2pPr>
            <a:lvl3pPr>
              <a:defRPr sz="2250" b="0">
                <a:solidFill>
                  <a:srgbClr val="52676E"/>
                </a:solidFill>
                <a:latin typeface="Arial"/>
                <a:ea typeface="Arial"/>
                <a:cs typeface="Arial"/>
              </a:defRPr>
            </a:lvl3pPr>
            <a:lvl4pPr>
              <a:defRPr sz="2250" b="0">
                <a:solidFill>
                  <a:srgbClr val="52676E"/>
                </a:solidFill>
                <a:latin typeface="Arial"/>
                <a:ea typeface="Arial"/>
                <a:cs typeface="Arial"/>
              </a:defRPr>
            </a:lvl4pPr>
            <a:lvl5pPr>
              <a:defRPr sz="2250" b="0">
                <a:solidFill>
                  <a:srgbClr val="52676E"/>
                </a:solidFill>
                <a:latin typeface="Arial"/>
                <a:ea typeface="Arial"/>
                <a:cs typeface="Arial"/>
              </a:defRPr>
            </a:lvl5pPr>
            <a:lvl6pPr>
              <a:defRPr sz="2250" b="0">
                <a:solidFill>
                  <a:srgbClr val="52676E"/>
                </a:solidFill>
                <a:latin typeface="Arial"/>
                <a:ea typeface="Arial"/>
                <a:cs typeface="Arial"/>
              </a:defRPr>
            </a:lvl6pPr>
            <a:lvl7pPr>
              <a:defRPr sz="2250" b="0">
                <a:solidFill>
                  <a:srgbClr val="52676E"/>
                </a:solidFill>
                <a:latin typeface="Arial"/>
                <a:ea typeface="Arial"/>
                <a:cs typeface="Arial"/>
              </a:defRPr>
            </a:lvl7pPr>
            <a:lvl8pPr>
              <a:defRPr sz="2250" b="0">
                <a:solidFill>
                  <a:srgbClr val="52676E"/>
                </a:solidFill>
                <a:latin typeface="Arial"/>
                <a:ea typeface="Arial"/>
                <a:cs typeface="Arial"/>
              </a:defRPr>
            </a:lvl8pPr>
            <a:lvl9pPr>
              <a:defRPr sz="2250" b="0">
                <a:solidFill>
                  <a:srgbClr val="52676E"/>
                </a:solidFill>
                <a:latin typeface="Arial"/>
                <a:ea typeface="Arial"/>
                <a:cs typeface="Arial"/>
              </a:defRPr>
            </a:lvl9pPr>
          </a:lstStyle>
          <a:p xmlns:a="http://schemas.openxmlformats.org/drawingml/2006/main">
            <a:pPr>
              <a:defRPr sz="2250" b="0">
                <a:solidFill>
                  <a:srgbClr val="52676E"/>
                </a:solidFill>
                <a:latin typeface="Arial"/>
                <a:ea typeface="Arial"/>
                <a:cs typeface="Arial"/>
              </a:defRPr>
            </a:pPr>
            <a:r>
              <a:rPr sz="2250" b="0">
                <a:solidFill>
                  <a:srgbClr val="52676E"/>
                </a:solidFill>
                <a:latin typeface="Arial"/>
                <a:ea typeface="Arial"/>
                <a:cs typeface="Arial"/>
              </a:rPr>
              <a:t>The gate controls the adapter contribution</a:t>
            </a:r>
          </a:p>
        </p:txBody>
      </p:sp>
      <p:sp>
        <p:nvSpPr>
          <p:cNvPr id="5" name="H">
            <a:extLst xmlns:a="http://schemas.openxmlformats.org/drawingml/2006/main">
              <a:ext uri="{FF2B5EF4-FFF2-40B4-BE49-F238E27FC236}">
                <a16:creationId xmlns:a16="http://schemas.microsoft.com/office/drawing/2014/main" id="{DC4F9B7B-293C-4D69-BFEA-2C17040A4834}"/>
              </a:ext>
            </a:extLst>
          </p:cNvPr>
          <p:cNvSpPr>
            <a:spLocks xmlns:a="http://schemas.openxmlformats.org/drawingml/2006/main" noGrp="1"/>
          </p:cNvSpPr>
          <p:nvPr/>
        </p:nvSpPr>
        <p:spPr>
          <a:xfrm xmlns:a="http://schemas.openxmlformats.org/drawingml/2006/main">
            <a:off x="647700" y="36004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3"/>
                </a:solidFill>
                <a:latin typeface="Arial"/>
                <a:ea typeface="Arial"/>
                <a:cs typeface="Arial"/>
              </a:defRPr>
            </a:defPPr>
            <a:lvl1pPr>
              <a:defRPr sz="2250" b="1">
                <a:solidFill>
                  <a:srgbClr val="087E83"/>
                </a:solidFill>
                <a:latin typeface="Arial"/>
                <a:ea typeface="Arial"/>
                <a:cs typeface="Arial"/>
              </a:defRPr>
            </a:lvl1pPr>
            <a:lvl2pPr>
              <a:defRPr sz="2250" b="1">
                <a:solidFill>
                  <a:srgbClr val="087E83"/>
                </a:solidFill>
                <a:latin typeface="Arial"/>
                <a:ea typeface="Arial"/>
                <a:cs typeface="Arial"/>
              </a:defRPr>
            </a:lvl2pPr>
            <a:lvl3pPr>
              <a:defRPr sz="2250" b="1">
                <a:solidFill>
                  <a:srgbClr val="087E83"/>
                </a:solidFill>
                <a:latin typeface="Arial"/>
                <a:ea typeface="Arial"/>
                <a:cs typeface="Arial"/>
              </a:defRPr>
            </a:lvl3pPr>
            <a:lvl4pPr>
              <a:defRPr sz="2250" b="1">
                <a:solidFill>
                  <a:srgbClr val="087E83"/>
                </a:solidFill>
                <a:latin typeface="Arial"/>
                <a:ea typeface="Arial"/>
                <a:cs typeface="Arial"/>
              </a:defRPr>
            </a:lvl4pPr>
            <a:lvl5pPr>
              <a:defRPr sz="2250" b="1">
                <a:solidFill>
                  <a:srgbClr val="087E83"/>
                </a:solidFill>
                <a:latin typeface="Arial"/>
                <a:ea typeface="Arial"/>
                <a:cs typeface="Arial"/>
              </a:defRPr>
            </a:lvl5pPr>
            <a:lvl6pPr>
              <a:defRPr sz="2250" b="1">
                <a:solidFill>
                  <a:srgbClr val="087E83"/>
                </a:solidFill>
                <a:latin typeface="Arial"/>
                <a:ea typeface="Arial"/>
                <a:cs typeface="Arial"/>
              </a:defRPr>
            </a:lvl6pPr>
            <a:lvl7pPr>
              <a:defRPr sz="2250" b="1">
                <a:solidFill>
                  <a:srgbClr val="087E83"/>
                </a:solidFill>
                <a:latin typeface="Arial"/>
                <a:ea typeface="Arial"/>
                <a:cs typeface="Arial"/>
              </a:defRPr>
            </a:lvl7pPr>
            <a:lvl8pPr>
              <a:defRPr sz="2250" b="1">
                <a:solidFill>
                  <a:srgbClr val="087E83"/>
                </a:solidFill>
                <a:latin typeface="Arial"/>
                <a:ea typeface="Arial"/>
                <a:cs typeface="Arial"/>
              </a:defRPr>
            </a:lvl8pPr>
            <a:lvl9pPr>
              <a:defRPr sz="2250" b="1">
                <a:solidFill>
                  <a:srgbClr val="087E83"/>
                </a:solidFill>
                <a:latin typeface="Arial"/>
                <a:ea typeface="Arial"/>
                <a:cs typeface="Arial"/>
              </a:defRPr>
            </a:lvl9pPr>
          </a:lstStyle>
          <a:p xmlns:a="http://schemas.openxmlformats.org/drawingml/2006/main">
            <a:pPr>
              <a:defRPr sz="2250" b="1">
                <a:solidFill>
                  <a:srgbClr val="087E83"/>
                </a:solidFill>
                <a:latin typeface="Arial"/>
                <a:ea typeface="Arial"/>
                <a:cs typeface="Arial"/>
              </a:defRPr>
            </a:pPr>
            <a:r>
              <a:rPr sz="2250" b="1">
                <a:solidFill>
                  <a:srgbClr val="087E83"/>
                </a:solidFill>
                <a:latin typeface="Arial"/>
                <a:ea typeface="Arial"/>
                <a:cs typeface="Arial"/>
              </a:rPr>
              <a:t>H</a:t>
            </a:r>
          </a:p>
        </p:txBody>
      </p:sp>
      <p:sp>
        <p:nvSpPr>
          <p:cNvPr id="6" name="BART encoder states">
            <a:extLst xmlns:a="http://schemas.openxmlformats.org/drawingml/2006/main">
              <a:ext uri="{FF2B5EF4-FFF2-40B4-BE49-F238E27FC236}">
                <a16:creationId xmlns:a16="http://schemas.microsoft.com/office/drawing/2014/main" id="{EA4D7AA0-A9D4-4340-B389-2324FBFF174C}"/>
              </a:ext>
            </a:extLst>
          </p:cNvPr>
          <p:cNvSpPr>
            <a:spLocks xmlns:a="http://schemas.openxmlformats.org/drawingml/2006/main" noGrp="1"/>
          </p:cNvSpPr>
          <p:nvPr/>
        </p:nvSpPr>
        <p:spPr>
          <a:xfrm xmlns:a="http://schemas.openxmlformats.org/drawingml/2006/main">
            <a:off x="1485900" y="3600450"/>
            <a:ext cx="449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42F39"/>
                </a:solidFill>
                <a:latin typeface="Arial"/>
                <a:ea typeface="Arial"/>
                <a:cs typeface="Arial"/>
              </a:defRPr>
            </a:defPPr>
            <a:lvl1pPr>
              <a:defRPr sz="2025" b="1">
                <a:solidFill>
                  <a:srgbClr val="142F39"/>
                </a:solidFill>
                <a:latin typeface="Arial"/>
                <a:ea typeface="Arial"/>
                <a:cs typeface="Arial"/>
              </a:defRPr>
            </a:lvl1pPr>
            <a:lvl2pPr>
              <a:defRPr sz="2025" b="1">
                <a:solidFill>
                  <a:srgbClr val="142F39"/>
                </a:solidFill>
                <a:latin typeface="Arial"/>
                <a:ea typeface="Arial"/>
                <a:cs typeface="Arial"/>
              </a:defRPr>
            </a:lvl2pPr>
            <a:lvl3pPr>
              <a:defRPr sz="2025" b="1">
                <a:solidFill>
                  <a:srgbClr val="142F39"/>
                </a:solidFill>
                <a:latin typeface="Arial"/>
                <a:ea typeface="Arial"/>
                <a:cs typeface="Arial"/>
              </a:defRPr>
            </a:lvl3pPr>
            <a:lvl4pPr>
              <a:defRPr sz="2025" b="1">
                <a:solidFill>
                  <a:srgbClr val="142F39"/>
                </a:solidFill>
                <a:latin typeface="Arial"/>
                <a:ea typeface="Arial"/>
                <a:cs typeface="Arial"/>
              </a:defRPr>
            </a:lvl4pPr>
            <a:lvl5pPr>
              <a:defRPr sz="2025" b="1">
                <a:solidFill>
                  <a:srgbClr val="142F39"/>
                </a:solidFill>
                <a:latin typeface="Arial"/>
                <a:ea typeface="Arial"/>
                <a:cs typeface="Arial"/>
              </a:defRPr>
            </a:lvl5pPr>
            <a:lvl6pPr>
              <a:defRPr sz="2025" b="1">
                <a:solidFill>
                  <a:srgbClr val="142F39"/>
                </a:solidFill>
                <a:latin typeface="Arial"/>
                <a:ea typeface="Arial"/>
                <a:cs typeface="Arial"/>
              </a:defRPr>
            </a:lvl6pPr>
            <a:lvl7pPr>
              <a:defRPr sz="2025" b="1">
                <a:solidFill>
                  <a:srgbClr val="142F39"/>
                </a:solidFill>
                <a:latin typeface="Arial"/>
                <a:ea typeface="Arial"/>
                <a:cs typeface="Arial"/>
              </a:defRPr>
            </a:lvl7pPr>
            <a:lvl8pPr>
              <a:defRPr sz="2025" b="1">
                <a:solidFill>
                  <a:srgbClr val="142F39"/>
                </a:solidFill>
                <a:latin typeface="Arial"/>
                <a:ea typeface="Arial"/>
                <a:cs typeface="Arial"/>
              </a:defRPr>
            </a:lvl8pPr>
            <a:lvl9pPr>
              <a:defRPr sz="2025" b="1">
                <a:solidFill>
                  <a:srgbClr val="142F39"/>
                </a:solidFill>
                <a:latin typeface="Arial"/>
                <a:ea typeface="Arial"/>
                <a:cs typeface="Arial"/>
              </a:defRPr>
            </a:lvl9pPr>
          </a:lstStyle>
          <a:p xmlns:a="http://schemas.openxmlformats.org/drawingml/2006/main">
            <a:pPr>
              <a:defRPr sz="2025" b="1">
                <a:solidFill>
                  <a:srgbClr val="142F39"/>
                </a:solidFill>
                <a:latin typeface="Arial"/>
                <a:ea typeface="Arial"/>
                <a:cs typeface="Arial"/>
              </a:defRPr>
            </a:pPr>
            <a:r>
              <a:rPr sz="2025" b="1">
                <a:solidFill>
                  <a:srgbClr val="142F39"/>
                </a:solidFill>
                <a:latin typeface="Arial"/>
                <a:ea typeface="Arial"/>
                <a:cs typeface="Arial"/>
              </a:rPr>
              <a:t>BART encoder states</a:t>
            </a:r>
          </a:p>
        </p:txBody>
      </p:sp>
      <p:sp>
        <p:nvSpPr>
          <p:cNvPr id="7" name="Bidirectional source context">
            <a:extLst xmlns:a="http://schemas.openxmlformats.org/drawingml/2006/main">
              <a:ext uri="{FF2B5EF4-FFF2-40B4-BE49-F238E27FC236}">
                <a16:creationId xmlns:a16="http://schemas.microsoft.com/office/drawing/2014/main" id="{4633F78D-3FDD-43AD-9DB3-03D0A411EA0A}"/>
              </a:ext>
            </a:extLst>
          </p:cNvPr>
          <p:cNvSpPr>
            <a:spLocks xmlns:a="http://schemas.openxmlformats.org/drawingml/2006/main" noGrp="1"/>
          </p:cNvSpPr>
          <p:nvPr/>
        </p:nvSpPr>
        <p:spPr>
          <a:xfrm xmlns:a="http://schemas.openxmlformats.org/drawingml/2006/main">
            <a:off x="6477000" y="36004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76E"/>
                </a:solidFill>
                <a:latin typeface="Arial"/>
                <a:ea typeface="Arial"/>
                <a:cs typeface="Arial"/>
              </a:defRPr>
            </a:defPPr>
            <a:lvl1pPr>
              <a:defRPr sz="1875" b="0">
                <a:solidFill>
                  <a:srgbClr val="52676E"/>
                </a:solidFill>
                <a:latin typeface="Arial"/>
                <a:ea typeface="Arial"/>
                <a:cs typeface="Arial"/>
              </a:defRPr>
            </a:lvl1pPr>
            <a:lvl2pPr>
              <a:defRPr sz="1875" b="0">
                <a:solidFill>
                  <a:srgbClr val="52676E"/>
                </a:solidFill>
                <a:latin typeface="Arial"/>
                <a:ea typeface="Arial"/>
                <a:cs typeface="Arial"/>
              </a:defRPr>
            </a:lvl2pPr>
            <a:lvl3pPr>
              <a:defRPr sz="1875" b="0">
                <a:solidFill>
                  <a:srgbClr val="52676E"/>
                </a:solidFill>
                <a:latin typeface="Arial"/>
                <a:ea typeface="Arial"/>
                <a:cs typeface="Arial"/>
              </a:defRPr>
            </a:lvl3pPr>
            <a:lvl4pPr>
              <a:defRPr sz="1875" b="0">
                <a:solidFill>
                  <a:srgbClr val="52676E"/>
                </a:solidFill>
                <a:latin typeface="Arial"/>
                <a:ea typeface="Arial"/>
                <a:cs typeface="Arial"/>
              </a:defRPr>
            </a:lvl4pPr>
            <a:lvl5pPr>
              <a:defRPr sz="1875" b="0">
                <a:solidFill>
                  <a:srgbClr val="52676E"/>
                </a:solidFill>
                <a:latin typeface="Arial"/>
                <a:ea typeface="Arial"/>
                <a:cs typeface="Arial"/>
              </a:defRPr>
            </a:lvl5pPr>
            <a:lvl6pPr>
              <a:defRPr sz="1875" b="0">
                <a:solidFill>
                  <a:srgbClr val="52676E"/>
                </a:solidFill>
                <a:latin typeface="Arial"/>
                <a:ea typeface="Arial"/>
                <a:cs typeface="Arial"/>
              </a:defRPr>
            </a:lvl6pPr>
            <a:lvl7pPr>
              <a:defRPr sz="1875" b="0">
                <a:solidFill>
                  <a:srgbClr val="52676E"/>
                </a:solidFill>
                <a:latin typeface="Arial"/>
                <a:ea typeface="Arial"/>
                <a:cs typeface="Arial"/>
              </a:defRPr>
            </a:lvl7pPr>
            <a:lvl8pPr>
              <a:defRPr sz="1875" b="0">
                <a:solidFill>
                  <a:srgbClr val="52676E"/>
                </a:solidFill>
                <a:latin typeface="Arial"/>
                <a:ea typeface="Arial"/>
                <a:cs typeface="Arial"/>
              </a:defRPr>
            </a:lvl8pPr>
            <a:lvl9pPr>
              <a:defRPr sz="1875" b="0">
                <a:solidFill>
                  <a:srgbClr val="52676E"/>
                </a:solidFill>
                <a:latin typeface="Arial"/>
                <a:ea typeface="Arial"/>
                <a:cs typeface="Arial"/>
              </a:defRPr>
            </a:lvl9pPr>
          </a:lstStyle>
          <a:p xmlns:a="http://schemas.openxmlformats.org/drawingml/2006/main">
            <a:pPr>
              <a:defRPr sz="1875" b="0">
                <a:solidFill>
                  <a:srgbClr val="52676E"/>
                </a:solidFill>
                <a:latin typeface="Arial"/>
                <a:ea typeface="Arial"/>
                <a:cs typeface="Arial"/>
              </a:defRPr>
            </a:pPr>
            <a:r>
              <a:rPr sz="1875" b="0">
                <a:solidFill>
                  <a:srgbClr val="52676E"/>
                </a:solidFill>
                <a:latin typeface="Arial"/>
                <a:ea typeface="Arial"/>
                <a:cs typeface="Arial"/>
              </a:rPr>
              <a:t>Bidirectional source context</a:t>
            </a:r>
          </a:p>
        </p:txBody>
      </p:sp>
      <p:sp>
        <p:nvSpPr>
          <p:cNvPr id="8" name="M">
            <a:extLst xmlns:a="http://schemas.openxmlformats.org/drawingml/2006/main">
              <a:ext uri="{FF2B5EF4-FFF2-40B4-BE49-F238E27FC236}">
                <a16:creationId xmlns:a16="http://schemas.microsoft.com/office/drawing/2014/main" id="{1626EACA-D378-419B-9B1C-DABA9917E2D2}"/>
              </a:ext>
            </a:extLst>
          </p:cNvPr>
          <p:cNvSpPr>
            <a:spLocks xmlns:a="http://schemas.openxmlformats.org/drawingml/2006/main" noGrp="1"/>
          </p:cNvSpPr>
          <p:nvPr/>
        </p:nvSpPr>
        <p:spPr>
          <a:xfrm xmlns:a="http://schemas.openxmlformats.org/drawingml/2006/main">
            <a:off x="647700" y="41338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3"/>
                </a:solidFill>
                <a:latin typeface="Arial"/>
                <a:ea typeface="Arial"/>
                <a:cs typeface="Arial"/>
              </a:defRPr>
            </a:defPPr>
            <a:lvl1pPr>
              <a:defRPr sz="2250" b="1">
                <a:solidFill>
                  <a:srgbClr val="087E83"/>
                </a:solidFill>
                <a:latin typeface="Arial"/>
                <a:ea typeface="Arial"/>
                <a:cs typeface="Arial"/>
              </a:defRPr>
            </a:lvl1pPr>
            <a:lvl2pPr>
              <a:defRPr sz="2250" b="1">
                <a:solidFill>
                  <a:srgbClr val="087E83"/>
                </a:solidFill>
                <a:latin typeface="Arial"/>
                <a:ea typeface="Arial"/>
                <a:cs typeface="Arial"/>
              </a:defRPr>
            </a:lvl2pPr>
            <a:lvl3pPr>
              <a:defRPr sz="2250" b="1">
                <a:solidFill>
                  <a:srgbClr val="087E83"/>
                </a:solidFill>
                <a:latin typeface="Arial"/>
                <a:ea typeface="Arial"/>
                <a:cs typeface="Arial"/>
              </a:defRPr>
            </a:lvl3pPr>
            <a:lvl4pPr>
              <a:defRPr sz="2250" b="1">
                <a:solidFill>
                  <a:srgbClr val="087E83"/>
                </a:solidFill>
                <a:latin typeface="Arial"/>
                <a:ea typeface="Arial"/>
                <a:cs typeface="Arial"/>
              </a:defRPr>
            </a:lvl4pPr>
            <a:lvl5pPr>
              <a:defRPr sz="2250" b="1">
                <a:solidFill>
                  <a:srgbClr val="087E83"/>
                </a:solidFill>
                <a:latin typeface="Arial"/>
                <a:ea typeface="Arial"/>
                <a:cs typeface="Arial"/>
              </a:defRPr>
            </a:lvl5pPr>
            <a:lvl6pPr>
              <a:defRPr sz="2250" b="1">
                <a:solidFill>
                  <a:srgbClr val="087E83"/>
                </a:solidFill>
                <a:latin typeface="Arial"/>
                <a:ea typeface="Arial"/>
                <a:cs typeface="Arial"/>
              </a:defRPr>
            </a:lvl6pPr>
            <a:lvl7pPr>
              <a:defRPr sz="2250" b="1">
                <a:solidFill>
                  <a:srgbClr val="087E83"/>
                </a:solidFill>
                <a:latin typeface="Arial"/>
                <a:ea typeface="Arial"/>
                <a:cs typeface="Arial"/>
              </a:defRPr>
            </a:lvl7pPr>
            <a:lvl8pPr>
              <a:defRPr sz="2250" b="1">
                <a:solidFill>
                  <a:srgbClr val="087E83"/>
                </a:solidFill>
                <a:latin typeface="Arial"/>
                <a:ea typeface="Arial"/>
                <a:cs typeface="Arial"/>
              </a:defRPr>
            </a:lvl8pPr>
            <a:lvl9pPr>
              <a:defRPr sz="2250" b="1">
                <a:solidFill>
                  <a:srgbClr val="087E83"/>
                </a:solidFill>
                <a:latin typeface="Arial"/>
                <a:ea typeface="Arial"/>
                <a:cs typeface="Arial"/>
              </a:defRPr>
            </a:lvl9pPr>
          </a:lstStyle>
          <a:p xmlns:a="http://schemas.openxmlformats.org/drawingml/2006/main">
            <a:pPr>
              <a:defRPr sz="2250" b="1">
                <a:solidFill>
                  <a:srgbClr val="087E83"/>
                </a:solidFill>
                <a:latin typeface="Arial"/>
                <a:ea typeface="Arial"/>
                <a:cs typeface="Arial"/>
              </a:defRPr>
            </a:pPr>
            <a:r>
              <a:rPr sz="2250" b="1">
                <a:solidFill>
                  <a:srgbClr val="087E83"/>
                </a:solidFill>
                <a:latin typeface="Arial"/>
                <a:ea typeface="Arial"/>
                <a:cs typeface="Arial"/>
              </a:rPr>
              <a:t>M</a:t>
            </a:r>
          </a:p>
        </p:txBody>
      </p:sp>
      <p:sp>
        <p:nvSpPr>
          <p:cNvPr id="9" name="Mamba(LayerNorm(H))">
            <a:extLst xmlns:a="http://schemas.openxmlformats.org/drawingml/2006/main">
              <a:ext uri="{FF2B5EF4-FFF2-40B4-BE49-F238E27FC236}">
                <a16:creationId xmlns:a16="http://schemas.microsoft.com/office/drawing/2014/main" id="{3C362A53-C0BA-4634-A40C-9CF018726D98}"/>
              </a:ext>
            </a:extLst>
          </p:cNvPr>
          <p:cNvSpPr>
            <a:spLocks xmlns:a="http://schemas.openxmlformats.org/drawingml/2006/main" noGrp="1"/>
          </p:cNvSpPr>
          <p:nvPr/>
        </p:nvSpPr>
        <p:spPr>
          <a:xfrm xmlns:a="http://schemas.openxmlformats.org/drawingml/2006/main">
            <a:off x="1485900" y="4133850"/>
            <a:ext cx="449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42F39"/>
                </a:solidFill>
                <a:latin typeface="Arial"/>
                <a:ea typeface="Arial"/>
                <a:cs typeface="Arial"/>
              </a:defRPr>
            </a:defPPr>
            <a:lvl1pPr>
              <a:defRPr sz="2025" b="1">
                <a:solidFill>
                  <a:srgbClr val="142F39"/>
                </a:solidFill>
                <a:latin typeface="Arial"/>
                <a:ea typeface="Arial"/>
                <a:cs typeface="Arial"/>
              </a:defRPr>
            </a:lvl1pPr>
            <a:lvl2pPr>
              <a:defRPr sz="2025" b="1">
                <a:solidFill>
                  <a:srgbClr val="142F39"/>
                </a:solidFill>
                <a:latin typeface="Arial"/>
                <a:ea typeface="Arial"/>
                <a:cs typeface="Arial"/>
              </a:defRPr>
            </a:lvl2pPr>
            <a:lvl3pPr>
              <a:defRPr sz="2025" b="1">
                <a:solidFill>
                  <a:srgbClr val="142F39"/>
                </a:solidFill>
                <a:latin typeface="Arial"/>
                <a:ea typeface="Arial"/>
                <a:cs typeface="Arial"/>
              </a:defRPr>
            </a:lvl3pPr>
            <a:lvl4pPr>
              <a:defRPr sz="2025" b="1">
                <a:solidFill>
                  <a:srgbClr val="142F39"/>
                </a:solidFill>
                <a:latin typeface="Arial"/>
                <a:ea typeface="Arial"/>
                <a:cs typeface="Arial"/>
              </a:defRPr>
            </a:lvl4pPr>
            <a:lvl5pPr>
              <a:defRPr sz="2025" b="1">
                <a:solidFill>
                  <a:srgbClr val="142F39"/>
                </a:solidFill>
                <a:latin typeface="Arial"/>
                <a:ea typeface="Arial"/>
                <a:cs typeface="Arial"/>
              </a:defRPr>
            </a:lvl5pPr>
            <a:lvl6pPr>
              <a:defRPr sz="2025" b="1">
                <a:solidFill>
                  <a:srgbClr val="142F39"/>
                </a:solidFill>
                <a:latin typeface="Arial"/>
                <a:ea typeface="Arial"/>
                <a:cs typeface="Arial"/>
              </a:defRPr>
            </a:lvl6pPr>
            <a:lvl7pPr>
              <a:defRPr sz="2025" b="1">
                <a:solidFill>
                  <a:srgbClr val="142F39"/>
                </a:solidFill>
                <a:latin typeface="Arial"/>
                <a:ea typeface="Arial"/>
                <a:cs typeface="Arial"/>
              </a:defRPr>
            </a:lvl7pPr>
            <a:lvl8pPr>
              <a:defRPr sz="2025" b="1">
                <a:solidFill>
                  <a:srgbClr val="142F39"/>
                </a:solidFill>
                <a:latin typeface="Arial"/>
                <a:ea typeface="Arial"/>
                <a:cs typeface="Arial"/>
              </a:defRPr>
            </a:lvl8pPr>
            <a:lvl9pPr>
              <a:defRPr sz="2025" b="1">
                <a:solidFill>
                  <a:srgbClr val="142F39"/>
                </a:solidFill>
                <a:latin typeface="Arial"/>
                <a:ea typeface="Arial"/>
                <a:cs typeface="Arial"/>
              </a:defRPr>
            </a:lvl9pPr>
          </a:lstStyle>
          <a:p xmlns:a="http://schemas.openxmlformats.org/drawingml/2006/main">
            <a:pPr>
              <a:defRPr sz="2025" b="1">
                <a:solidFill>
                  <a:srgbClr val="142F39"/>
                </a:solidFill>
                <a:latin typeface="Arial"/>
                <a:ea typeface="Arial"/>
                <a:cs typeface="Arial"/>
              </a:defRPr>
            </a:pPr>
            <a:r>
              <a:rPr sz="2025" b="1">
                <a:solidFill>
                  <a:srgbClr val="142F39"/>
                </a:solidFill>
                <a:latin typeface="Arial"/>
                <a:ea typeface="Arial"/>
                <a:cs typeface="Arial"/>
              </a:rPr>
              <a:t>Mamba(LayerNorm(H))</a:t>
            </a:r>
          </a:p>
        </p:txBody>
      </p:sp>
      <p:sp>
        <p:nvSpPr>
          <p:cNvPr id="10" name="Sequential reference implementation">
            <a:extLst xmlns:a="http://schemas.openxmlformats.org/drawingml/2006/main">
              <a:ext uri="{FF2B5EF4-FFF2-40B4-BE49-F238E27FC236}">
                <a16:creationId xmlns:a16="http://schemas.microsoft.com/office/drawing/2014/main" id="{EE13678B-093F-41AB-BDD0-9ECD026C9823}"/>
              </a:ext>
            </a:extLst>
          </p:cNvPr>
          <p:cNvSpPr>
            <a:spLocks xmlns:a="http://schemas.openxmlformats.org/drawingml/2006/main" noGrp="1"/>
          </p:cNvSpPr>
          <p:nvPr/>
        </p:nvSpPr>
        <p:spPr>
          <a:xfrm xmlns:a="http://schemas.openxmlformats.org/drawingml/2006/main">
            <a:off x="6477000" y="41338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76E"/>
                </a:solidFill>
                <a:latin typeface="Arial"/>
                <a:ea typeface="Arial"/>
                <a:cs typeface="Arial"/>
              </a:defRPr>
            </a:defPPr>
            <a:lvl1pPr>
              <a:defRPr sz="1875" b="0">
                <a:solidFill>
                  <a:srgbClr val="52676E"/>
                </a:solidFill>
                <a:latin typeface="Arial"/>
                <a:ea typeface="Arial"/>
                <a:cs typeface="Arial"/>
              </a:defRPr>
            </a:lvl1pPr>
            <a:lvl2pPr>
              <a:defRPr sz="1875" b="0">
                <a:solidFill>
                  <a:srgbClr val="52676E"/>
                </a:solidFill>
                <a:latin typeface="Arial"/>
                <a:ea typeface="Arial"/>
                <a:cs typeface="Arial"/>
              </a:defRPr>
            </a:lvl2pPr>
            <a:lvl3pPr>
              <a:defRPr sz="1875" b="0">
                <a:solidFill>
                  <a:srgbClr val="52676E"/>
                </a:solidFill>
                <a:latin typeface="Arial"/>
                <a:ea typeface="Arial"/>
                <a:cs typeface="Arial"/>
              </a:defRPr>
            </a:lvl3pPr>
            <a:lvl4pPr>
              <a:defRPr sz="1875" b="0">
                <a:solidFill>
                  <a:srgbClr val="52676E"/>
                </a:solidFill>
                <a:latin typeface="Arial"/>
                <a:ea typeface="Arial"/>
                <a:cs typeface="Arial"/>
              </a:defRPr>
            </a:lvl4pPr>
            <a:lvl5pPr>
              <a:defRPr sz="1875" b="0">
                <a:solidFill>
                  <a:srgbClr val="52676E"/>
                </a:solidFill>
                <a:latin typeface="Arial"/>
                <a:ea typeface="Arial"/>
                <a:cs typeface="Arial"/>
              </a:defRPr>
            </a:lvl5pPr>
            <a:lvl6pPr>
              <a:defRPr sz="1875" b="0">
                <a:solidFill>
                  <a:srgbClr val="52676E"/>
                </a:solidFill>
                <a:latin typeface="Arial"/>
                <a:ea typeface="Arial"/>
                <a:cs typeface="Arial"/>
              </a:defRPr>
            </a:lvl6pPr>
            <a:lvl7pPr>
              <a:defRPr sz="1875" b="0">
                <a:solidFill>
                  <a:srgbClr val="52676E"/>
                </a:solidFill>
                <a:latin typeface="Arial"/>
                <a:ea typeface="Arial"/>
                <a:cs typeface="Arial"/>
              </a:defRPr>
            </a:lvl7pPr>
            <a:lvl8pPr>
              <a:defRPr sz="1875" b="0">
                <a:solidFill>
                  <a:srgbClr val="52676E"/>
                </a:solidFill>
                <a:latin typeface="Arial"/>
                <a:ea typeface="Arial"/>
                <a:cs typeface="Arial"/>
              </a:defRPr>
            </a:lvl8pPr>
            <a:lvl9pPr>
              <a:defRPr sz="1875" b="0">
                <a:solidFill>
                  <a:srgbClr val="52676E"/>
                </a:solidFill>
                <a:latin typeface="Arial"/>
                <a:ea typeface="Arial"/>
                <a:cs typeface="Arial"/>
              </a:defRPr>
            </a:lvl9pPr>
          </a:lstStyle>
          <a:p xmlns:a="http://schemas.openxmlformats.org/drawingml/2006/main">
            <a:pPr>
              <a:defRPr sz="1875" b="0">
                <a:solidFill>
                  <a:srgbClr val="52676E"/>
                </a:solidFill>
                <a:latin typeface="Arial"/>
                <a:ea typeface="Arial"/>
                <a:cs typeface="Arial"/>
              </a:defRPr>
            </a:pPr>
            <a:r>
              <a:rPr sz="1875" b="0">
                <a:solidFill>
                  <a:srgbClr val="52676E"/>
                </a:solidFill>
                <a:latin typeface="Arial"/>
                <a:ea typeface="Arial"/>
                <a:cs typeface="Arial"/>
              </a:rPr>
              <a:t>Sequential reference implementation</a:t>
            </a:r>
          </a:p>
        </p:txBody>
      </p:sp>
      <p:sp>
        <p:nvSpPr>
          <p:cNvPr id="11" name="G">
            <a:extLst xmlns:a="http://schemas.openxmlformats.org/drawingml/2006/main">
              <a:ext uri="{FF2B5EF4-FFF2-40B4-BE49-F238E27FC236}">
                <a16:creationId xmlns:a16="http://schemas.microsoft.com/office/drawing/2014/main" id="{31CB0514-B495-4254-92A7-72A79653F8B9}"/>
              </a:ext>
            </a:extLst>
          </p:cNvPr>
          <p:cNvSpPr>
            <a:spLocks xmlns:a="http://schemas.openxmlformats.org/drawingml/2006/main" noGrp="1"/>
          </p:cNvSpPr>
          <p:nvPr/>
        </p:nvSpPr>
        <p:spPr>
          <a:xfrm xmlns:a="http://schemas.openxmlformats.org/drawingml/2006/main">
            <a:off x="647700" y="46672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3"/>
                </a:solidFill>
                <a:latin typeface="Arial"/>
                <a:ea typeface="Arial"/>
                <a:cs typeface="Arial"/>
              </a:defRPr>
            </a:defPPr>
            <a:lvl1pPr>
              <a:defRPr sz="2250" b="1">
                <a:solidFill>
                  <a:srgbClr val="087E83"/>
                </a:solidFill>
                <a:latin typeface="Arial"/>
                <a:ea typeface="Arial"/>
                <a:cs typeface="Arial"/>
              </a:defRPr>
            </a:lvl1pPr>
            <a:lvl2pPr>
              <a:defRPr sz="2250" b="1">
                <a:solidFill>
                  <a:srgbClr val="087E83"/>
                </a:solidFill>
                <a:latin typeface="Arial"/>
                <a:ea typeface="Arial"/>
                <a:cs typeface="Arial"/>
              </a:defRPr>
            </a:lvl2pPr>
            <a:lvl3pPr>
              <a:defRPr sz="2250" b="1">
                <a:solidFill>
                  <a:srgbClr val="087E83"/>
                </a:solidFill>
                <a:latin typeface="Arial"/>
                <a:ea typeface="Arial"/>
                <a:cs typeface="Arial"/>
              </a:defRPr>
            </a:lvl3pPr>
            <a:lvl4pPr>
              <a:defRPr sz="2250" b="1">
                <a:solidFill>
                  <a:srgbClr val="087E83"/>
                </a:solidFill>
                <a:latin typeface="Arial"/>
                <a:ea typeface="Arial"/>
                <a:cs typeface="Arial"/>
              </a:defRPr>
            </a:lvl4pPr>
            <a:lvl5pPr>
              <a:defRPr sz="2250" b="1">
                <a:solidFill>
                  <a:srgbClr val="087E83"/>
                </a:solidFill>
                <a:latin typeface="Arial"/>
                <a:ea typeface="Arial"/>
                <a:cs typeface="Arial"/>
              </a:defRPr>
            </a:lvl5pPr>
            <a:lvl6pPr>
              <a:defRPr sz="2250" b="1">
                <a:solidFill>
                  <a:srgbClr val="087E83"/>
                </a:solidFill>
                <a:latin typeface="Arial"/>
                <a:ea typeface="Arial"/>
                <a:cs typeface="Arial"/>
              </a:defRPr>
            </a:lvl6pPr>
            <a:lvl7pPr>
              <a:defRPr sz="2250" b="1">
                <a:solidFill>
                  <a:srgbClr val="087E83"/>
                </a:solidFill>
                <a:latin typeface="Arial"/>
                <a:ea typeface="Arial"/>
                <a:cs typeface="Arial"/>
              </a:defRPr>
            </a:lvl7pPr>
            <a:lvl8pPr>
              <a:defRPr sz="2250" b="1">
                <a:solidFill>
                  <a:srgbClr val="087E83"/>
                </a:solidFill>
                <a:latin typeface="Arial"/>
                <a:ea typeface="Arial"/>
                <a:cs typeface="Arial"/>
              </a:defRPr>
            </a:lvl8pPr>
            <a:lvl9pPr>
              <a:defRPr sz="2250" b="1">
                <a:solidFill>
                  <a:srgbClr val="087E83"/>
                </a:solidFill>
                <a:latin typeface="Arial"/>
                <a:ea typeface="Arial"/>
                <a:cs typeface="Arial"/>
              </a:defRPr>
            </a:lvl9pPr>
          </a:lstStyle>
          <a:p xmlns:a="http://schemas.openxmlformats.org/drawingml/2006/main">
            <a:pPr>
              <a:defRPr sz="2250" b="1">
                <a:solidFill>
                  <a:srgbClr val="087E83"/>
                </a:solidFill>
                <a:latin typeface="Arial"/>
                <a:ea typeface="Arial"/>
                <a:cs typeface="Arial"/>
              </a:defRPr>
            </a:pPr>
            <a:r>
              <a:rPr sz="2250" b="1">
                <a:solidFill>
                  <a:srgbClr val="087E83"/>
                </a:solidFill>
                <a:latin typeface="Arial"/>
                <a:ea typeface="Arial"/>
                <a:cs typeface="Arial"/>
              </a:rPr>
              <a:t>G</a:t>
            </a:r>
          </a:p>
        </p:txBody>
      </p:sp>
      <p:sp>
        <p:nvSpPr>
          <p:cNvPr id="12" name="sigmoid(W[H; M] + b)">
            <a:extLst xmlns:a="http://schemas.openxmlformats.org/drawingml/2006/main">
              <a:ext uri="{FF2B5EF4-FFF2-40B4-BE49-F238E27FC236}">
                <a16:creationId xmlns:a16="http://schemas.microsoft.com/office/drawing/2014/main" id="{B366BE9A-4667-49A5-BBD2-9B5FAE5FB088}"/>
              </a:ext>
            </a:extLst>
          </p:cNvPr>
          <p:cNvSpPr>
            <a:spLocks xmlns:a="http://schemas.openxmlformats.org/drawingml/2006/main" noGrp="1"/>
          </p:cNvSpPr>
          <p:nvPr/>
        </p:nvSpPr>
        <p:spPr>
          <a:xfrm xmlns:a="http://schemas.openxmlformats.org/drawingml/2006/main">
            <a:off x="1485900" y="4667250"/>
            <a:ext cx="449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42F39"/>
                </a:solidFill>
                <a:latin typeface="Arial"/>
                <a:ea typeface="Arial"/>
                <a:cs typeface="Arial"/>
              </a:defRPr>
            </a:defPPr>
            <a:lvl1pPr>
              <a:defRPr sz="2025" b="1">
                <a:solidFill>
                  <a:srgbClr val="142F39"/>
                </a:solidFill>
                <a:latin typeface="Arial"/>
                <a:ea typeface="Arial"/>
                <a:cs typeface="Arial"/>
              </a:defRPr>
            </a:lvl1pPr>
            <a:lvl2pPr>
              <a:defRPr sz="2025" b="1">
                <a:solidFill>
                  <a:srgbClr val="142F39"/>
                </a:solidFill>
                <a:latin typeface="Arial"/>
                <a:ea typeface="Arial"/>
                <a:cs typeface="Arial"/>
              </a:defRPr>
            </a:lvl2pPr>
            <a:lvl3pPr>
              <a:defRPr sz="2025" b="1">
                <a:solidFill>
                  <a:srgbClr val="142F39"/>
                </a:solidFill>
                <a:latin typeface="Arial"/>
                <a:ea typeface="Arial"/>
                <a:cs typeface="Arial"/>
              </a:defRPr>
            </a:lvl3pPr>
            <a:lvl4pPr>
              <a:defRPr sz="2025" b="1">
                <a:solidFill>
                  <a:srgbClr val="142F39"/>
                </a:solidFill>
                <a:latin typeface="Arial"/>
                <a:ea typeface="Arial"/>
                <a:cs typeface="Arial"/>
              </a:defRPr>
            </a:lvl4pPr>
            <a:lvl5pPr>
              <a:defRPr sz="2025" b="1">
                <a:solidFill>
                  <a:srgbClr val="142F39"/>
                </a:solidFill>
                <a:latin typeface="Arial"/>
                <a:ea typeface="Arial"/>
                <a:cs typeface="Arial"/>
              </a:defRPr>
            </a:lvl5pPr>
            <a:lvl6pPr>
              <a:defRPr sz="2025" b="1">
                <a:solidFill>
                  <a:srgbClr val="142F39"/>
                </a:solidFill>
                <a:latin typeface="Arial"/>
                <a:ea typeface="Arial"/>
                <a:cs typeface="Arial"/>
              </a:defRPr>
            </a:lvl6pPr>
            <a:lvl7pPr>
              <a:defRPr sz="2025" b="1">
                <a:solidFill>
                  <a:srgbClr val="142F39"/>
                </a:solidFill>
                <a:latin typeface="Arial"/>
                <a:ea typeface="Arial"/>
                <a:cs typeface="Arial"/>
              </a:defRPr>
            </a:lvl7pPr>
            <a:lvl8pPr>
              <a:defRPr sz="2025" b="1">
                <a:solidFill>
                  <a:srgbClr val="142F39"/>
                </a:solidFill>
                <a:latin typeface="Arial"/>
                <a:ea typeface="Arial"/>
                <a:cs typeface="Arial"/>
              </a:defRPr>
            </a:lvl8pPr>
            <a:lvl9pPr>
              <a:defRPr sz="2025" b="1">
                <a:solidFill>
                  <a:srgbClr val="142F39"/>
                </a:solidFill>
                <a:latin typeface="Arial"/>
                <a:ea typeface="Arial"/>
                <a:cs typeface="Arial"/>
              </a:defRPr>
            </a:lvl9pPr>
          </a:lstStyle>
          <a:p xmlns:a="http://schemas.openxmlformats.org/drawingml/2006/main">
            <a:pPr>
              <a:defRPr sz="2025" b="1">
                <a:solidFill>
                  <a:srgbClr val="142F39"/>
                </a:solidFill>
                <a:latin typeface="Arial"/>
                <a:ea typeface="Arial"/>
                <a:cs typeface="Arial"/>
              </a:defRPr>
            </a:pPr>
            <a:r>
              <a:rPr sz="2025" b="1">
                <a:solidFill>
                  <a:srgbClr val="142F39"/>
                </a:solidFill>
                <a:latin typeface="Arial"/>
                <a:ea typeface="Arial"/>
                <a:cs typeface="Arial"/>
              </a:rPr>
              <a:t>sigmoid(W[H; M] + b)</a:t>
            </a:r>
          </a:p>
        </p:txBody>
      </p:sp>
      <p:sp>
        <p:nvSpPr>
          <p:cNvPr id="13" name="Learned feature gate">
            <a:extLst xmlns:a="http://schemas.openxmlformats.org/drawingml/2006/main">
              <a:ext uri="{FF2B5EF4-FFF2-40B4-BE49-F238E27FC236}">
                <a16:creationId xmlns:a16="http://schemas.microsoft.com/office/drawing/2014/main" id="{137CB4EA-C9E0-4B32-8502-207BD9895A32}"/>
              </a:ext>
            </a:extLst>
          </p:cNvPr>
          <p:cNvSpPr>
            <a:spLocks xmlns:a="http://schemas.openxmlformats.org/drawingml/2006/main" noGrp="1"/>
          </p:cNvSpPr>
          <p:nvPr/>
        </p:nvSpPr>
        <p:spPr>
          <a:xfrm xmlns:a="http://schemas.openxmlformats.org/drawingml/2006/main">
            <a:off x="6477000" y="46672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76E"/>
                </a:solidFill>
                <a:latin typeface="Arial"/>
                <a:ea typeface="Arial"/>
                <a:cs typeface="Arial"/>
              </a:defRPr>
            </a:defPPr>
            <a:lvl1pPr>
              <a:defRPr sz="1875" b="0">
                <a:solidFill>
                  <a:srgbClr val="52676E"/>
                </a:solidFill>
                <a:latin typeface="Arial"/>
                <a:ea typeface="Arial"/>
                <a:cs typeface="Arial"/>
              </a:defRPr>
            </a:lvl1pPr>
            <a:lvl2pPr>
              <a:defRPr sz="1875" b="0">
                <a:solidFill>
                  <a:srgbClr val="52676E"/>
                </a:solidFill>
                <a:latin typeface="Arial"/>
                <a:ea typeface="Arial"/>
                <a:cs typeface="Arial"/>
              </a:defRPr>
            </a:lvl2pPr>
            <a:lvl3pPr>
              <a:defRPr sz="1875" b="0">
                <a:solidFill>
                  <a:srgbClr val="52676E"/>
                </a:solidFill>
                <a:latin typeface="Arial"/>
                <a:ea typeface="Arial"/>
                <a:cs typeface="Arial"/>
              </a:defRPr>
            </a:lvl3pPr>
            <a:lvl4pPr>
              <a:defRPr sz="1875" b="0">
                <a:solidFill>
                  <a:srgbClr val="52676E"/>
                </a:solidFill>
                <a:latin typeface="Arial"/>
                <a:ea typeface="Arial"/>
                <a:cs typeface="Arial"/>
              </a:defRPr>
            </a:lvl4pPr>
            <a:lvl5pPr>
              <a:defRPr sz="1875" b="0">
                <a:solidFill>
                  <a:srgbClr val="52676E"/>
                </a:solidFill>
                <a:latin typeface="Arial"/>
                <a:ea typeface="Arial"/>
                <a:cs typeface="Arial"/>
              </a:defRPr>
            </a:lvl5pPr>
            <a:lvl6pPr>
              <a:defRPr sz="1875" b="0">
                <a:solidFill>
                  <a:srgbClr val="52676E"/>
                </a:solidFill>
                <a:latin typeface="Arial"/>
                <a:ea typeface="Arial"/>
                <a:cs typeface="Arial"/>
              </a:defRPr>
            </a:lvl6pPr>
            <a:lvl7pPr>
              <a:defRPr sz="1875" b="0">
                <a:solidFill>
                  <a:srgbClr val="52676E"/>
                </a:solidFill>
                <a:latin typeface="Arial"/>
                <a:ea typeface="Arial"/>
                <a:cs typeface="Arial"/>
              </a:defRPr>
            </a:lvl7pPr>
            <a:lvl8pPr>
              <a:defRPr sz="1875" b="0">
                <a:solidFill>
                  <a:srgbClr val="52676E"/>
                </a:solidFill>
                <a:latin typeface="Arial"/>
                <a:ea typeface="Arial"/>
                <a:cs typeface="Arial"/>
              </a:defRPr>
            </a:lvl8pPr>
            <a:lvl9pPr>
              <a:defRPr sz="1875" b="0">
                <a:solidFill>
                  <a:srgbClr val="52676E"/>
                </a:solidFill>
                <a:latin typeface="Arial"/>
                <a:ea typeface="Arial"/>
                <a:cs typeface="Arial"/>
              </a:defRPr>
            </a:lvl9pPr>
          </a:lstStyle>
          <a:p xmlns:a="http://schemas.openxmlformats.org/drawingml/2006/main">
            <a:pPr>
              <a:defRPr sz="1875" b="0">
                <a:solidFill>
                  <a:srgbClr val="52676E"/>
                </a:solidFill>
                <a:latin typeface="Arial"/>
                <a:ea typeface="Arial"/>
                <a:cs typeface="Arial"/>
              </a:defRPr>
            </a:pPr>
            <a:r>
              <a:rPr sz="1875" b="0">
                <a:solidFill>
                  <a:srgbClr val="52676E"/>
                </a:solidFill>
                <a:latin typeface="Arial"/>
                <a:ea typeface="Arial"/>
                <a:cs typeface="Arial"/>
              </a:rPr>
              <a:t>Learned feature gate</a:t>
            </a:r>
          </a:p>
        </p:txBody>
      </p:sp>
      <p:sp>
        <p:nvSpPr>
          <p:cNvPr id="14" name="Z">
            <a:extLst xmlns:a="http://schemas.openxmlformats.org/drawingml/2006/main">
              <a:ext uri="{FF2B5EF4-FFF2-40B4-BE49-F238E27FC236}">
                <a16:creationId xmlns:a16="http://schemas.microsoft.com/office/drawing/2014/main" id="{58BF4C77-260C-4805-B11F-85DFD9165985}"/>
              </a:ext>
            </a:extLst>
          </p:cNvPr>
          <p:cNvSpPr>
            <a:spLocks xmlns:a="http://schemas.openxmlformats.org/drawingml/2006/main" noGrp="1"/>
          </p:cNvSpPr>
          <p:nvPr/>
        </p:nvSpPr>
        <p:spPr>
          <a:xfrm xmlns:a="http://schemas.openxmlformats.org/drawingml/2006/main">
            <a:off x="647700" y="52006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3"/>
                </a:solidFill>
                <a:latin typeface="Arial"/>
                <a:ea typeface="Arial"/>
                <a:cs typeface="Arial"/>
              </a:defRPr>
            </a:defPPr>
            <a:lvl1pPr>
              <a:defRPr sz="2250" b="1">
                <a:solidFill>
                  <a:srgbClr val="087E83"/>
                </a:solidFill>
                <a:latin typeface="Arial"/>
                <a:ea typeface="Arial"/>
                <a:cs typeface="Arial"/>
              </a:defRPr>
            </a:lvl1pPr>
            <a:lvl2pPr>
              <a:defRPr sz="2250" b="1">
                <a:solidFill>
                  <a:srgbClr val="087E83"/>
                </a:solidFill>
                <a:latin typeface="Arial"/>
                <a:ea typeface="Arial"/>
                <a:cs typeface="Arial"/>
              </a:defRPr>
            </a:lvl2pPr>
            <a:lvl3pPr>
              <a:defRPr sz="2250" b="1">
                <a:solidFill>
                  <a:srgbClr val="087E83"/>
                </a:solidFill>
                <a:latin typeface="Arial"/>
                <a:ea typeface="Arial"/>
                <a:cs typeface="Arial"/>
              </a:defRPr>
            </a:lvl3pPr>
            <a:lvl4pPr>
              <a:defRPr sz="2250" b="1">
                <a:solidFill>
                  <a:srgbClr val="087E83"/>
                </a:solidFill>
                <a:latin typeface="Arial"/>
                <a:ea typeface="Arial"/>
                <a:cs typeface="Arial"/>
              </a:defRPr>
            </a:lvl4pPr>
            <a:lvl5pPr>
              <a:defRPr sz="2250" b="1">
                <a:solidFill>
                  <a:srgbClr val="087E83"/>
                </a:solidFill>
                <a:latin typeface="Arial"/>
                <a:ea typeface="Arial"/>
                <a:cs typeface="Arial"/>
              </a:defRPr>
            </a:lvl5pPr>
            <a:lvl6pPr>
              <a:defRPr sz="2250" b="1">
                <a:solidFill>
                  <a:srgbClr val="087E83"/>
                </a:solidFill>
                <a:latin typeface="Arial"/>
                <a:ea typeface="Arial"/>
                <a:cs typeface="Arial"/>
              </a:defRPr>
            </a:lvl6pPr>
            <a:lvl7pPr>
              <a:defRPr sz="2250" b="1">
                <a:solidFill>
                  <a:srgbClr val="087E83"/>
                </a:solidFill>
                <a:latin typeface="Arial"/>
                <a:ea typeface="Arial"/>
                <a:cs typeface="Arial"/>
              </a:defRPr>
            </a:lvl7pPr>
            <a:lvl8pPr>
              <a:defRPr sz="2250" b="1">
                <a:solidFill>
                  <a:srgbClr val="087E83"/>
                </a:solidFill>
                <a:latin typeface="Arial"/>
                <a:ea typeface="Arial"/>
                <a:cs typeface="Arial"/>
              </a:defRPr>
            </a:lvl8pPr>
            <a:lvl9pPr>
              <a:defRPr sz="2250" b="1">
                <a:solidFill>
                  <a:srgbClr val="087E83"/>
                </a:solidFill>
                <a:latin typeface="Arial"/>
                <a:ea typeface="Arial"/>
                <a:cs typeface="Arial"/>
              </a:defRPr>
            </a:lvl9pPr>
          </a:lstStyle>
          <a:p xmlns:a="http://schemas.openxmlformats.org/drawingml/2006/main">
            <a:pPr>
              <a:defRPr sz="2250" b="1">
                <a:solidFill>
                  <a:srgbClr val="087E83"/>
                </a:solidFill>
                <a:latin typeface="Arial"/>
                <a:ea typeface="Arial"/>
                <a:cs typeface="Arial"/>
              </a:defRPr>
            </a:pPr>
            <a:r>
              <a:rPr sz="2250" b="1">
                <a:solidFill>
                  <a:srgbClr val="087E83"/>
                </a:solidFill>
                <a:latin typeface="Arial"/>
                <a:ea typeface="Arial"/>
                <a:cs typeface="Arial"/>
              </a:rPr>
              <a:t>Z</a:t>
            </a:r>
          </a:p>
        </p:txBody>
      </p:sp>
      <p:sp>
        <p:nvSpPr>
          <p:cNvPr id="15" name="Input to the BART decoder">
            <a:extLst xmlns:a="http://schemas.openxmlformats.org/drawingml/2006/main">
              <a:ext uri="{FF2B5EF4-FFF2-40B4-BE49-F238E27FC236}">
                <a16:creationId xmlns:a16="http://schemas.microsoft.com/office/drawing/2014/main" id="{D5D0742B-AF79-41BE-968D-CFAB9EF1E74D}"/>
              </a:ext>
            </a:extLst>
          </p:cNvPr>
          <p:cNvSpPr>
            <a:spLocks xmlns:a="http://schemas.openxmlformats.org/drawingml/2006/main" noGrp="1"/>
          </p:cNvSpPr>
          <p:nvPr/>
        </p:nvSpPr>
        <p:spPr>
          <a:xfrm xmlns:a="http://schemas.openxmlformats.org/drawingml/2006/main">
            <a:off x="1485900" y="5200650"/>
            <a:ext cx="449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42F39"/>
                </a:solidFill>
                <a:latin typeface="Arial"/>
                <a:ea typeface="Arial"/>
                <a:cs typeface="Arial"/>
              </a:defRPr>
            </a:defPPr>
            <a:lvl1pPr>
              <a:defRPr sz="2025" b="1">
                <a:solidFill>
                  <a:srgbClr val="142F39"/>
                </a:solidFill>
                <a:latin typeface="Arial"/>
                <a:ea typeface="Arial"/>
                <a:cs typeface="Arial"/>
              </a:defRPr>
            </a:lvl1pPr>
            <a:lvl2pPr>
              <a:defRPr sz="2025" b="1">
                <a:solidFill>
                  <a:srgbClr val="142F39"/>
                </a:solidFill>
                <a:latin typeface="Arial"/>
                <a:ea typeface="Arial"/>
                <a:cs typeface="Arial"/>
              </a:defRPr>
            </a:lvl2pPr>
            <a:lvl3pPr>
              <a:defRPr sz="2025" b="1">
                <a:solidFill>
                  <a:srgbClr val="142F39"/>
                </a:solidFill>
                <a:latin typeface="Arial"/>
                <a:ea typeface="Arial"/>
                <a:cs typeface="Arial"/>
              </a:defRPr>
            </a:lvl3pPr>
            <a:lvl4pPr>
              <a:defRPr sz="2025" b="1">
                <a:solidFill>
                  <a:srgbClr val="142F39"/>
                </a:solidFill>
                <a:latin typeface="Arial"/>
                <a:ea typeface="Arial"/>
                <a:cs typeface="Arial"/>
              </a:defRPr>
            </a:lvl4pPr>
            <a:lvl5pPr>
              <a:defRPr sz="2025" b="1">
                <a:solidFill>
                  <a:srgbClr val="142F39"/>
                </a:solidFill>
                <a:latin typeface="Arial"/>
                <a:ea typeface="Arial"/>
                <a:cs typeface="Arial"/>
              </a:defRPr>
            </a:lvl5pPr>
            <a:lvl6pPr>
              <a:defRPr sz="2025" b="1">
                <a:solidFill>
                  <a:srgbClr val="142F39"/>
                </a:solidFill>
                <a:latin typeface="Arial"/>
                <a:ea typeface="Arial"/>
                <a:cs typeface="Arial"/>
              </a:defRPr>
            </a:lvl6pPr>
            <a:lvl7pPr>
              <a:defRPr sz="2025" b="1">
                <a:solidFill>
                  <a:srgbClr val="142F39"/>
                </a:solidFill>
                <a:latin typeface="Arial"/>
                <a:ea typeface="Arial"/>
                <a:cs typeface="Arial"/>
              </a:defRPr>
            </a:lvl7pPr>
            <a:lvl8pPr>
              <a:defRPr sz="2025" b="1">
                <a:solidFill>
                  <a:srgbClr val="142F39"/>
                </a:solidFill>
                <a:latin typeface="Arial"/>
                <a:ea typeface="Arial"/>
                <a:cs typeface="Arial"/>
              </a:defRPr>
            </a:lvl8pPr>
            <a:lvl9pPr>
              <a:defRPr sz="2025" b="1">
                <a:solidFill>
                  <a:srgbClr val="142F39"/>
                </a:solidFill>
                <a:latin typeface="Arial"/>
                <a:ea typeface="Arial"/>
                <a:cs typeface="Arial"/>
              </a:defRPr>
            </a:lvl9pPr>
          </a:lstStyle>
          <a:p xmlns:a="http://schemas.openxmlformats.org/drawingml/2006/main">
            <a:pPr>
              <a:defRPr sz="2025" b="1">
                <a:solidFill>
                  <a:srgbClr val="142F39"/>
                </a:solidFill>
                <a:latin typeface="Arial"/>
                <a:ea typeface="Arial"/>
                <a:cs typeface="Arial"/>
              </a:defRPr>
            </a:pPr>
            <a:r>
              <a:rPr sz="2025" b="1">
                <a:solidFill>
                  <a:srgbClr val="142F39"/>
                </a:solidFill>
                <a:latin typeface="Arial"/>
                <a:ea typeface="Arial"/>
                <a:cs typeface="Arial"/>
              </a:rPr>
              <a:t>Input to the BART decoder</a:t>
            </a:r>
          </a:p>
        </p:txBody>
      </p:sp>
      <p:sp>
        <p:nvSpPr>
          <p:cNvPr id="16" name="Target-token cross-entropy training">
            <a:extLst xmlns:a="http://schemas.openxmlformats.org/drawingml/2006/main">
              <a:ext uri="{FF2B5EF4-FFF2-40B4-BE49-F238E27FC236}">
                <a16:creationId xmlns:a16="http://schemas.microsoft.com/office/drawing/2014/main" id="{8033A178-6023-457B-8190-2694935082A5}"/>
              </a:ext>
            </a:extLst>
          </p:cNvPr>
          <p:cNvSpPr>
            <a:spLocks xmlns:a="http://schemas.openxmlformats.org/drawingml/2006/main" noGrp="1"/>
          </p:cNvSpPr>
          <p:nvPr/>
        </p:nvSpPr>
        <p:spPr>
          <a:xfrm xmlns:a="http://schemas.openxmlformats.org/drawingml/2006/main">
            <a:off x="6477000" y="52006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76E"/>
                </a:solidFill>
                <a:latin typeface="Arial"/>
                <a:ea typeface="Arial"/>
                <a:cs typeface="Arial"/>
              </a:defRPr>
            </a:defPPr>
            <a:lvl1pPr>
              <a:defRPr sz="1875" b="0">
                <a:solidFill>
                  <a:srgbClr val="52676E"/>
                </a:solidFill>
                <a:latin typeface="Arial"/>
                <a:ea typeface="Arial"/>
                <a:cs typeface="Arial"/>
              </a:defRPr>
            </a:lvl1pPr>
            <a:lvl2pPr>
              <a:defRPr sz="1875" b="0">
                <a:solidFill>
                  <a:srgbClr val="52676E"/>
                </a:solidFill>
                <a:latin typeface="Arial"/>
                <a:ea typeface="Arial"/>
                <a:cs typeface="Arial"/>
              </a:defRPr>
            </a:lvl2pPr>
            <a:lvl3pPr>
              <a:defRPr sz="1875" b="0">
                <a:solidFill>
                  <a:srgbClr val="52676E"/>
                </a:solidFill>
                <a:latin typeface="Arial"/>
                <a:ea typeface="Arial"/>
                <a:cs typeface="Arial"/>
              </a:defRPr>
            </a:lvl3pPr>
            <a:lvl4pPr>
              <a:defRPr sz="1875" b="0">
                <a:solidFill>
                  <a:srgbClr val="52676E"/>
                </a:solidFill>
                <a:latin typeface="Arial"/>
                <a:ea typeface="Arial"/>
                <a:cs typeface="Arial"/>
              </a:defRPr>
            </a:lvl4pPr>
            <a:lvl5pPr>
              <a:defRPr sz="1875" b="0">
                <a:solidFill>
                  <a:srgbClr val="52676E"/>
                </a:solidFill>
                <a:latin typeface="Arial"/>
                <a:ea typeface="Arial"/>
                <a:cs typeface="Arial"/>
              </a:defRPr>
            </a:lvl5pPr>
            <a:lvl6pPr>
              <a:defRPr sz="1875" b="0">
                <a:solidFill>
                  <a:srgbClr val="52676E"/>
                </a:solidFill>
                <a:latin typeface="Arial"/>
                <a:ea typeface="Arial"/>
                <a:cs typeface="Arial"/>
              </a:defRPr>
            </a:lvl6pPr>
            <a:lvl7pPr>
              <a:defRPr sz="1875" b="0">
                <a:solidFill>
                  <a:srgbClr val="52676E"/>
                </a:solidFill>
                <a:latin typeface="Arial"/>
                <a:ea typeface="Arial"/>
                <a:cs typeface="Arial"/>
              </a:defRPr>
            </a:lvl7pPr>
            <a:lvl8pPr>
              <a:defRPr sz="1875" b="0">
                <a:solidFill>
                  <a:srgbClr val="52676E"/>
                </a:solidFill>
                <a:latin typeface="Arial"/>
                <a:ea typeface="Arial"/>
                <a:cs typeface="Arial"/>
              </a:defRPr>
            </a:lvl8pPr>
            <a:lvl9pPr>
              <a:defRPr sz="1875" b="0">
                <a:solidFill>
                  <a:srgbClr val="52676E"/>
                </a:solidFill>
                <a:latin typeface="Arial"/>
                <a:ea typeface="Arial"/>
                <a:cs typeface="Arial"/>
              </a:defRPr>
            </a:lvl9pPr>
          </a:lstStyle>
          <a:p xmlns:a="http://schemas.openxmlformats.org/drawingml/2006/main">
            <a:pPr>
              <a:defRPr sz="1875" b="0">
                <a:solidFill>
                  <a:srgbClr val="52676E"/>
                </a:solidFill>
                <a:latin typeface="Arial"/>
                <a:ea typeface="Arial"/>
                <a:cs typeface="Arial"/>
              </a:defRPr>
            </a:pPr>
            <a:r>
              <a:rPr sz="1875" b="0">
                <a:solidFill>
                  <a:srgbClr val="52676E"/>
                </a:solidFill>
                <a:latin typeface="Arial"/>
                <a:ea typeface="Arial"/>
                <a:cs typeface="Arial"/>
              </a:rPr>
              <a:t>Target-token cross-entropy training</a:t>
            </a:r>
          </a:p>
        </p:txBody>
      </p:sp>
      <p:sp>
        <p:nvSpPr>
          <p:cNvPr id="17" name="Official-kernel parity and efficiency remain unverified. The">
            <a:extLst xmlns:a="http://schemas.openxmlformats.org/drawingml/2006/main">
              <a:ext uri="{FF2B5EF4-FFF2-40B4-BE49-F238E27FC236}">
                <a16:creationId xmlns:a16="http://schemas.microsoft.com/office/drawing/2014/main" id="{8D97AD1A-130D-4C4D-9328-FC8849365E90}"/>
              </a:ext>
            </a:extLst>
          </p:cNvPr>
          <p:cNvSpPr>
            <a:spLocks xmlns:a="http://schemas.openxmlformats.org/drawingml/2006/main" noGrp="1"/>
          </p:cNvSpPr>
          <p:nvPr/>
        </p:nvSpPr>
        <p:spPr>
          <a:xfrm xmlns:a="http://schemas.openxmlformats.org/drawingml/2006/main">
            <a:off x="609600" y="6172200"/>
            <a:ext cx="1024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76E"/>
                </a:solidFill>
                <a:latin typeface="Arial"/>
                <a:ea typeface="Arial"/>
                <a:cs typeface="Arial"/>
              </a:defRPr>
            </a:defPPr>
            <a:lvl1pPr>
              <a:defRPr sz="1350" b="0">
                <a:solidFill>
                  <a:srgbClr val="52676E"/>
                </a:solidFill>
                <a:latin typeface="Arial"/>
                <a:ea typeface="Arial"/>
                <a:cs typeface="Arial"/>
              </a:defRPr>
            </a:lvl1pPr>
            <a:lvl2pPr>
              <a:defRPr sz="1350" b="0">
                <a:solidFill>
                  <a:srgbClr val="52676E"/>
                </a:solidFill>
                <a:latin typeface="Arial"/>
                <a:ea typeface="Arial"/>
                <a:cs typeface="Arial"/>
              </a:defRPr>
            </a:lvl2pPr>
            <a:lvl3pPr>
              <a:defRPr sz="1350" b="0">
                <a:solidFill>
                  <a:srgbClr val="52676E"/>
                </a:solidFill>
                <a:latin typeface="Arial"/>
                <a:ea typeface="Arial"/>
                <a:cs typeface="Arial"/>
              </a:defRPr>
            </a:lvl3pPr>
            <a:lvl4pPr>
              <a:defRPr sz="1350" b="0">
                <a:solidFill>
                  <a:srgbClr val="52676E"/>
                </a:solidFill>
                <a:latin typeface="Arial"/>
                <a:ea typeface="Arial"/>
                <a:cs typeface="Arial"/>
              </a:defRPr>
            </a:lvl4pPr>
            <a:lvl5pPr>
              <a:defRPr sz="1350" b="0">
                <a:solidFill>
                  <a:srgbClr val="52676E"/>
                </a:solidFill>
                <a:latin typeface="Arial"/>
                <a:ea typeface="Arial"/>
                <a:cs typeface="Arial"/>
              </a:defRPr>
            </a:lvl5pPr>
            <a:lvl6pPr>
              <a:defRPr sz="1350" b="0">
                <a:solidFill>
                  <a:srgbClr val="52676E"/>
                </a:solidFill>
                <a:latin typeface="Arial"/>
                <a:ea typeface="Arial"/>
                <a:cs typeface="Arial"/>
              </a:defRPr>
            </a:lvl6pPr>
            <a:lvl7pPr>
              <a:defRPr sz="1350" b="0">
                <a:solidFill>
                  <a:srgbClr val="52676E"/>
                </a:solidFill>
                <a:latin typeface="Arial"/>
                <a:ea typeface="Arial"/>
                <a:cs typeface="Arial"/>
              </a:defRPr>
            </a:lvl7pPr>
            <a:lvl8pPr>
              <a:defRPr sz="1350" b="0">
                <a:solidFill>
                  <a:srgbClr val="52676E"/>
                </a:solidFill>
                <a:latin typeface="Arial"/>
                <a:ea typeface="Arial"/>
                <a:cs typeface="Arial"/>
              </a:defRPr>
            </a:lvl8pPr>
            <a:lvl9pPr>
              <a:defRPr sz="1350" b="0">
                <a:solidFill>
                  <a:srgbClr val="52676E"/>
                </a:solidFill>
                <a:latin typeface="Arial"/>
                <a:ea typeface="Arial"/>
                <a:cs typeface="Arial"/>
              </a:defRPr>
            </a:lvl9pPr>
          </a:lstStyle>
          <a:p xmlns:a="http://schemas.openxmlformats.org/drawingml/2006/main">
            <a:pPr>
              <a:defRPr sz="1350" b="0">
                <a:solidFill>
                  <a:srgbClr val="52676E"/>
                </a:solidFill>
                <a:latin typeface="Arial"/>
                <a:ea typeface="Arial"/>
                <a:cs typeface="Arial"/>
              </a:defRPr>
            </a:pPr>
            <a:r>
              <a:rPr sz="1350" b="0">
                <a:solidFill>
                  <a:srgbClr val="52676E"/>
                </a:solidFill>
                <a:latin typeface="Arial"/>
                <a:ea typeface="Arial"/>
                <a:cs typeface="Arial"/>
              </a:rPr>
              <a:t>Official-kernel parity and efficiency remain unverified. The hybrid retains Transformer attention.</a:t>
            </a:r>
          </a:p>
        </p:txBody>
      </p:sp>
    </p:spTree>
    <p:extLst>
      <p:ext uri="{BB962C8B-B14F-4D97-AF65-F5344CB8AC3E}">
        <p14:creationId xmlns:p14="http://schemas.microsoft.com/office/powerpoint/2010/main" val="1584259170"/>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0" name="Pretrained training runs end to end">
            <a:extLst xmlns:a="http://schemas.openxmlformats.org/drawingml/2006/main">
              <a:ext uri="{FF2B5EF4-FFF2-40B4-BE49-F238E27FC236}">
                <a16:creationId xmlns:a16="http://schemas.microsoft.com/office/drawing/2014/main" id="{FACA6864-9573-451F-958B-73CA95053FD2}"/>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142F39"/>
                </a:solidFill>
                <a:latin typeface="Arial"/>
                <a:ea typeface="Arial"/>
                <a:cs typeface="Arial"/>
              </a:defRPr>
            </a:defPPr>
            <a:lvl1pPr>
              <a:defRPr sz="3450" b="1">
                <a:solidFill>
                  <a:srgbClr val="142F39"/>
                </a:solidFill>
                <a:latin typeface="Arial"/>
                <a:ea typeface="Arial"/>
                <a:cs typeface="Arial"/>
              </a:defRPr>
            </a:lvl1pPr>
            <a:lvl2pPr>
              <a:defRPr sz="3450" b="1">
                <a:solidFill>
                  <a:srgbClr val="142F39"/>
                </a:solidFill>
                <a:latin typeface="Arial"/>
                <a:ea typeface="Arial"/>
                <a:cs typeface="Arial"/>
              </a:defRPr>
            </a:lvl2pPr>
            <a:lvl3pPr>
              <a:defRPr sz="3450" b="1">
                <a:solidFill>
                  <a:srgbClr val="142F39"/>
                </a:solidFill>
                <a:latin typeface="Arial"/>
                <a:ea typeface="Arial"/>
                <a:cs typeface="Arial"/>
              </a:defRPr>
            </a:lvl3pPr>
            <a:lvl4pPr>
              <a:defRPr sz="3450" b="1">
                <a:solidFill>
                  <a:srgbClr val="142F39"/>
                </a:solidFill>
                <a:latin typeface="Arial"/>
                <a:ea typeface="Arial"/>
                <a:cs typeface="Arial"/>
              </a:defRPr>
            </a:lvl4pPr>
            <a:lvl5pPr>
              <a:defRPr sz="3450" b="1">
                <a:solidFill>
                  <a:srgbClr val="142F39"/>
                </a:solidFill>
                <a:latin typeface="Arial"/>
                <a:ea typeface="Arial"/>
                <a:cs typeface="Arial"/>
              </a:defRPr>
            </a:lvl5pPr>
            <a:lvl6pPr>
              <a:defRPr sz="3450" b="1">
                <a:solidFill>
                  <a:srgbClr val="142F39"/>
                </a:solidFill>
                <a:latin typeface="Arial"/>
                <a:ea typeface="Arial"/>
                <a:cs typeface="Arial"/>
              </a:defRPr>
            </a:lvl6pPr>
            <a:lvl7pPr>
              <a:defRPr sz="3450" b="1">
                <a:solidFill>
                  <a:srgbClr val="142F39"/>
                </a:solidFill>
                <a:latin typeface="Arial"/>
                <a:ea typeface="Arial"/>
                <a:cs typeface="Arial"/>
              </a:defRPr>
            </a:lvl7pPr>
            <a:lvl8pPr>
              <a:defRPr sz="3450" b="1">
                <a:solidFill>
                  <a:srgbClr val="142F39"/>
                </a:solidFill>
                <a:latin typeface="Arial"/>
                <a:ea typeface="Arial"/>
                <a:cs typeface="Arial"/>
              </a:defRPr>
            </a:lvl8pPr>
            <a:lvl9pPr>
              <a:defRPr sz="3450" b="1">
                <a:solidFill>
                  <a:srgbClr val="142F39"/>
                </a:solidFill>
                <a:latin typeface="Arial"/>
                <a:ea typeface="Arial"/>
                <a:cs typeface="Arial"/>
              </a:defRPr>
            </a:lvl9pPr>
          </a:lstStyle>
          <a:p xmlns:a="http://schemas.openxmlformats.org/drawingml/2006/main">
            <a:pPr>
              <a:defRPr sz="3450" b="1">
                <a:solidFill>
                  <a:srgbClr val="142F39"/>
                </a:solidFill>
                <a:latin typeface="Arial"/>
                <a:ea typeface="Arial"/>
                <a:cs typeface="Arial"/>
              </a:defRPr>
            </a:pPr>
            <a:r>
              <a:rPr sz="3450" b="1">
                <a:solidFill>
                  <a:srgbClr val="142F39"/>
                </a:solidFill>
                <a:latin typeface="Arial"/>
                <a:ea typeface="Arial"/>
                <a:cs typeface="Arial"/>
              </a:rPr>
              <a:t>Pretrained training runs end to end</a:t>
            </a:r>
          </a:p>
        </p:txBody>
      </p:sp>
      <p:sp>
        <p:nvSpPr>
          <p:cNvPr id="2" name="4">
            <a:extLst xmlns:a="http://schemas.openxmlformats.org/drawingml/2006/main">
              <a:ext uri="{FF2B5EF4-FFF2-40B4-BE49-F238E27FC236}">
                <a16:creationId xmlns:a16="http://schemas.microsoft.com/office/drawing/2014/main" id="{FEBAADDE-D543-44F1-8319-39FF8D634529}"/>
              </a:ext>
            </a:extLst>
          </p:cNvPr>
          <p:cNvSpPr>
            <a:spLocks xmlns:a="http://schemas.openxmlformats.org/drawingml/2006/main" noGrp="1"/>
          </p:cNvSpPr>
          <p:nvPr/>
        </p:nvSpPr>
        <p:spPr>
          <a:xfrm xmlns:a="http://schemas.openxmlformats.org/drawingml/2006/main">
            <a:off x="11182350" y="63150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76E"/>
                </a:solidFill>
                <a:latin typeface="Arial"/>
                <a:ea typeface="Arial"/>
                <a:cs typeface="Arial"/>
              </a:defRPr>
            </a:defPPr>
            <a:lvl1pPr>
              <a:defRPr sz="1350" b="0">
                <a:solidFill>
                  <a:srgbClr val="52676E"/>
                </a:solidFill>
                <a:latin typeface="Arial"/>
                <a:ea typeface="Arial"/>
                <a:cs typeface="Arial"/>
              </a:defRPr>
            </a:lvl1pPr>
            <a:lvl2pPr>
              <a:defRPr sz="1350" b="0">
                <a:solidFill>
                  <a:srgbClr val="52676E"/>
                </a:solidFill>
                <a:latin typeface="Arial"/>
                <a:ea typeface="Arial"/>
                <a:cs typeface="Arial"/>
              </a:defRPr>
            </a:lvl2pPr>
            <a:lvl3pPr>
              <a:defRPr sz="1350" b="0">
                <a:solidFill>
                  <a:srgbClr val="52676E"/>
                </a:solidFill>
                <a:latin typeface="Arial"/>
                <a:ea typeface="Arial"/>
                <a:cs typeface="Arial"/>
              </a:defRPr>
            </a:lvl3pPr>
            <a:lvl4pPr>
              <a:defRPr sz="1350" b="0">
                <a:solidFill>
                  <a:srgbClr val="52676E"/>
                </a:solidFill>
                <a:latin typeface="Arial"/>
                <a:ea typeface="Arial"/>
                <a:cs typeface="Arial"/>
              </a:defRPr>
            </a:lvl4pPr>
            <a:lvl5pPr>
              <a:defRPr sz="1350" b="0">
                <a:solidFill>
                  <a:srgbClr val="52676E"/>
                </a:solidFill>
                <a:latin typeface="Arial"/>
                <a:ea typeface="Arial"/>
                <a:cs typeface="Arial"/>
              </a:defRPr>
            </a:lvl5pPr>
            <a:lvl6pPr>
              <a:defRPr sz="1350" b="0">
                <a:solidFill>
                  <a:srgbClr val="52676E"/>
                </a:solidFill>
                <a:latin typeface="Arial"/>
                <a:ea typeface="Arial"/>
                <a:cs typeface="Arial"/>
              </a:defRPr>
            </a:lvl6pPr>
            <a:lvl7pPr>
              <a:defRPr sz="1350" b="0">
                <a:solidFill>
                  <a:srgbClr val="52676E"/>
                </a:solidFill>
                <a:latin typeface="Arial"/>
                <a:ea typeface="Arial"/>
                <a:cs typeface="Arial"/>
              </a:defRPr>
            </a:lvl7pPr>
            <a:lvl8pPr>
              <a:defRPr sz="1350" b="0">
                <a:solidFill>
                  <a:srgbClr val="52676E"/>
                </a:solidFill>
                <a:latin typeface="Arial"/>
                <a:ea typeface="Arial"/>
                <a:cs typeface="Arial"/>
              </a:defRPr>
            </a:lvl8pPr>
            <a:lvl9pPr>
              <a:defRPr sz="1350" b="0">
                <a:solidFill>
                  <a:srgbClr val="52676E"/>
                </a:solidFill>
                <a:latin typeface="Arial"/>
                <a:ea typeface="Arial"/>
                <a:cs typeface="Arial"/>
              </a:defRPr>
            </a:lvl9pPr>
          </a:lstStyle>
          <a:p xmlns:a="http://schemas.openxmlformats.org/drawingml/2006/main">
            <a:pPr>
              <a:defRPr sz="1350" b="0">
                <a:solidFill>
                  <a:srgbClr val="52676E"/>
                </a:solidFill>
                <a:latin typeface="Arial"/>
                <a:ea typeface="Arial"/>
                <a:cs typeface="Arial"/>
              </a:defRPr>
            </a:pPr>
            <a:r>
              <a:rPr sz="1350" b="0">
                <a:solidFill>
                  <a:srgbClr val="52676E"/>
                </a:solidFill>
                <a:latin typeface="Arial"/>
                <a:ea typeface="Arial"/>
                <a:cs typeface="Arial"/>
              </a:rPr>
              <a:t>4</a:t>
            </a:r>
          </a:p>
        </p:txBody>
      </p:sp>
      <p:sp>
        <p:nvSpPr>
          <p:cNvPr id="3" name="Validation token cross-entropy, lower is better">
            <a:extLst xmlns:a="http://schemas.openxmlformats.org/drawingml/2006/main">
              <a:ext uri="{FF2B5EF4-FFF2-40B4-BE49-F238E27FC236}">
                <a16:creationId xmlns:a16="http://schemas.microsoft.com/office/drawing/2014/main" id="{E1B12E95-6F57-4FC7-B62B-C0A344260F36}"/>
              </a:ext>
            </a:extLst>
          </p:cNvPr>
          <p:cNvSpPr>
            <a:spLocks xmlns:a="http://schemas.openxmlformats.org/drawingml/2006/main" noGrp="1"/>
          </p:cNvSpPr>
          <p:nvPr/>
        </p:nvSpPr>
        <p:spPr>
          <a:xfrm xmlns:a="http://schemas.openxmlformats.org/drawingml/2006/main">
            <a:off x="609600" y="1447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2676E"/>
                </a:solidFill>
                <a:latin typeface="Arial"/>
                <a:ea typeface="Arial"/>
                <a:cs typeface="Arial"/>
              </a:defRPr>
            </a:defPPr>
            <a:lvl1pPr>
              <a:defRPr sz="2100" b="0">
                <a:solidFill>
                  <a:srgbClr val="52676E"/>
                </a:solidFill>
                <a:latin typeface="Arial"/>
                <a:ea typeface="Arial"/>
                <a:cs typeface="Arial"/>
              </a:defRPr>
            </a:lvl1pPr>
            <a:lvl2pPr>
              <a:defRPr sz="2100" b="0">
                <a:solidFill>
                  <a:srgbClr val="52676E"/>
                </a:solidFill>
                <a:latin typeface="Arial"/>
                <a:ea typeface="Arial"/>
                <a:cs typeface="Arial"/>
              </a:defRPr>
            </a:lvl2pPr>
            <a:lvl3pPr>
              <a:defRPr sz="2100" b="0">
                <a:solidFill>
                  <a:srgbClr val="52676E"/>
                </a:solidFill>
                <a:latin typeface="Arial"/>
                <a:ea typeface="Arial"/>
                <a:cs typeface="Arial"/>
              </a:defRPr>
            </a:lvl3pPr>
            <a:lvl4pPr>
              <a:defRPr sz="2100" b="0">
                <a:solidFill>
                  <a:srgbClr val="52676E"/>
                </a:solidFill>
                <a:latin typeface="Arial"/>
                <a:ea typeface="Arial"/>
                <a:cs typeface="Arial"/>
              </a:defRPr>
            </a:lvl4pPr>
            <a:lvl5pPr>
              <a:defRPr sz="2100" b="0">
                <a:solidFill>
                  <a:srgbClr val="52676E"/>
                </a:solidFill>
                <a:latin typeface="Arial"/>
                <a:ea typeface="Arial"/>
                <a:cs typeface="Arial"/>
              </a:defRPr>
            </a:lvl5pPr>
            <a:lvl6pPr>
              <a:defRPr sz="2100" b="0">
                <a:solidFill>
                  <a:srgbClr val="52676E"/>
                </a:solidFill>
                <a:latin typeface="Arial"/>
                <a:ea typeface="Arial"/>
                <a:cs typeface="Arial"/>
              </a:defRPr>
            </a:lvl6pPr>
            <a:lvl7pPr>
              <a:defRPr sz="2100" b="0">
                <a:solidFill>
                  <a:srgbClr val="52676E"/>
                </a:solidFill>
                <a:latin typeface="Arial"/>
                <a:ea typeface="Arial"/>
                <a:cs typeface="Arial"/>
              </a:defRPr>
            </a:lvl7pPr>
            <a:lvl8pPr>
              <a:defRPr sz="2100" b="0">
                <a:solidFill>
                  <a:srgbClr val="52676E"/>
                </a:solidFill>
                <a:latin typeface="Arial"/>
                <a:ea typeface="Arial"/>
                <a:cs typeface="Arial"/>
              </a:defRPr>
            </a:lvl8pPr>
            <a:lvl9pPr>
              <a:defRPr sz="2100" b="0">
                <a:solidFill>
                  <a:srgbClr val="52676E"/>
                </a:solidFill>
                <a:latin typeface="Arial"/>
                <a:ea typeface="Arial"/>
                <a:cs typeface="Arial"/>
              </a:defRPr>
            </a:lvl9pPr>
          </a:lstStyle>
          <a:p xmlns:a="http://schemas.openxmlformats.org/drawingml/2006/main">
            <a:pPr>
              <a:defRPr sz="2100" b="0">
                <a:solidFill>
                  <a:srgbClr val="52676E"/>
                </a:solidFill>
                <a:latin typeface="Arial"/>
                <a:ea typeface="Arial"/>
                <a:cs typeface="Arial"/>
              </a:defRPr>
            </a:pPr>
            <a:r>
              <a:rPr sz="2100" b="0">
                <a:solidFill>
                  <a:srgbClr val="52676E"/>
                </a:solidFill>
                <a:latin typeface="Arial"/>
                <a:ea typeface="Arial"/>
                <a:cs typeface="Arial"/>
              </a:rPr>
              <a:t>Validation token cross-entropy, lower is better</a:t>
            </a:r>
          </a:p>
        </p:txBody>
      </p:sp>
      <p:graphicFrame>
        <p:nvGraphicFramePr>
          <p:cNvPr id="4" name="Chart">
            <a:extLst xmlns:a="http://schemas.openxmlformats.org/drawingml/2006/main">
              <a:ext uri="{FF2B5EF4-FFF2-40B4-BE49-F238E27FC236}">
                <a16:creationId xmlns:a16="http://schemas.microsoft.com/office/drawing/2014/main" id="{EAB7441B-AA62-4708-BA84-29B43F471510}"/>
              </a:ext>
            </a:extLst>
          </p:cNvPr>
          <p:cNvGraphicFramePr/>
          <p:nvPr/>
        </p:nvGraphicFramePr>
        <p:xfrm>
          <a:off xmlns:a="http://schemas.openxmlformats.org/drawingml/2006/main" x="457200" y="2181225"/>
          <a:ext xmlns:a="http://schemas.openxmlformats.org/drawingml/2006/main" cx="7381875" cy="3333750"/>
        </p:xfrm>
        <a:graphic xmlns:a="http://schemas.openxmlformats.org/drawingml/2006/main">
          <a:graphicData uri="http://schemas.openxmlformats.org/drawingml/2006/chart">
            <c:chart xmlns:r="http://schemas.openxmlformats.org/officeDocument/2006/relationships" xmlns:c="http://schemas.openxmlformats.org/drawingml/2006/chart" r:id="R557b8c83d93e49b8"/>
          </a:graphicData>
        </a:graphic>
      </p:graphicFrame>
      <p:sp>
        <p:nvSpPr>
          <p:cNvPr id="5" name="4.92M">
            <a:extLst xmlns:a="http://schemas.openxmlformats.org/drawingml/2006/main">
              <a:ext uri="{FF2B5EF4-FFF2-40B4-BE49-F238E27FC236}">
                <a16:creationId xmlns:a16="http://schemas.microsoft.com/office/drawing/2014/main" id="{DD167237-A2FC-41C3-BC41-5D83952E78FF}"/>
              </a:ext>
            </a:extLst>
          </p:cNvPr>
          <p:cNvSpPr>
            <a:spLocks xmlns:a="http://schemas.openxmlformats.org/drawingml/2006/main" noGrp="1"/>
          </p:cNvSpPr>
          <p:nvPr/>
        </p:nvSpPr>
        <p:spPr>
          <a:xfrm xmlns:a="http://schemas.openxmlformats.org/drawingml/2006/main">
            <a:off x="8210550" y="2324100"/>
            <a:ext cx="328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725" b="1">
                <a:solidFill>
                  <a:srgbClr val="087E83"/>
                </a:solidFill>
                <a:latin typeface="Arial"/>
                <a:ea typeface="Arial"/>
                <a:cs typeface="Arial"/>
              </a:defRPr>
            </a:defPPr>
            <a:lvl1pPr>
              <a:defRPr sz="4725" b="1">
                <a:solidFill>
                  <a:srgbClr val="087E83"/>
                </a:solidFill>
                <a:latin typeface="Arial"/>
                <a:ea typeface="Arial"/>
                <a:cs typeface="Arial"/>
              </a:defRPr>
            </a:lvl1pPr>
            <a:lvl2pPr>
              <a:defRPr sz="4725" b="1">
                <a:solidFill>
                  <a:srgbClr val="087E83"/>
                </a:solidFill>
                <a:latin typeface="Arial"/>
                <a:ea typeface="Arial"/>
                <a:cs typeface="Arial"/>
              </a:defRPr>
            </a:lvl2pPr>
            <a:lvl3pPr>
              <a:defRPr sz="4725" b="1">
                <a:solidFill>
                  <a:srgbClr val="087E83"/>
                </a:solidFill>
                <a:latin typeface="Arial"/>
                <a:ea typeface="Arial"/>
                <a:cs typeface="Arial"/>
              </a:defRPr>
            </a:lvl3pPr>
            <a:lvl4pPr>
              <a:defRPr sz="4725" b="1">
                <a:solidFill>
                  <a:srgbClr val="087E83"/>
                </a:solidFill>
                <a:latin typeface="Arial"/>
                <a:ea typeface="Arial"/>
                <a:cs typeface="Arial"/>
              </a:defRPr>
            </a:lvl4pPr>
            <a:lvl5pPr>
              <a:defRPr sz="4725" b="1">
                <a:solidFill>
                  <a:srgbClr val="087E83"/>
                </a:solidFill>
                <a:latin typeface="Arial"/>
                <a:ea typeface="Arial"/>
                <a:cs typeface="Arial"/>
              </a:defRPr>
            </a:lvl5pPr>
            <a:lvl6pPr>
              <a:defRPr sz="4725" b="1">
                <a:solidFill>
                  <a:srgbClr val="087E83"/>
                </a:solidFill>
                <a:latin typeface="Arial"/>
                <a:ea typeface="Arial"/>
                <a:cs typeface="Arial"/>
              </a:defRPr>
            </a:lvl6pPr>
            <a:lvl7pPr>
              <a:defRPr sz="4725" b="1">
                <a:solidFill>
                  <a:srgbClr val="087E83"/>
                </a:solidFill>
                <a:latin typeface="Arial"/>
                <a:ea typeface="Arial"/>
                <a:cs typeface="Arial"/>
              </a:defRPr>
            </a:lvl7pPr>
            <a:lvl8pPr>
              <a:defRPr sz="4725" b="1">
                <a:solidFill>
                  <a:srgbClr val="087E83"/>
                </a:solidFill>
                <a:latin typeface="Arial"/>
                <a:ea typeface="Arial"/>
                <a:cs typeface="Arial"/>
              </a:defRPr>
            </a:lvl8pPr>
            <a:lvl9pPr>
              <a:defRPr sz="4725" b="1">
                <a:solidFill>
                  <a:srgbClr val="087E83"/>
                </a:solidFill>
                <a:latin typeface="Arial"/>
                <a:ea typeface="Arial"/>
                <a:cs typeface="Arial"/>
              </a:defRPr>
            </a:lvl9pPr>
          </a:lstStyle>
          <a:p xmlns:a="http://schemas.openxmlformats.org/drawingml/2006/main">
            <a:pPr>
              <a:defRPr sz="4725" b="1">
                <a:solidFill>
                  <a:srgbClr val="087E83"/>
                </a:solidFill>
                <a:latin typeface="Arial"/>
                <a:ea typeface="Arial"/>
                <a:cs typeface="Arial"/>
              </a:defRPr>
            </a:pPr>
            <a:r>
              <a:rPr sz="4725" b="1">
                <a:solidFill>
                  <a:srgbClr val="087E83"/>
                </a:solidFill>
                <a:latin typeface="Arial"/>
                <a:ea typeface="Arial"/>
                <a:cs typeface="Arial"/>
              </a:rPr>
              <a:t>4.92M</a:t>
            </a:r>
          </a:p>
        </p:txBody>
      </p:sp>
      <p:sp>
        <p:nvSpPr>
          <p:cNvPr id="6" name="trainable parameters&#10;in the frozen hybrid">
            <a:extLst xmlns:a="http://schemas.openxmlformats.org/drawingml/2006/main">
              <a:ext uri="{FF2B5EF4-FFF2-40B4-BE49-F238E27FC236}">
                <a16:creationId xmlns:a16="http://schemas.microsoft.com/office/drawing/2014/main" id="{9F84C9E5-63CE-4A13-912F-8E2D158B1EFB}"/>
              </a:ext>
            </a:extLst>
          </p:cNvPr>
          <p:cNvSpPr>
            <a:spLocks xmlns:a="http://schemas.openxmlformats.org/drawingml/2006/main" noGrp="1"/>
          </p:cNvSpPr>
          <p:nvPr/>
        </p:nvSpPr>
        <p:spPr>
          <a:xfrm xmlns:a="http://schemas.openxmlformats.org/drawingml/2006/main">
            <a:off x="8248650" y="3228975"/>
            <a:ext cx="3181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F39"/>
                </a:solidFill>
                <a:latin typeface="Arial"/>
                <a:ea typeface="Arial"/>
                <a:cs typeface="Arial"/>
              </a:defRPr>
            </a:defPPr>
            <a:lvl1pPr>
              <a:defRPr sz="2025" b="0">
                <a:solidFill>
                  <a:srgbClr val="142F39"/>
                </a:solidFill>
                <a:latin typeface="Arial"/>
                <a:ea typeface="Arial"/>
                <a:cs typeface="Arial"/>
              </a:defRPr>
            </a:lvl1pPr>
            <a:lvl2pPr>
              <a:defRPr sz="2025" b="0">
                <a:solidFill>
                  <a:srgbClr val="142F39"/>
                </a:solidFill>
                <a:latin typeface="Arial"/>
                <a:ea typeface="Arial"/>
                <a:cs typeface="Arial"/>
              </a:defRPr>
            </a:lvl2pPr>
            <a:lvl3pPr>
              <a:defRPr sz="2025" b="0">
                <a:solidFill>
                  <a:srgbClr val="142F39"/>
                </a:solidFill>
                <a:latin typeface="Arial"/>
                <a:ea typeface="Arial"/>
                <a:cs typeface="Arial"/>
              </a:defRPr>
            </a:lvl3pPr>
            <a:lvl4pPr>
              <a:defRPr sz="2025" b="0">
                <a:solidFill>
                  <a:srgbClr val="142F39"/>
                </a:solidFill>
                <a:latin typeface="Arial"/>
                <a:ea typeface="Arial"/>
                <a:cs typeface="Arial"/>
              </a:defRPr>
            </a:lvl4pPr>
            <a:lvl5pPr>
              <a:defRPr sz="2025" b="0">
                <a:solidFill>
                  <a:srgbClr val="142F39"/>
                </a:solidFill>
                <a:latin typeface="Arial"/>
                <a:ea typeface="Arial"/>
                <a:cs typeface="Arial"/>
              </a:defRPr>
            </a:lvl5pPr>
            <a:lvl6pPr>
              <a:defRPr sz="2025" b="0">
                <a:solidFill>
                  <a:srgbClr val="142F39"/>
                </a:solidFill>
                <a:latin typeface="Arial"/>
                <a:ea typeface="Arial"/>
                <a:cs typeface="Arial"/>
              </a:defRPr>
            </a:lvl6pPr>
            <a:lvl7pPr>
              <a:defRPr sz="2025" b="0">
                <a:solidFill>
                  <a:srgbClr val="142F39"/>
                </a:solidFill>
                <a:latin typeface="Arial"/>
                <a:ea typeface="Arial"/>
                <a:cs typeface="Arial"/>
              </a:defRPr>
            </a:lvl7pPr>
            <a:lvl8pPr>
              <a:defRPr sz="2025" b="0">
                <a:solidFill>
                  <a:srgbClr val="142F39"/>
                </a:solidFill>
                <a:latin typeface="Arial"/>
                <a:ea typeface="Arial"/>
                <a:cs typeface="Arial"/>
              </a:defRPr>
            </a:lvl8pPr>
            <a:lvl9pPr>
              <a:defRPr sz="2025" b="0">
                <a:solidFill>
                  <a:srgbClr val="142F39"/>
                </a:solidFill>
                <a:latin typeface="Arial"/>
                <a:ea typeface="Arial"/>
                <a:cs typeface="Arial"/>
              </a:defRPr>
            </a:lvl9pPr>
          </a:lstStyle>
          <a:p xmlns:a="http://schemas.openxmlformats.org/drawingml/2006/main">
            <a:pPr>
              <a:defRPr sz="2025" b="0">
                <a:solidFill>
                  <a:srgbClr val="142F39"/>
                </a:solidFill>
                <a:latin typeface="Arial"/>
                <a:ea typeface="Arial"/>
                <a:cs typeface="Arial"/>
              </a:defRPr>
            </a:pPr>
            <a:r>
              <a:rPr sz="2025" b="0">
                <a:solidFill>
                  <a:srgbClr val="142F39"/>
                </a:solidFill>
                <a:latin typeface="Arial"/>
                <a:ea typeface="Arial"/>
                <a:cs typeface="Arial"/>
              </a:rPr>
              <a:t>trainable parameters</a:t>
            </a:r>
          </a:p>
          <a:p xmlns:a="http://schemas.openxmlformats.org/drawingml/2006/main">
            <a:pPr>
              <a:defRPr sz="2025" b="0">
                <a:solidFill>
                  <a:srgbClr val="142F39"/>
                </a:solidFill>
                <a:latin typeface="Arial"/>
                <a:ea typeface="Arial"/>
                <a:cs typeface="Arial"/>
              </a:defRPr>
            </a:pPr>
            <a:r>
              <a:rPr sz="2025" b="0">
                <a:solidFill>
                  <a:srgbClr val="142F39"/>
                </a:solidFill>
                <a:latin typeface="Arial"/>
                <a:ea typeface="Arial"/>
                <a:cs typeface="Arial"/>
              </a:rPr>
              <a:t>in the frozen hybrid</a:t>
            </a:r>
          </a:p>
        </p:txBody>
      </p:sp>
      <p:sp>
        <p:nvSpPr>
          <p:cNvPr id="7" name="BART: 139.42M">
            <a:extLst xmlns:a="http://schemas.openxmlformats.org/drawingml/2006/main">
              <a:ext uri="{FF2B5EF4-FFF2-40B4-BE49-F238E27FC236}">
                <a16:creationId xmlns:a16="http://schemas.microsoft.com/office/drawing/2014/main" id="{E3374347-AFF6-4538-A3AE-57600E901F56}"/>
              </a:ext>
            </a:extLst>
          </p:cNvPr>
          <p:cNvSpPr>
            <a:spLocks xmlns:a="http://schemas.openxmlformats.org/drawingml/2006/main" noGrp="1"/>
          </p:cNvSpPr>
          <p:nvPr/>
        </p:nvSpPr>
        <p:spPr>
          <a:xfrm xmlns:a="http://schemas.openxmlformats.org/drawingml/2006/main">
            <a:off x="8248650" y="4476750"/>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2676E"/>
                </a:solidFill>
                <a:latin typeface="Arial"/>
                <a:ea typeface="Arial"/>
                <a:cs typeface="Arial"/>
              </a:defRPr>
            </a:defPPr>
            <a:lvl1pPr>
              <a:defRPr sz="1950" b="0">
                <a:solidFill>
                  <a:srgbClr val="52676E"/>
                </a:solidFill>
                <a:latin typeface="Arial"/>
                <a:ea typeface="Arial"/>
                <a:cs typeface="Arial"/>
              </a:defRPr>
            </a:lvl1pPr>
            <a:lvl2pPr>
              <a:defRPr sz="1950" b="0">
                <a:solidFill>
                  <a:srgbClr val="52676E"/>
                </a:solidFill>
                <a:latin typeface="Arial"/>
                <a:ea typeface="Arial"/>
                <a:cs typeface="Arial"/>
              </a:defRPr>
            </a:lvl2pPr>
            <a:lvl3pPr>
              <a:defRPr sz="1950" b="0">
                <a:solidFill>
                  <a:srgbClr val="52676E"/>
                </a:solidFill>
                <a:latin typeface="Arial"/>
                <a:ea typeface="Arial"/>
                <a:cs typeface="Arial"/>
              </a:defRPr>
            </a:lvl3pPr>
            <a:lvl4pPr>
              <a:defRPr sz="1950" b="0">
                <a:solidFill>
                  <a:srgbClr val="52676E"/>
                </a:solidFill>
                <a:latin typeface="Arial"/>
                <a:ea typeface="Arial"/>
                <a:cs typeface="Arial"/>
              </a:defRPr>
            </a:lvl4pPr>
            <a:lvl5pPr>
              <a:defRPr sz="1950" b="0">
                <a:solidFill>
                  <a:srgbClr val="52676E"/>
                </a:solidFill>
                <a:latin typeface="Arial"/>
                <a:ea typeface="Arial"/>
                <a:cs typeface="Arial"/>
              </a:defRPr>
            </a:lvl5pPr>
            <a:lvl6pPr>
              <a:defRPr sz="1950" b="0">
                <a:solidFill>
                  <a:srgbClr val="52676E"/>
                </a:solidFill>
                <a:latin typeface="Arial"/>
                <a:ea typeface="Arial"/>
                <a:cs typeface="Arial"/>
              </a:defRPr>
            </a:lvl6pPr>
            <a:lvl7pPr>
              <a:defRPr sz="1950" b="0">
                <a:solidFill>
                  <a:srgbClr val="52676E"/>
                </a:solidFill>
                <a:latin typeface="Arial"/>
                <a:ea typeface="Arial"/>
                <a:cs typeface="Arial"/>
              </a:defRPr>
            </a:lvl7pPr>
            <a:lvl8pPr>
              <a:defRPr sz="1950" b="0">
                <a:solidFill>
                  <a:srgbClr val="52676E"/>
                </a:solidFill>
                <a:latin typeface="Arial"/>
                <a:ea typeface="Arial"/>
                <a:cs typeface="Arial"/>
              </a:defRPr>
            </a:lvl8pPr>
            <a:lvl9pPr>
              <a:defRPr sz="1950" b="0">
                <a:solidFill>
                  <a:srgbClr val="52676E"/>
                </a:solidFill>
                <a:latin typeface="Arial"/>
                <a:ea typeface="Arial"/>
                <a:cs typeface="Arial"/>
              </a:defRPr>
            </a:lvl9pPr>
          </a:lstStyle>
          <a:p xmlns:a="http://schemas.openxmlformats.org/drawingml/2006/main">
            <a:pPr>
              <a:defRPr sz="1950" b="0">
                <a:solidFill>
                  <a:srgbClr val="52676E"/>
                </a:solidFill>
                <a:latin typeface="Arial"/>
                <a:ea typeface="Arial"/>
                <a:cs typeface="Arial"/>
              </a:defRPr>
            </a:pPr>
            <a:r>
              <a:rPr sz="1950" b="0">
                <a:solidFill>
                  <a:srgbClr val="52676E"/>
                </a:solidFill>
                <a:latin typeface="Arial"/>
                <a:ea typeface="Arial"/>
                <a:cs typeface="Arial"/>
              </a:rPr>
              <a:t>BART: 139.42M</a:t>
            </a:r>
          </a:p>
        </p:txBody>
      </p:sp>
      <p:sp>
        <p:nvSpPr>
          <p:cNvPr id="8" name="300 updates, 491 train pairs, 98 validation pairs, seed 42">
            <a:extLst xmlns:a="http://schemas.openxmlformats.org/drawingml/2006/main">
              <a:ext uri="{FF2B5EF4-FFF2-40B4-BE49-F238E27FC236}">
                <a16:creationId xmlns:a16="http://schemas.microsoft.com/office/drawing/2014/main" id="{037D950E-46CD-4D2C-99E2-3FF898402B25}"/>
              </a:ext>
            </a:extLst>
          </p:cNvPr>
          <p:cNvSpPr>
            <a:spLocks xmlns:a="http://schemas.openxmlformats.org/drawingml/2006/main" noGrp="1"/>
          </p:cNvSpPr>
          <p:nvPr/>
        </p:nvSpPr>
        <p:spPr>
          <a:xfrm xmlns:a="http://schemas.openxmlformats.org/drawingml/2006/main">
            <a:off x="609600" y="56578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F39"/>
                </a:solidFill>
                <a:latin typeface="Arial"/>
                <a:ea typeface="Arial"/>
                <a:cs typeface="Arial"/>
              </a:defRPr>
            </a:defPPr>
            <a:lvl1pPr>
              <a:defRPr sz="1800" b="0">
                <a:solidFill>
                  <a:srgbClr val="142F39"/>
                </a:solidFill>
                <a:latin typeface="Arial"/>
                <a:ea typeface="Arial"/>
                <a:cs typeface="Arial"/>
              </a:defRPr>
            </a:lvl1pPr>
            <a:lvl2pPr>
              <a:defRPr sz="1800" b="0">
                <a:solidFill>
                  <a:srgbClr val="142F39"/>
                </a:solidFill>
                <a:latin typeface="Arial"/>
                <a:ea typeface="Arial"/>
                <a:cs typeface="Arial"/>
              </a:defRPr>
            </a:lvl2pPr>
            <a:lvl3pPr>
              <a:defRPr sz="1800" b="0">
                <a:solidFill>
                  <a:srgbClr val="142F39"/>
                </a:solidFill>
                <a:latin typeface="Arial"/>
                <a:ea typeface="Arial"/>
                <a:cs typeface="Arial"/>
              </a:defRPr>
            </a:lvl3pPr>
            <a:lvl4pPr>
              <a:defRPr sz="1800" b="0">
                <a:solidFill>
                  <a:srgbClr val="142F39"/>
                </a:solidFill>
                <a:latin typeface="Arial"/>
                <a:ea typeface="Arial"/>
                <a:cs typeface="Arial"/>
              </a:defRPr>
            </a:lvl4pPr>
            <a:lvl5pPr>
              <a:defRPr sz="1800" b="0">
                <a:solidFill>
                  <a:srgbClr val="142F39"/>
                </a:solidFill>
                <a:latin typeface="Arial"/>
                <a:ea typeface="Arial"/>
                <a:cs typeface="Arial"/>
              </a:defRPr>
            </a:lvl5pPr>
            <a:lvl6pPr>
              <a:defRPr sz="1800" b="0">
                <a:solidFill>
                  <a:srgbClr val="142F39"/>
                </a:solidFill>
                <a:latin typeface="Arial"/>
                <a:ea typeface="Arial"/>
                <a:cs typeface="Arial"/>
              </a:defRPr>
            </a:lvl6pPr>
            <a:lvl7pPr>
              <a:defRPr sz="1800" b="0">
                <a:solidFill>
                  <a:srgbClr val="142F39"/>
                </a:solidFill>
                <a:latin typeface="Arial"/>
                <a:ea typeface="Arial"/>
                <a:cs typeface="Arial"/>
              </a:defRPr>
            </a:lvl7pPr>
            <a:lvl8pPr>
              <a:defRPr sz="1800" b="0">
                <a:solidFill>
                  <a:srgbClr val="142F39"/>
                </a:solidFill>
                <a:latin typeface="Arial"/>
                <a:ea typeface="Arial"/>
                <a:cs typeface="Arial"/>
              </a:defRPr>
            </a:lvl8pPr>
            <a:lvl9pPr>
              <a:defRPr sz="1800" b="0">
                <a:solidFill>
                  <a:srgbClr val="142F39"/>
                </a:solidFill>
                <a:latin typeface="Arial"/>
                <a:ea typeface="Arial"/>
                <a:cs typeface="Arial"/>
              </a:defRPr>
            </a:lvl9pPr>
          </a:lstStyle>
          <a:p xmlns:a="http://schemas.openxmlformats.org/drawingml/2006/main">
            <a:pPr>
              <a:defRPr sz="1800" b="0">
                <a:solidFill>
                  <a:srgbClr val="142F39"/>
                </a:solidFill>
                <a:latin typeface="Arial"/>
                <a:ea typeface="Arial"/>
                <a:cs typeface="Arial"/>
              </a:defRPr>
            </a:pPr>
            <a:r>
              <a:rPr sz="1800" b="0">
                <a:solidFill>
                  <a:srgbClr val="142F39"/>
                </a:solidFill>
                <a:latin typeface="Arial"/>
                <a:ea typeface="Arial"/>
                <a:cs typeface="Arial"/>
              </a:rPr>
              <a:t>300 updates, 491 train pairs, 98 validation pairs, seed 42</a:t>
            </a:r>
          </a:p>
        </p:txBody>
      </p:sp>
      <p:sp>
        <p:nvSpPr>
          <p:cNvPr id="9" name="Learning rates differ: BART 5e−5, frozen hybrid 1e−4, full h">
            <a:extLst xmlns:a="http://schemas.openxmlformats.org/drawingml/2006/main">
              <a:ext uri="{FF2B5EF4-FFF2-40B4-BE49-F238E27FC236}">
                <a16:creationId xmlns:a16="http://schemas.microsoft.com/office/drawing/2014/main" id="{D6F7A93F-0282-41C7-9CC8-6572AB0CF7DC}"/>
              </a:ext>
            </a:extLst>
          </p:cNvPr>
          <p:cNvSpPr>
            <a:spLocks xmlns:a="http://schemas.openxmlformats.org/drawingml/2006/main" noGrp="1"/>
          </p:cNvSpPr>
          <p:nvPr/>
        </p:nvSpPr>
        <p:spPr>
          <a:xfrm xmlns:a="http://schemas.openxmlformats.org/drawingml/2006/main">
            <a:off x="609600" y="6172200"/>
            <a:ext cx="1024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76E"/>
                </a:solidFill>
                <a:latin typeface="Arial"/>
                <a:ea typeface="Arial"/>
                <a:cs typeface="Arial"/>
              </a:defRPr>
            </a:defPPr>
            <a:lvl1pPr>
              <a:defRPr sz="1350" b="0">
                <a:solidFill>
                  <a:srgbClr val="52676E"/>
                </a:solidFill>
                <a:latin typeface="Arial"/>
                <a:ea typeface="Arial"/>
                <a:cs typeface="Arial"/>
              </a:defRPr>
            </a:lvl1pPr>
            <a:lvl2pPr>
              <a:defRPr sz="1350" b="0">
                <a:solidFill>
                  <a:srgbClr val="52676E"/>
                </a:solidFill>
                <a:latin typeface="Arial"/>
                <a:ea typeface="Arial"/>
                <a:cs typeface="Arial"/>
              </a:defRPr>
            </a:lvl2pPr>
            <a:lvl3pPr>
              <a:defRPr sz="1350" b="0">
                <a:solidFill>
                  <a:srgbClr val="52676E"/>
                </a:solidFill>
                <a:latin typeface="Arial"/>
                <a:ea typeface="Arial"/>
                <a:cs typeface="Arial"/>
              </a:defRPr>
            </a:lvl3pPr>
            <a:lvl4pPr>
              <a:defRPr sz="1350" b="0">
                <a:solidFill>
                  <a:srgbClr val="52676E"/>
                </a:solidFill>
                <a:latin typeface="Arial"/>
                <a:ea typeface="Arial"/>
                <a:cs typeface="Arial"/>
              </a:defRPr>
            </a:lvl4pPr>
            <a:lvl5pPr>
              <a:defRPr sz="1350" b="0">
                <a:solidFill>
                  <a:srgbClr val="52676E"/>
                </a:solidFill>
                <a:latin typeface="Arial"/>
                <a:ea typeface="Arial"/>
                <a:cs typeface="Arial"/>
              </a:defRPr>
            </a:lvl5pPr>
            <a:lvl6pPr>
              <a:defRPr sz="1350" b="0">
                <a:solidFill>
                  <a:srgbClr val="52676E"/>
                </a:solidFill>
                <a:latin typeface="Arial"/>
                <a:ea typeface="Arial"/>
                <a:cs typeface="Arial"/>
              </a:defRPr>
            </a:lvl6pPr>
            <a:lvl7pPr>
              <a:defRPr sz="1350" b="0">
                <a:solidFill>
                  <a:srgbClr val="52676E"/>
                </a:solidFill>
                <a:latin typeface="Arial"/>
                <a:ea typeface="Arial"/>
                <a:cs typeface="Arial"/>
              </a:defRPr>
            </a:lvl7pPr>
            <a:lvl8pPr>
              <a:defRPr sz="1350" b="0">
                <a:solidFill>
                  <a:srgbClr val="52676E"/>
                </a:solidFill>
                <a:latin typeface="Arial"/>
                <a:ea typeface="Arial"/>
                <a:cs typeface="Arial"/>
              </a:defRPr>
            </a:lvl8pPr>
            <a:lvl9pPr>
              <a:defRPr sz="1350" b="0">
                <a:solidFill>
                  <a:srgbClr val="52676E"/>
                </a:solidFill>
                <a:latin typeface="Arial"/>
                <a:ea typeface="Arial"/>
                <a:cs typeface="Arial"/>
              </a:defRPr>
            </a:lvl9pPr>
          </a:lstStyle>
          <a:p xmlns:a="http://schemas.openxmlformats.org/drawingml/2006/main">
            <a:pPr>
              <a:defRPr sz="1350" b="0">
                <a:solidFill>
                  <a:srgbClr val="52676E"/>
                </a:solidFill>
                <a:latin typeface="Arial"/>
                <a:ea typeface="Arial"/>
                <a:cs typeface="Arial"/>
              </a:defRPr>
            </a:pPr>
            <a:r>
              <a:rPr sz="1350" b="0">
                <a:solidFill>
                  <a:srgbClr val="52676E"/>
                </a:solidFill>
                <a:latin typeface="Arial"/>
                <a:ea typeface="Arial"/>
                <a:cs typeface="Arial"/>
              </a:rPr>
              <a:t>Learning rates differ: BART 5e−5, frozen hybrid 1e−4, full hybrid 2e−5. Single-seed results.</a:t>
            </a:r>
          </a:p>
        </p:txBody>
      </p:sp>
    </p:spTree>
    <p:extLst>
      <p:ext uri="{BB962C8B-B14F-4D97-AF65-F5344CB8AC3E}">
        <p14:creationId xmlns:p14="http://schemas.microsoft.com/office/powerpoint/2010/main" val="385509696"/>
      </p:ext>
    </p:extLst>
  </p:cSld>
</p:sld>
</file>

<file path=ppt/slides/slide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7" name="Test overlap scores are nearly equal">
            <a:extLst xmlns:a="http://schemas.openxmlformats.org/drawingml/2006/main">
              <a:ext uri="{FF2B5EF4-FFF2-40B4-BE49-F238E27FC236}">
                <a16:creationId xmlns:a16="http://schemas.microsoft.com/office/drawing/2014/main" id="{4AC9DC50-CEC8-4F98-9A87-47164D864064}"/>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142F39"/>
                </a:solidFill>
                <a:latin typeface="Arial"/>
                <a:ea typeface="Arial"/>
                <a:cs typeface="Arial"/>
              </a:defRPr>
            </a:defPPr>
            <a:lvl1pPr>
              <a:defRPr sz="3450" b="1">
                <a:solidFill>
                  <a:srgbClr val="142F39"/>
                </a:solidFill>
                <a:latin typeface="Arial"/>
                <a:ea typeface="Arial"/>
                <a:cs typeface="Arial"/>
              </a:defRPr>
            </a:lvl1pPr>
            <a:lvl2pPr>
              <a:defRPr sz="3450" b="1">
                <a:solidFill>
                  <a:srgbClr val="142F39"/>
                </a:solidFill>
                <a:latin typeface="Arial"/>
                <a:ea typeface="Arial"/>
                <a:cs typeface="Arial"/>
              </a:defRPr>
            </a:lvl2pPr>
            <a:lvl3pPr>
              <a:defRPr sz="3450" b="1">
                <a:solidFill>
                  <a:srgbClr val="142F39"/>
                </a:solidFill>
                <a:latin typeface="Arial"/>
                <a:ea typeface="Arial"/>
                <a:cs typeface="Arial"/>
              </a:defRPr>
            </a:lvl3pPr>
            <a:lvl4pPr>
              <a:defRPr sz="3450" b="1">
                <a:solidFill>
                  <a:srgbClr val="142F39"/>
                </a:solidFill>
                <a:latin typeface="Arial"/>
                <a:ea typeface="Arial"/>
                <a:cs typeface="Arial"/>
              </a:defRPr>
            </a:lvl4pPr>
            <a:lvl5pPr>
              <a:defRPr sz="3450" b="1">
                <a:solidFill>
                  <a:srgbClr val="142F39"/>
                </a:solidFill>
                <a:latin typeface="Arial"/>
                <a:ea typeface="Arial"/>
                <a:cs typeface="Arial"/>
              </a:defRPr>
            </a:lvl5pPr>
            <a:lvl6pPr>
              <a:defRPr sz="3450" b="1">
                <a:solidFill>
                  <a:srgbClr val="142F39"/>
                </a:solidFill>
                <a:latin typeface="Arial"/>
                <a:ea typeface="Arial"/>
                <a:cs typeface="Arial"/>
              </a:defRPr>
            </a:lvl6pPr>
            <a:lvl7pPr>
              <a:defRPr sz="3450" b="1">
                <a:solidFill>
                  <a:srgbClr val="142F39"/>
                </a:solidFill>
                <a:latin typeface="Arial"/>
                <a:ea typeface="Arial"/>
                <a:cs typeface="Arial"/>
              </a:defRPr>
            </a:lvl7pPr>
            <a:lvl8pPr>
              <a:defRPr sz="3450" b="1">
                <a:solidFill>
                  <a:srgbClr val="142F39"/>
                </a:solidFill>
                <a:latin typeface="Arial"/>
                <a:ea typeface="Arial"/>
                <a:cs typeface="Arial"/>
              </a:defRPr>
            </a:lvl8pPr>
            <a:lvl9pPr>
              <a:defRPr sz="3450" b="1">
                <a:solidFill>
                  <a:srgbClr val="142F39"/>
                </a:solidFill>
                <a:latin typeface="Arial"/>
                <a:ea typeface="Arial"/>
                <a:cs typeface="Arial"/>
              </a:defRPr>
            </a:lvl9pPr>
          </a:lstStyle>
          <a:p xmlns:a="http://schemas.openxmlformats.org/drawingml/2006/main">
            <a:pPr>
              <a:defRPr sz="3450" b="1">
                <a:solidFill>
                  <a:srgbClr val="142F39"/>
                </a:solidFill>
                <a:latin typeface="Arial"/>
                <a:ea typeface="Arial"/>
                <a:cs typeface="Arial"/>
              </a:defRPr>
            </a:pPr>
            <a:r>
              <a:rPr sz="3450" b="1">
                <a:solidFill>
                  <a:srgbClr val="142F39"/>
                </a:solidFill>
                <a:latin typeface="Arial"/>
                <a:ea typeface="Arial"/>
                <a:cs typeface="Arial"/>
              </a:rPr>
              <a:t>Test overlap scores are nearly equal</a:t>
            </a:r>
          </a:p>
        </p:txBody>
      </p:sp>
      <p:sp>
        <p:nvSpPr>
          <p:cNvPr id="2" name="5">
            <a:extLst xmlns:a="http://schemas.openxmlformats.org/drawingml/2006/main">
              <a:ext uri="{FF2B5EF4-FFF2-40B4-BE49-F238E27FC236}">
                <a16:creationId xmlns:a16="http://schemas.microsoft.com/office/drawing/2014/main" id="{B9B2D12D-250F-4B5F-A6AA-2B0803FB467F}"/>
              </a:ext>
            </a:extLst>
          </p:cNvPr>
          <p:cNvSpPr>
            <a:spLocks xmlns:a="http://schemas.openxmlformats.org/drawingml/2006/main" noGrp="1"/>
          </p:cNvSpPr>
          <p:nvPr/>
        </p:nvSpPr>
        <p:spPr>
          <a:xfrm xmlns:a="http://schemas.openxmlformats.org/drawingml/2006/main">
            <a:off x="11182350" y="63150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76E"/>
                </a:solidFill>
                <a:latin typeface="Arial"/>
                <a:ea typeface="Arial"/>
                <a:cs typeface="Arial"/>
              </a:defRPr>
            </a:defPPr>
            <a:lvl1pPr>
              <a:defRPr sz="1350" b="0">
                <a:solidFill>
                  <a:srgbClr val="52676E"/>
                </a:solidFill>
                <a:latin typeface="Arial"/>
                <a:ea typeface="Arial"/>
                <a:cs typeface="Arial"/>
              </a:defRPr>
            </a:lvl1pPr>
            <a:lvl2pPr>
              <a:defRPr sz="1350" b="0">
                <a:solidFill>
                  <a:srgbClr val="52676E"/>
                </a:solidFill>
                <a:latin typeface="Arial"/>
                <a:ea typeface="Arial"/>
                <a:cs typeface="Arial"/>
              </a:defRPr>
            </a:lvl2pPr>
            <a:lvl3pPr>
              <a:defRPr sz="1350" b="0">
                <a:solidFill>
                  <a:srgbClr val="52676E"/>
                </a:solidFill>
                <a:latin typeface="Arial"/>
                <a:ea typeface="Arial"/>
                <a:cs typeface="Arial"/>
              </a:defRPr>
            </a:lvl3pPr>
            <a:lvl4pPr>
              <a:defRPr sz="1350" b="0">
                <a:solidFill>
                  <a:srgbClr val="52676E"/>
                </a:solidFill>
                <a:latin typeface="Arial"/>
                <a:ea typeface="Arial"/>
                <a:cs typeface="Arial"/>
              </a:defRPr>
            </a:lvl4pPr>
            <a:lvl5pPr>
              <a:defRPr sz="1350" b="0">
                <a:solidFill>
                  <a:srgbClr val="52676E"/>
                </a:solidFill>
                <a:latin typeface="Arial"/>
                <a:ea typeface="Arial"/>
                <a:cs typeface="Arial"/>
              </a:defRPr>
            </a:lvl5pPr>
            <a:lvl6pPr>
              <a:defRPr sz="1350" b="0">
                <a:solidFill>
                  <a:srgbClr val="52676E"/>
                </a:solidFill>
                <a:latin typeface="Arial"/>
                <a:ea typeface="Arial"/>
                <a:cs typeface="Arial"/>
              </a:defRPr>
            </a:lvl6pPr>
            <a:lvl7pPr>
              <a:defRPr sz="1350" b="0">
                <a:solidFill>
                  <a:srgbClr val="52676E"/>
                </a:solidFill>
                <a:latin typeface="Arial"/>
                <a:ea typeface="Arial"/>
                <a:cs typeface="Arial"/>
              </a:defRPr>
            </a:lvl7pPr>
            <a:lvl8pPr>
              <a:defRPr sz="1350" b="0">
                <a:solidFill>
                  <a:srgbClr val="52676E"/>
                </a:solidFill>
                <a:latin typeface="Arial"/>
                <a:ea typeface="Arial"/>
                <a:cs typeface="Arial"/>
              </a:defRPr>
            </a:lvl8pPr>
            <a:lvl9pPr>
              <a:defRPr sz="1350" b="0">
                <a:solidFill>
                  <a:srgbClr val="52676E"/>
                </a:solidFill>
                <a:latin typeface="Arial"/>
                <a:ea typeface="Arial"/>
                <a:cs typeface="Arial"/>
              </a:defRPr>
            </a:lvl9pPr>
          </a:lstStyle>
          <a:p xmlns:a="http://schemas.openxmlformats.org/drawingml/2006/main">
            <a:pPr>
              <a:defRPr sz="1350" b="0">
                <a:solidFill>
                  <a:srgbClr val="52676E"/>
                </a:solidFill>
                <a:latin typeface="Arial"/>
                <a:ea typeface="Arial"/>
                <a:cs typeface="Arial"/>
              </a:defRPr>
            </a:pPr>
            <a:r>
              <a:rPr sz="1350" b="0">
                <a:solidFill>
                  <a:srgbClr val="52676E"/>
                </a:solidFill>
                <a:latin typeface="Arial"/>
                <a:ea typeface="Arial"/>
                <a:cs typeface="Arial"/>
              </a:rPr>
              <a:t>5</a:t>
            </a:r>
          </a:p>
        </p:txBody>
      </p:sp>
      <p:sp>
        <p:nvSpPr>
          <p:cNvPr id="3" name="87 test examples, matched deterministic decoding">
            <a:extLst xmlns:a="http://schemas.openxmlformats.org/drawingml/2006/main">
              <a:ext uri="{FF2B5EF4-FFF2-40B4-BE49-F238E27FC236}">
                <a16:creationId xmlns:a16="http://schemas.microsoft.com/office/drawing/2014/main" id="{F906882A-2612-4F1A-8BBD-7808D5533B3C}"/>
              </a:ext>
            </a:extLst>
          </p:cNvPr>
          <p:cNvSpPr>
            <a:spLocks xmlns:a="http://schemas.openxmlformats.org/drawingml/2006/main" noGrp="1"/>
          </p:cNvSpPr>
          <p:nvPr/>
        </p:nvSpPr>
        <p:spPr>
          <a:xfrm xmlns:a="http://schemas.openxmlformats.org/drawingml/2006/main">
            <a:off x="609600" y="14382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2676E"/>
                </a:solidFill>
                <a:latin typeface="Arial"/>
                <a:ea typeface="Arial"/>
                <a:cs typeface="Arial"/>
              </a:defRPr>
            </a:defPPr>
            <a:lvl1pPr>
              <a:defRPr sz="2100" b="0">
                <a:solidFill>
                  <a:srgbClr val="52676E"/>
                </a:solidFill>
                <a:latin typeface="Arial"/>
                <a:ea typeface="Arial"/>
                <a:cs typeface="Arial"/>
              </a:defRPr>
            </a:lvl1pPr>
            <a:lvl2pPr>
              <a:defRPr sz="2100" b="0">
                <a:solidFill>
                  <a:srgbClr val="52676E"/>
                </a:solidFill>
                <a:latin typeface="Arial"/>
                <a:ea typeface="Arial"/>
                <a:cs typeface="Arial"/>
              </a:defRPr>
            </a:lvl2pPr>
            <a:lvl3pPr>
              <a:defRPr sz="2100" b="0">
                <a:solidFill>
                  <a:srgbClr val="52676E"/>
                </a:solidFill>
                <a:latin typeface="Arial"/>
                <a:ea typeface="Arial"/>
                <a:cs typeface="Arial"/>
              </a:defRPr>
            </a:lvl3pPr>
            <a:lvl4pPr>
              <a:defRPr sz="2100" b="0">
                <a:solidFill>
                  <a:srgbClr val="52676E"/>
                </a:solidFill>
                <a:latin typeface="Arial"/>
                <a:ea typeface="Arial"/>
                <a:cs typeface="Arial"/>
              </a:defRPr>
            </a:lvl4pPr>
            <a:lvl5pPr>
              <a:defRPr sz="2100" b="0">
                <a:solidFill>
                  <a:srgbClr val="52676E"/>
                </a:solidFill>
                <a:latin typeface="Arial"/>
                <a:ea typeface="Arial"/>
                <a:cs typeface="Arial"/>
              </a:defRPr>
            </a:lvl5pPr>
            <a:lvl6pPr>
              <a:defRPr sz="2100" b="0">
                <a:solidFill>
                  <a:srgbClr val="52676E"/>
                </a:solidFill>
                <a:latin typeface="Arial"/>
                <a:ea typeface="Arial"/>
                <a:cs typeface="Arial"/>
              </a:defRPr>
            </a:lvl6pPr>
            <a:lvl7pPr>
              <a:defRPr sz="2100" b="0">
                <a:solidFill>
                  <a:srgbClr val="52676E"/>
                </a:solidFill>
                <a:latin typeface="Arial"/>
                <a:ea typeface="Arial"/>
                <a:cs typeface="Arial"/>
              </a:defRPr>
            </a:lvl7pPr>
            <a:lvl8pPr>
              <a:defRPr sz="2100" b="0">
                <a:solidFill>
                  <a:srgbClr val="52676E"/>
                </a:solidFill>
                <a:latin typeface="Arial"/>
                <a:ea typeface="Arial"/>
                <a:cs typeface="Arial"/>
              </a:defRPr>
            </a:lvl8pPr>
            <a:lvl9pPr>
              <a:defRPr sz="2100" b="0">
                <a:solidFill>
                  <a:srgbClr val="52676E"/>
                </a:solidFill>
                <a:latin typeface="Arial"/>
                <a:ea typeface="Arial"/>
                <a:cs typeface="Arial"/>
              </a:defRPr>
            </a:lvl9pPr>
          </a:lstStyle>
          <a:p xmlns:a="http://schemas.openxmlformats.org/drawingml/2006/main">
            <a:pPr>
              <a:defRPr sz="2100" b="0">
                <a:solidFill>
                  <a:srgbClr val="52676E"/>
                </a:solidFill>
                <a:latin typeface="Arial"/>
                <a:ea typeface="Arial"/>
                <a:cs typeface="Arial"/>
              </a:defRPr>
            </a:pPr>
            <a:r>
              <a:rPr sz="2100" b="0">
                <a:solidFill>
                  <a:srgbClr val="52676E"/>
                </a:solidFill>
                <a:latin typeface="Arial"/>
                <a:ea typeface="Arial"/>
                <a:cs typeface="Arial"/>
              </a:rPr>
              <a:t>87 test examples, matched deterministic decoding</a:t>
            </a:r>
          </a:p>
        </p:txBody>
      </p:sp>
      <p:graphicFrame>
        <p:nvGraphicFramePr>
          <p:cNvPr id="4" name="">
            <a:extLst xmlns:a="http://schemas.openxmlformats.org/drawingml/2006/main">
              <a:ext uri="{FF2B5EF4-FFF2-40B4-BE49-F238E27FC236}">
                <a16:creationId xmlns:a16="http://schemas.microsoft.com/office/drawing/2014/main" id="{CA73309E-20F5-4C0F-B1D8-CBE685378801}"/>
              </a:ext>
            </a:extLst>
          </p:cNvPr>
          <p:cNvGraphicFramePr/>
          <p:nvPr/>
        </p:nvGraphicFramePr>
        <p:xfrm>
          <a:off xmlns:a="http://schemas.openxmlformats.org/drawingml/2006/main" x="609600" y="2238375"/>
          <a:ext xmlns:a="http://schemas.openxmlformats.org/drawingml/2006/main" cx="10972800" cy="3086100"/>
        </p:xfrm>
        <a:graphic xmlns:a="http://schemas.openxmlformats.org/drawingml/2006/main">
          <a:graphicData uri="http://schemas.openxmlformats.org/drawingml/2006/table">
            <a:tbl>
              <a:tblPr/>
              <a:tblGrid>
                <a:gridCol w="5867400"/>
                <a:gridCol w="2552700"/>
                <a:gridCol w="2552700"/>
              </a:tblGrid>
              <a:tr h="617220">
                <a:tc>
                  <a:txBody>
                    <a:bodyPr lIns="171450" tIns="114300" rIns="152400" bIns="114300"/>
                    <a:lstStyle/>
                    <a:p>
                      <a:r>
                        <a:rPr sz="2025" b="1">
                          <a:solidFill>
                            <a:srgbClr val="FFFFFF"/>
                          </a:solidFill>
                          <a:latin typeface="Arial"/>
                          <a:ea typeface="Arial"/>
                          <a:cs typeface="Arial"/>
                        </a:rPr>
                        <a:t>Metric</a:t>
                      </a:r>
                    </a:p>
                  </a:txBody>
                  <a:tcPr marL="91440" marR="91440" marT="45720" marB="45720" anchor="ctr">
                    <a:lnL w="6668">
                      <a:solidFill>
                        <a:srgbClr val="D8DFDC"/>
                      </a:solidFill>
                      <a:prstDash val="solid"/>
                    </a:lnL>
                    <a:lnR w="6668">
                      <a:solidFill>
                        <a:srgbClr val="D8DFDC"/>
                      </a:solidFill>
                      <a:prstDash val="solid"/>
                    </a:lnR>
                    <a:lnT w="6668">
                      <a:solidFill>
                        <a:srgbClr val="D8DFDC"/>
                      </a:solidFill>
                      <a:prstDash val="solid"/>
                    </a:lnT>
                    <a:lnB w="6668">
                      <a:solidFill>
                        <a:srgbClr val="D8DFDC"/>
                      </a:solidFill>
                      <a:prstDash val="solid"/>
                    </a:lnB>
                    <a:solidFill>
                      <a:srgbClr val="142F39"/>
                    </a:solidFill>
                  </a:tcPr>
                </a:tc>
                <a:tc>
                  <a:txBody>
                    <a:bodyPr lIns="171450" tIns="114300" rIns="152400" bIns="114300"/>
                    <a:lstStyle/>
                    <a:p>
                      <a:r>
                        <a:rPr sz="2025" b="1">
                          <a:solidFill>
                            <a:srgbClr val="FFFFFF"/>
                          </a:solidFill>
                          <a:latin typeface="Arial"/>
                          <a:ea typeface="Arial"/>
                          <a:cs typeface="Arial"/>
                        </a:rPr>
                        <a:t>BART</a:t>
                      </a:r>
                    </a:p>
                  </a:txBody>
                  <a:tcPr marL="91440" marR="91440" marT="45720" marB="45720" anchor="ctr">
                    <a:lnR w="6668">
                      <a:solidFill>
                        <a:srgbClr val="D8DFDC"/>
                      </a:solidFill>
                      <a:prstDash val="solid"/>
                    </a:lnR>
                    <a:lnT w="6668">
                      <a:solidFill>
                        <a:srgbClr val="D8DFDC"/>
                      </a:solidFill>
                      <a:prstDash val="solid"/>
                    </a:lnT>
                    <a:lnB w="6668">
                      <a:solidFill>
                        <a:srgbClr val="D8DFDC"/>
                      </a:solidFill>
                      <a:prstDash val="solid"/>
                    </a:lnB>
                    <a:solidFill>
                      <a:srgbClr val="142F39"/>
                    </a:solidFill>
                  </a:tcPr>
                </a:tc>
                <a:tc>
                  <a:txBody>
                    <a:bodyPr lIns="171450" tIns="114300" rIns="152400" bIns="114300"/>
                    <a:lstStyle/>
                    <a:p>
                      <a:r>
                        <a:rPr sz="2025" b="1">
                          <a:solidFill>
                            <a:srgbClr val="FFFFFF"/>
                          </a:solidFill>
                          <a:latin typeface="Arial"/>
                          <a:ea typeface="Arial"/>
                          <a:cs typeface="Arial"/>
                        </a:rPr>
                        <a:t>Frozen hybrid</a:t>
                      </a:r>
                    </a:p>
                  </a:txBody>
                  <a:tcPr marL="91440" marR="91440" marT="45720" marB="45720" anchor="ctr">
                    <a:lnR w="6668">
                      <a:solidFill>
                        <a:srgbClr val="D8DFDC"/>
                      </a:solidFill>
                      <a:prstDash val="solid"/>
                    </a:lnR>
                    <a:lnT w="6668">
                      <a:solidFill>
                        <a:srgbClr val="D8DFDC"/>
                      </a:solidFill>
                      <a:prstDash val="solid"/>
                    </a:lnT>
                    <a:lnB w="6668">
                      <a:solidFill>
                        <a:srgbClr val="D8DFDC"/>
                      </a:solidFill>
                      <a:prstDash val="solid"/>
                    </a:lnB>
                    <a:solidFill>
                      <a:srgbClr val="142F39"/>
                    </a:solidFill>
                  </a:tcPr>
                </a:tc>
              </a:tr>
              <a:tr h="617220">
                <a:tc>
                  <a:txBody>
                    <a:bodyPr lIns="171450" tIns="114300" rIns="152400" bIns="114300"/>
                    <a:lstStyle/>
                    <a:p>
                      <a:r>
                        <a:rPr sz="2025" b="1">
                          <a:solidFill>
                            <a:srgbClr val="142F39"/>
                          </a:solidFill>
                          <a:latin typeface="Arial"/>
                          <a:ea typeface="Arial"/>
                          <a:cs typeface="Arial"/>
                        </a:rPr>
                        <a:t>Whitespace ROUGE-L F1</a:t>
                      </a:r>
                    </a:p>
                  </a:txBody>
                  <a:tcPr marL="91440" marR="91440" marT="45720" marB="45720" anchor="ctr">
                    <a:lnL w="6668">
                      <a:solidFill>
                        <a:srgbClr val="D8DFDC"/>
                      </a:solidFill>
                      <a:prstDash val="solid"/>
                    </a:lnL>
                    <a:lnR w="6668">
                      <a:solidFill>
                        <a:srgbClr val="D8DFDC"/>
                      </a:solidFill>
                      <a:prstDash val="solid"/>
                    </a:lnR>
                    <a:lnB w="6668">
                      <a:solidFill>
                        <a:srgbClr val="D8DFDC"/>
                      </a:solidFill>
                      <a:prstDash val="solid"/>
                    </a:lnB>
                    <a:solidFill>
                      <a:srgbClr val="F5F3EE"/>
                    </a:solidFill>
                  </a:tcPr>
                </a:tc>
                <a:tc>
                  <a:txBody>
                    <a:bodyPr lIns="171450" tIns="114300" rIns="152400" bIns="114300"/>
                    <a:lstStyle/>
                    <a:p>
                      <a:r>
                        <a:rPr sz="2025" b="0">
                          <a:solidFill>
                            <a:srgbClr val="142F39"/>
                          </a:solidFill>
                          <a:latin typeface="Arial"/>
                          <a:ea typeface="Arial"/>
                          <a:cs typeface="Arial"/>
                        </a:rPr>
                        <a:t>0.758</a:t>
                      </a:r>
                    </a:p>
                  </a:txBody>
                  <a:tcPr marL="91440" marR="91440" marT="45720" marB="45720" anchor="ctr">
                    <a:lnR w="6668">
                      <a:solidFill>
                        <a:srgbClr val="D8DFDC"/>
                      </a:solidFill>
                      <a:prstDash val="solid"/>
                    </a:lnR>
                    <a:lnB w="6668">
                      <a:solidFill>
                        <a:srgbClr val="D8DFDC"/>
                      </a:solidFill>
                      <a:prstDash val="solid"/>
                    </a:lnB>
                    <a:solidFill>
                      <a:srgbClr val="F5F3EE"/>
                    </a:solidFill>
                  </a:tcPr>
                </a:tc>
                <a:tc>
                  <a:txBody>
                    <a:bodyPr lIns="171450" tIns="114300" rIns="152400" bIns="114300"/>
                    <a:lstStyle/>
                    <a:p>
                      <a:r>
                        <a:rPr sz="2025" b="0">
                          <a:solidFill>
                            <a:srgbClr val="142F39"/>
                          </a:solidFill>
                          <a:latin typeface="Arial"/>
                          <a:ea typeface="Arial"/>
                          <a:cs typeface="Arial"/>
                        </a:rPr>
                        <a:t>0.757</a:t>
                      </a:r>
                    </a:p>
                  </a:txBody>
                  <a:tcPr marL="91440" marR="91440" marT="45720" marB="45720" anchor="ctr">
                    <a:lnR w="6668">
                      <a:solidFill>
                        <a:srgbClr val="D8DFDC"/>
                      </a:solidFill>
                      <a:prstDash val="solid"/>
                    </a:lnR>
                    <a:lnB w="6668">
                      <a:solidFill>
                        <a:srgbClr val="D8DFDC"/>
                      </a:solidFill>
                      <a:prstDash val="solid"/>
                    </a:lnB>
                    <a:solidFill>
                      <a:srgbClr val="F5F3EE"/>
                    </a:solidFill>
                  </a:tcPr>
                </a:tc>
              </a:tr>
              <a:tr h="617220">
                <a:tc>
                  <a:txBody>
                    <a:bodyPr lIns="171450" tIns="114300" rIns="152400" bIns="114300"/>
                    <a:lstStyle/>
                    <a:p>
                      <a:r>
                        <a:rPr sz="2025" b="1">
                          <a:solidFill>
                            <a:srgbClr val="142F39"/>
                          </a:solidFill>
                          <a:latin typeface="Arial"/>
                          <a:ea typeface="Arial"/>
                          <a:cs typeface="Arial"/>
                        </a:rPr>
                        <a:t>Token cross-entropy</a:t>
                      </a:r>
                    </a:p>
                  </a:txBody>
                  <a:tcPr marL="91440" marR="91440" marT="45720" marB="45720" anchor="ctr">
                    <a:lnL w="6668">
                      <a:solidFill>
                        <a:srgbClr val="D8DFDC"/>
                      </a:solidFill>
                      <a:prstDash val="solid"/>
                    </a:lnL>
                    <a:lnR w="6668">
                      <a:solidFill>
                        <a:srgbClr val="D8DFDC"/>
                      </a:solidFill>
                      <a:prstDash val="solid"/>
                    </a:lnR>
                    <a:lnB w="6668">
                      <a:solidFill>
                        <a:srgbClr val="D8DFDC"/>
                      </a:solidFill>
                      <a:prstDash val="solid"/>
                    </a:lnB>
                    <a:solidFill>
                      <a:srgbClr val="F5F3EE"/>
                    </a:solidFill>
                  </a:tcPr>
                </a:tc>
                <a:tc>
                  <a:txBody>
                    <a:bodyPr lIns="171450" tIns="114300" rIns="152400" bIns="114300"/>
                    <a:lstStyle/>
                    <a:p>
                      <a:r>
                        <a:rPr sz="2025" b="0">
                          <a:solidFill>
                            <a:srgbClr val="142F39"/>
                          </a:solidFill>
                          <a:latin typeface="Arial"/>
                          <a:ea typeface="Arial"/>
                          <a:cs typeface="Arial"/>
                        </a:rPr>
                        <a:t>0.821</a:t>
                      </a:r>
                    </a:p>
                  </a:txBody>
                  <a:tcPr marL="91440" marR="91440" marT="45720" marB="45720" anchor="ctr">
                    <a:lnR w="6668">
                      <a:solidFill>
                        <a:srgbClr val="D8DFDC"/>
                      </a:solidFill>
                      <a:prstDash val="solid"/>
                    </a:lnR>
                    <a:lnB w="6668">
                      <a:solidFill>
                        <a:srgbClr val="D8DFDC"/>
                      </a:solidFill>
                      <a:prstDash val="solid"/>
                    </a:lnB>
                    <a:solidFill>
                      <a:srgbClr val="F5F3EE"/>
                    </a:solidFill>
                  </a:tcPr>
                </a:tc>
                <a:tc>
                  <a:txBody>
                    <a:bodyPr lIns="171450" tIns="114300" rIns="152400" bIns="114300"/>
                    <a:lstStyle/>
                    <a:p>
                      <a:r>
                        <a:rPr sz="2025" b="0">
                          <a:solidFill>
                            <a:srgbClr val="142F39"/>
                          </a:solidFill>
                          <a:latin typeface="Arial"/>
                          <a:ea typeface="Arial"/>
                          <a:cs typeface="Arial"/>
                        </a:rPr>
                        <a:t>0.780</a:t>
                      </a:r>
                    </a:p>
                  </a:txBody>
                  <a:tcPr marL="91440" marR="91440" marT="45720" marB="45720" anchor="ctr">
                    <a:lnR w="6668">
                      <a:solidFill>
                        <a:srgbClr val="D8DFDC"/>
                      </a:solidFill>
                      <a:prstDash val="solid"/>
                    </a:lnR>
                    <a:lnB w="6668">
                      <a:solidFill>
                        <a:srgbClr val="D8DFDC"/>
                      </a:solidFill>
                      <a:prstDash val="solid"/>
                    </a:lnB>
                    <a:solidFill>
                      <a:srgbClr val="F5F3EE"/>
                    </a:solidFill>
                  </a:tcPr>
                </a:tc>
              </a:tr>
              <a:tr h="617220">
                <a:tc>
                  <a:txBody>
                    <a:bodyPr lIns="171450" tIns="114300" rIns="152400" bIns="114300"/>
                    <a:lstStyle/>
                    <a:p>
                      <a:r>
                        <a:rPr sz="2025" b="1">
                          <a:solidFill>
                            <a:srgbClr val="142F39"/>
                          </a:solidFill>
                          <a:latin typeface="Arial"/>
                          <a:ea typeface="Arial"/>
                          <a:cs typeface="Arial"/>
                        </a:rPr>
                        <a:t>Number multiset preserved</a:t>
                      </a:r>
                    </a:p>
                  </a:txBody>
                  <a:tcPr marL="91440" marR="91440" marT="45720" marB="45720" anchor="ctr">
                    <a:lnL w="6668">
                      <a:solidFill>
                        <a:srgbClr val="D8DFDC"/>
                      </a:solidFill>
                      <a:prstDash val="solid"/>
                    </a:lnL>
                    <a:lnR w="6668">
                      <a:solidFill>
                        <a:srgbClr val="D8DFDC"/>
                      </a:solidFill>
                      <a:prstDash val="solid"/>
                    </a:lnR>
                    <a:lnB w="6668">
                      <a:solidFill>
                        <a:srgbClr val="D8DFDC"/>
                      </a:solidFill>
                      <a:prstDash val="solid"/>
                    </a:lnB>
                    <a:solidFill>
                      <a:srgbClr val="F5F3EE"/>
                    </a:solidFill>
                  </a:tcPr>
                </a:tc>
                <a:tc>
                  <a:txBody>
                    <a:bodyPr lIns="171450" tIns="114300" rIns="152400" bIns="114300"/>
                    <a:lstStyle/>
                    <a:p>
                      <a:r>
                        <a:rPr sz="2025" b="0">
                          <a:solidFill>
                            <a:srgbClr val="142F39"/>
                          </a:solidFill>
                          <a:latin typeface="Arial"/>
                          <a:ea typeface="Arial"/>
                          <a:cs typeface="Arial"/>
                        </a:rPr>
                        <a:t>87 / 87</a:t>
                      </a:r>
                    </a:p>
                  </a:txBody>
                  <a:tcPr marL="91440" marR="91440" marT="45720" marB="45720" anchor="ctr">
                    <a:lnR w="6668">
                      <a:solidFill>
                        <a:srgbClr val="D8DFDC"/>
                      </a:solidFill>
                      <a:prstDash val="solid"/>
                    </a:lnR>
                    <a:lnB w="6668">
                      <a:solidFill>
                        <a:srgbClr val="D8DFDC"/>
                      </a:solidFill>
                      <a:prstDash val="solid"/>
                    </a:lnB>
                    <a:solidFill>
                      <a:srgbClr val="F5F3EE"/>
                    </a:solidFill>
                  </a:tcPr>
                </a:tc>
                <a:tc>
                  <a:txBody>
                    <a:bodyPr lIns="171450" tIns="114300" rIns="152400" bIns="114300"/>
                    <a:lstStyle/>
                    <a:p>
                      <a:r>
                        <a:rPr sz="2025" b="0">
                          <a:solidFill>
                            <a:srgbClr val="142F39"/>
                          </a:solidFill>
                          <a:latin typeface="Arial"/>
                          <a:ea typeface="Arial"/>
                          <a:cs typeface="Arial"/>
                        </a:rPr>
                        <a:t>85 / 87</a:t>
                      </a:r>
                    </a:p>
                  </a:txBody>
                  <a:tcPr marL="91440" marR="91440" marT="45720" marB="45720" anchor="ctr">
                    <a:lnR w="6668">
                      <a:solidFill>
                        <a:srgbClr val="D8DFDC"/>
                      </a:solidFill>
                      <a:prstDash val="solid"/>
                    </a:lnR>
                    <a:lnB w="6668">
                      <a:solidFill>
                        <a:srgbClr val="D8DFDC"/>
                      </a:solidFill>
                      <a:prstDash val="solid"/>
                    </a:lnB>
                    <a:solidFill>
                      <a:srgbClr val="F5F3EE"/>
                    </a:solidFill>
                  </a:tcPr>
                </a:tc>
              </a:tr>
              <a:tr h="617220">
                <a:tc>
                  <a:txBody>
                    <a:bodyPr lIns="171450" tIns="114300" rIns="152400" bIns="114300"/>
                    <a:lstStyle/>
                    <a:p>
                      <a:r>
                        <a:rPr sz="2025" b="1">
                          <a:solidFill>
                            <a:srgbClr val="142F39"/>
                          </a:solidFill>
                          <a:latin typeface="Arial"/>
                          <a:ea typeface="Arial"/>
                          <a:cs typeface="Arial"/>
                        </a:rPr>
                        <a:t>Exact copies of source</a:t>
                      </a:r>
                    </a:p>
                  </a:txBody>
                  <a:tcPr marL="91440" marR="91440" marT="45720" marB="45720" anchor="ctr">
                    <a:lnL w="6668">
                      <a:solidFill>
                        <a:srgbClr val="D8DFDC"/>
                      </a:solidFill>
                      <a:prstDash val="solid"/>
                    </a:lnL>
                    <a:lnR w="6668">
                      <a:solidFill>
                        <a:srgbClr val="D8DFDC"/>
                      </a:solidFill>
                      <a:prstDash val="solid"/>
                    </a:lnR>
                    <a:lnB w="6668">
                      <a:solidFill>
                        <a:srgbClr val="D8DFDC"/>
                      </a:solidFill>
                      <a:prstDash val="solid"/>
                    </a:lnB>
                    <a:solidFill>
                      <a:srgbClr val="F5F3EE"/>
                    </a:solidFill>
                  </a:tcPr>
                </a:tc>
                <a:tc>
                  <a:txBody>
                    <a:bodyPr lIns="171450" tIns="114300" rIns="152400" bIns="114300"/>
                    <a:lstStyle/>
                    <a:p>
                      <a:r>
                        <a:rPr sz="2025" b="0">
                          <a:solidFill>
                            <a:srgbClr val="142F39"/>
                          </a:solidFill>
                          <a:latin typeface="Arial"/>
                          <a:ea typeface="Arial"/>
                          <a:cs typeface="Arial"/>
                        </a:rPr>
                        <a:t>24 / 87</a:t>
                      </a:r>
                    </a:p>
                  </a:txBody>
                  <a:tcPr marL="91440" marR="91440" marT="45720" marB="45720" anchor="ctr">
                    <a:lnR w="6668">
                      <a:solidFill>
                        <a:srgbClr val="D8DFDC"/>
                      </a:solidFill>
                      <a:prstDash val="solid"/>
                    </a:lnR>
                    <a:lnB w="6668">
                      <a:solidFill>
                        <a:srgbClr val="D8DFDC"/>
                      </a:solidFill>
                      <a:prstDash val="solid"/>
                    </a:lnB>
                    <a:solidFill>
                      <a:srgbClr val="F5F3EE"/>
                    </a:solidFill>
                  </a:tcPr>
                </a:tc>
                <a:tc>
                  <a:txBody>
                    <a:bodyPr lIns="171450" tIns="114300" rIns="152400" bIns="114300"/>
                    <a:lstStyle/>
                    <a:p>
                      <a:r>
                        <a:rPr sz="2025" b="0">
                          <a:solidFill>
                            <a:srgbClr val="142F39"/>
                          </a:solidFill>
                          <a:latin typeface="Arial"/>
                          <a:ea typeface="Arial"/>
                          <a:cs typeface="Arial"/>
                        </a:rPr>
                        <a:t>24 / 87</a:t>
                      </a:r>
                    </a:p>
                  </a:txBody>
                  <a:tcPr marL="91440" marR="91440" marT="45720" marB="45720" anchor="ctr">
                    <a:lnR w="6668">
                      <a:solidFill>
                        <a:srgbClr val="D8DFDC"/>
                      </a:solidFill>
                      <a:prstDash val="solid"/>
                    </a:lnR>
                    <a:lnB w="6668">
                      <a:solidFill>
                        <a:srgbClr val="D8DFDC"/>
                      </a:solidFill>
                      <a:prstDash val="solid"/>
                    </a:lnB>
                    <a:solidFill>
                      <a:srgbClr val="F5F3EE"/>
                    </a:solidFill>
                  </a:tcPr>
                </a:tc>
              </a:tr>
            </a:tbl>
          </a:graphicData>
        </a:graphic>
      </p:graphicFrame>
      <p:sp>
        <p:nvSpPr>
          <p:cNvPr id="5" name="Academic tone improvement remains unverified">
            <a:extLst xmlns:a="http://schemas.openxmlformats.org/drawingml/2006/main">
              <a:ext uri="{FF2B5EF4-FFF2-40B4-BE49-F238E27FC236}">
                <a16:creationId xmlns:a16="http://schemas.microsoft.com/office/drawing/2014/main" id="{38B0053E-EBCC-4BBF-86E4-E3C06D67F5DB}"/>
              </a:ext>
            </a:extLst>
          </p:cNvPr>
          <p:cNvSpPr>
            <a:spLocks xmlns:a="http://schemas.openxmlformats.org/drawingml/2006/main" noGrp="1"/>
          </p:cNvSpPr>
          <p:nvPr/>
        </p:nvSpPr>
        <p:spPr>
          <a:xfrm xmlns:a="http://schemas.openxmlformats.org/drawingml/2006/main">
            <a:off x="609600" y="55911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3"/>
                </a:solidFill>
                <a:latin typeface="Arial"/>
                <a:ea typeface="Arial"/>
                <a:cs typeface="Arial"/>
              </a:defRPr>
            </a:defPPr>
            <a:lvl1pPr>
              <a:defRPr sz="2250" b="1">
                <a:solidFill>
                  <a:srgbClr val="087E83"/>
                </a:solidFill>
                <a:latin typeface="Arial"/>
                <a:ea typeface="Arial"/>
                <a:cs typeface="Arial"/>
              </a:defRPr>
            </a:lvl1pPr>
            <a:lvl2pPr>
              <a:defRPr sz="2250" b="1">
                <a:solidFill>
                  <a:srgbClr val="087E83"/>
                </a:solidFill>
                <a:latin typeface="Arial"/>
                <a:ea typeface="Arial"/>
                <a:cs typeface="Arial"/>
              </a:defRPr>
            </a:lvl2pPr>
            <a:lvl3pPr>
              <a:defRPr sz="2250" b="1">
                <a:solidFill>
                  <a:srgbClr val="087E83"/>
                </a:solidFill>
                <a:latin typeface="Arial"/>
                <a:ea typeface="Arial"/>
                <a:cs typeface="Arial"/>
              </a:defRPr>
            </a:lvl3pPr>
            <a:lvl4pPr>
              <a:defRPr sz="2250" b="1">
                <a:solidFill>
                  <a:srgbClr val="087E83"/>
                </a:solidFill>
                <a:latin typeface="Arial"/>
                <a:ea typeface="Arial"/>
                <a:cs typeface="Arial"/>
              </a:defRPr>
            </a:lvl4pPr>
            <a:lvl5pPr>
              <a:defRPr sz="2250" b="1">
                <a:solidFill>
                  <a:srgbClr val="087E83"/>
                </a:solidFill>
                <a:latin typeface="Arial"/>
                <a:ea typeface="Arial"/>
                <a:cs typeface="Arial"/>
              </a:defRPr>
            </a:lvl5pPr>
            <a:lvl6pPr>
              <a:defRPr sz="2250" b="1">
                <a:solidFill>
                  <a:srgbClr val="087E83"/>
                </a:solidFill>
                <a:latin typeface="Arial"/>
                <a:ea typeface="Arial"/>
                <a:cs typeface="Arial"/>
              </a:defRPr>
            </a:lvl6pPr>
            <a:lvl7pPr>
              <a:defRPr sz="2250" b="1">
                <a:solidFill>
                  <a:srgbClr val="087E83"/>
                </a:solidFill>
                <a:latin typeface="Arial"/>
                <a:ea typeface="Arial"/>
                <a:cs typeface="Arial"/>
              </a:defRPr>
            </a:lvl7pPr>
            <a:lvl8pPr>
              <a:defRPr sz="2250" b="1">
                <a:solidFill>
                  <a:srgbClr val="087E83"/>
                </a:solidFill>
                <a:latin typeface="Arial"/>
                <a:ea typeface="Arial"/>
                <a:cs typeface="Arial"/>
              </a:defRPr>
            </a:lvl8pPr>
            <a:lvl9pPr>
              <a:defRPr sz="2250" b="1">
                <a:solidFill>
                  <a:srgbClr val="087E83"/>
                </a:solidFill>
                <a:latin typeface="Arial"/>
                <a:ea typeface="Arial"/>
                <a:cs typeface="Arial"/>
              </a:defRPr>
            </a:lvl9pPr>
          </a:lstStyle>
          <a:p xmlns:a="http://schemas.openxmlformats.org/drawingml/2006/main">
            <a:pPr>
              <a:defRPr sz="2250" b="1">
                <a:solidFill>
                  <a:srgbClr val="087E83"/>
                </a:solidFill>
                <a:latin typeface="Arial"/>
                <a:ea typeface="Arial"/>
                <a:cs typeface="Arial"/>
              </a:defRPr>
            </a:pPr>
            <a:r>
              <a:rPr sz="2250" b="1">
                <a:solidFill>
                  <a:srgbClr val="087E83"/>
                </a:solidFill>
                <a:latin typeface="Arial"/>
                <a:ea typeface="Arial"/>
                <a:cs typeface="Arial"/>
              </a:rPr>
              <a:t>Academic tone improvement remains unverified</a:t>
            </a:r>
          </a:p>
        </p:txBody>
      </p:sp>
      <p:sp>
        <p:nvSpPr>
          <p:cNvPr id="6" name="Input limit: 128 tokens. Output limit: 48 new tokens. Number">
            <a:extLst xmlns:a="http://schemas.openxmlformats.org/drawingml/2006/main">
              <a:ext uri="{FF2B5EF4-FFF2-40B4-BE49-F238E27FC236}">
                <a16:creationId xmlns:a16="http://schemas.microsoft.com/office/drawing/2014/main" id="{7E3ED3A4-5294-4EB4-A0A2-A380390A3F91}"/>
              </a:ext>
            </a:extLst>
          </p:cNvPr>
          <p:cNvSpPr>
            <a:spLocks xmlns:a="http://schemas.openxmlformats.org/drawingml/2006/main" noGrp="1"/>
          </p:cNvSpPr>
          <p:nvPr/>
        </p:nvSpPr>
        <p:spPr>
          <a:xfrm xmlns:a="http://schemas.openxmlformats.org/drawingml/2006/main">
            <a:off x="609600" y="6172200"/>
            <a:ext cx="1024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76E"/>
                </a:solidFill>
                <a:latin typeface="Arial"/>
                <a:ea typeface="Arial"/>
                <a:cs typeface="Arial"/>
              </a:defRPr>
            </a:defPPr>
            <a:lvl1pPr>
              <a:defRPr sz="1350" b="0">
                <a:solidFill>
                  <a:srgbClr val="52676E"/>
                </a:solidFill>
                <a:latin typeface="Arial"/>
                <a:ea typeface="Arial"/>
                <a:cs typeface="Arial"/>
              </a:defRPr>
            </a:lvl1pPr>
            <a:lvl2pPr>
              <a:defRPr sz="1350" b="0">
                <a:solidFill>
                  <a:srgbClr val="52676E"/>
                </a:solidFill>
                <a:latin typeface="Arial"/>
                <a:ea typeface="Arial"/>
                <a:cs typeface="Arial"/>
              </a:defRPr>
            </a:lvl2pPr>
            <a:lvl3pPr>
              <a:defRPr sz="1350" b="0">
                <a:solidFill>
                  <a:srgbClr val="52676E"/>
                </a:solidFill>
                <a:latin typeface="Arial"/>
                <a:ea typeface="Arial"/>
                <a:cs typeface="Arial"/>
              </a:defRPr>
            </a:lvl3pPr>
            <a:lvl4pPr>
              <a:defRPr sz="1350" b="0">
                <a:solidFill>
                  <a:srgbClr val="52676E"/>
                </a:solidFill>
                <a:latin typeface="Arial"/>
                <a:ea typeface="Arial"/>
                <a:cs typeface="Arial"/>
              </a:defRPr>
            </a:lvl4pPr>
            <a:lvl5pPr>
              <a:defRPr sz="1350" b="0">
                <a:solidFill>
                  <a:srgbClr val="52676E"/>
                </a:solidFill>
                <a:latin typeface="Arial"/>
                <a:ea typeface="Arial"/>
                <a:cs typeface="Arial"/>
              </a:defRPr>
            </a:lvl5pPr>
            <a:lvl6pPr>
              <a:defRPr sz="1350" b="0">
                <a:solidFill>
                  <a:srgbClr val="52676E"/>
                </a:solidFill>
                <a:latin typeface="Arial"/>
                <a:ea typeface="Arial"/>
                <a:cs typeface="Arial"/>
              </a:defRPr>
            </a:lvl6pPr>
            <a:lvl7pPr>
              <a:defRPr sz="1350" b="0">
                <a:solidFill>
                  <a:srgbClr val="52676E"/>
                </a:solidFill>
                <a:latin typeface="Arial"/>
                <a:ea typeface="Arial"/>
                <a:cs typeface="Arial"/>
              </a:defRPr>
            </a:lvl7pPr>
            <a:lvl8pPr>
              <a:defRPr sz="1350" b="0">
                <a:solidFill>
                  <a:srgbClr val="52676E"/>
                </a:solidFill>
                <a:latin typeface="Arial"/>
                <a:ea typeface="Arial"/>
                <a:cs typeface="Arial"/>
              </a:defRPr>
            </a:lvl8pPr>
            <a:lvl9pPr>
              <a:defRPr sz="1350" b="0">
                <a:solidFill>
                  <a:srgbClr val="52676E"/>
                </a:solidFill>
                <a:latin typeface="Arial"/>
                <a:ea typeface="Arial"/>
                <a:cs typeface="Arial"/>
              </a:defRPr>
            </a:lvl9pPr>
          </a:lstStyle>
          <a:p xmlns:a="http://schemas.openxmlformats.org/drawingml/2006/main">
            <a:pPr>
              <a:defRPr sz="1350" b="0">
                <a:solidFill>
                  <a:srgbClr val="52676E"/>
                </a:solidFill>
                <a:latin typeface="Arial"/>
                <a:ea typeface="Arial"/>
                <a:cs typeface="Arial"/>
              </a:defRPr>
            </a:pPr>
            <a:r>
              <a:rPr sz="1350" b="0">
                <a:solidFill>
                  <a:srgbClr val="52676E"/>
                </a:solidFill>
                <a:latin typeface="Arial"/>
                <a:ea typeface="Arial"/>
                <a:cs typeface="Arial"/>
              </a:rPr>
              <a:t>Input limit: 128 tokens. Output limit: 48 new tokens. Number checks do not establish meaning.</a:t>
            </a:r>
          </a:p>
        </p:txBody>
      </p:sp>
    </p:spTree>
    <p:extLst>
      <p:ext uri="{BB962C8B-B14F-4D97-AF65-F5344CB8AC3E}">
        <p14:creationId xmlns:p14="http://schemas.microsoft.com/office/powerpoint/2010/main" val="1992530555"/>
      </p:ext>
    </p:extLst>
  </p:cSld>
</p:sld>
</file>

<file path=ppt/slides/slide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0" name="A high score can still miss the revision">
            <a:extLst xmlns:a="http://schemas.openxmlformats.org/drawingml/2006/main">
              <a:ext uri="{FF2B5EF4-FFF2-40B4-BE49-F238E27FC236}">
                <a16:creationId xmlns:a16="http://schemas.microsoft.com/office/drawing/2014/main" id="{079397DA-FFFC-4B98-B83D-182DB5466E05}"/>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142F39"/>
                </a:solidFill>
                <a:latin typeface="Arial"/>
                <a:ea typeface="Arial"/>
                <a:cs typeface="Arial"/>
              </a:defRPr>
            </a:defPPr>
            <a:lvl1pPr>
              <a:defRPr sz="3450" b="1">
                <a:solidFill>
                  <a:srgbClr val="142F39"/>
                </a:solidFill>
                <a:latin typeface="Arial"/>
                <a:ea typeface="Arial"/>
                <a:cs typeface="Arial"/>
              </a:defRPr>
            </a:lvl1pPr>
            <a:lvl2pPr>
              <a:defRPr sz="3450" b="1">
                <a:solidFill>
                  <a:srgbClr val="142F39"/>
                </a:solidFill>
                <a:latin typeface="Arial"/>
                <a:ea typeface="Arial"/>
                <a:cs typeface="Arial"/>
              </a:defRPr>
            </a:lvl2pPr>
            <a:lvl3pPr>
              <a:defRPr sz="3450" b="1">
                <a:solidFill>
                  <a:srgbClr val="142F39"/>
                </a:solidFill>
                <a:latin typeface="Arial"/>
                <a:ea typeface="Arial"/>
                <a:cs typeface="Arial"/>
              </a:defRPr>
            </a:lvl3pPr>
            <a:lvl4pPr>
              <a:defRPr sz="3450" b="1">
                <a:solidFill>
                  <a:srgbClr val="142F39"/>
                </a:solidFill>
                <a:latin typeface="Arial"/>
                <a:ea typeface="Arial"/>
                <a:cs typeface="Arial"/>
              </a:defRPr>
            </a:lvl4pPr>
            <a:lvl5pPr>
              <a:defRPr sz="3450" b="1">
                <a:solidFill>
                  <a:srgbClr val="142F39"/>
                </a:solidFill>
                <a:latin typeface="Arial"/>
                <a:ea typeface="Arial"/>
                <a:cs typeface="Arial"/>
              </a:defRPr>
            </a:lvl5pPr>
            <a:lvl6pPr>
              <a:defRPr sz="3450" b="1">
                <a:solidFill>
                  <a:srgbClr val="142F39"/>
                </a:solidFill>
                <a:latin typeface="Arial"/>
                <a:ea typeface="Arial"/>
                <a:cs typeface="Arial"/>
              </a:defRPr>
            </a:lvl6pPr>
            <a:lvl7pPr>
              <a:defRPr sz="3450" b="1">
                <a:solidFill>
                  <a:srgbClr val="142F39"/>
                </a:solidFill>
                <a:latin typeface="Arial"/>
                <a:ea typeface="Arial"/>
                <a:cs typeface="Arial"/>
              </a:defRPr>
            </a:lvl7pPr>
            <a:lvl8pPr>
              <a:defRPr sz="3450" b="1">
                <a:solidFill>
                  <a:srgbClr val="142F39"/>
                </a:solidFill>
                <a:latin typeface="Arial"/>
                <a:ea typeface="Arial"/>
                <a:cs typeface="Arial"/>
              </a:defRPr>
            </a:lvl8pPr>
            <a:lvl9pPr>
              <a:defRPr sz="3450" b="1">
                <a:solidFill>
                  <a:srgbClr val="142F39"/>
                </a:solidFill>
                <a:latin typeface="Arial"/>
                <a:ea typeface="Arial"/>
                <a:cs typeface="Arial"/>
              </a:defRPr>
            </a:lvl9pPr>
          </a:lstStyle>
          <a:p xmlns:a="http://schemas.openxmlformats.org/drawingml/2006/main">
            <a:pPr>
              <a:defRPr sz="3450" b="1">
                <a:solidFill>
                  <a:srgbClr val="142F39"/>
                </a:solidFill>
                <a:latin typeface="Arial"/>
                <a:ea typeface="Arial"/>
                <a:cs typeface="Arial"/>
              </a:defRPr>
            </a:pPr>
            <a:r>
              <a:rPr sz="3450" b="1">
                <a:solidFill>
                  <a:srgbClr val="142F39"/>
                </a:solidFill>
                <a:latin typeface="Arial"/>
                <a:ea typeface="Arial"/>
                <a:cs typeface="Arial"/>
              </a:rPr>
              <a:t>A high score can still miss the revision</a:t>
            </a:r>
          </a:p>
        </p:txBody>
      </p:sp>
      <p:sp>
        <p:nvSpPr>
          <p:cNvPr id="2" name="6">
            <a:extLst xmlns:a="http://schemas.openxmlformats.org/drawingml/2006/main">
              <a:ext uri="{FF2B5EF4-FFF2-40B4-BE49-F238E27FC236}">
                <a16:creationId xmlns:a16="http://schemas.microsoft.com/office/drawing/2014/main" id="{A00F8753-FDB1-4601-B9DC-4E9D019B2464}"/>
              </a:ext>
            </a:extLst>
          </p:cNvPr>
          <p:cNvSpPr>
            <a:spLocks xmlns:a="http://schemas.openxmlformats.org/drawingml/2006/main" noGrp="1"/>
          </p:cNvSpPr>
          <p:nvPr/>
        </p:nvSpPr>
        <p:spPr>
          <a:xfrm xmlns:a="http://schemas.openxmlformats.org/drawingml/2006/main">
            <a:off x="11182350" y="63150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76E"/>
                </a:solidFill>
                <a:latin typeface="Arial"/>
                <a:ea typeface="Arial"/>
                <a:cs typeface="Arial"/>
              </a:defRPr>
            </a:defPPr>
            <a:lvl1pPr>
              <a:defRPr sz="1350" b="0">
                <a:solidFill>
                  <a:srgbClr val="52676E"/>
                </a:solidFill>
                <a:latin typeface="Arial"/>
                <a:ea typeface="Arial"/>
                <a:cs typeface="Arial"/>
              </a:defRPr>
            </a:lvl1pPr>
            <a:lvl2pPr>
              <a:defRPr sz="1350" b="0">
                <a:solidFill>
                  <a:srgbClr val="52676E"/>
                </a:solidFill>
                <a:latin typeface="Arial"/>
                <a:ea typeface="Arial"/>
                <a:cs typeface="Arial"/>
              </a:defRPr>
            </a:lvl2pPr>
            <a:lvl3pPr>
              <a:defRPr sz="1350" b="0">
                <a:solidFill>
                  <a:srgbClr val="52676E"/>
                </a:solidFill>
                <a:latin typeface="Arial"/>
                <a:ea typeface="Arial"/>
                <a:cs typeface="Arial"/>
              </a:defRPr>
            </a:lvl3pPr>
            <a:lvl4pPr>
              <a:defRPr sz="1350" b="0">
                <a:solidFill>
                  <a:srgbClr val="52676E"/>
                </a:solidFill>
                <a:latin typeface="Arial"/>
                <a:ea typeface="Arial"/>
                <a:cs typeface="Arial"/>
              </a:defRPr>
            </a:lvl4pPr>
            <a:lvl5pPr>
              <a:defRPr sz="1350" b="0">
                <a:solidFill>
                  <a:srgbClr val="52676E"/>
                </a:solidFill>
                <a:latin typeface="Arial"/>
                <a:ea typeface="Arial"/>
                <a:cs typeface="Arial"/>
              </a:defRPr>
            </a:lvl5pPr>
            <a:lvl6pPr>
              <a:defRPr sz="1350" b="0">
                <a:solidFill>
                  <a:srgbClr val="52676E"/>
                </a:solidFill>
                <a:latin typeface="Arial"/>
                <a:ea typeface="Arial"/>
                <a:cs typeface="Arial"/>
              </a:defRPr>
            </a:lvl6pPr>
            <a:lvl7pPr>
              <a:defRPr sz="1350" b="0">
                <a:solidFill>
                  <a:srgbClr val="52676E"/>
                </a:solidFill>
                <a:latin typeface="Arial"/>
                <a:ea typeface="Arial"/>
                <a:cs typeface="Arial"/>
              </a:defRPr>
            </a:lvl7pPr>
            <a:lvl8pPr>
              <a:defRPr sz="1350" b="0">
                <a:solidFill>
                  <a:srgbClr val="52676E"/>
                </a:solidFill>
                <a:latin typeface="Arial"/>
                <a:ea typeface="Arial"/>
                <a:cs typeface="Arial"/>
              </a:defRPr>
            </a:lvl8pPr>
            <a:lvl9pPr>
              <a:defRPr sz="1350" b="0">
                <a:solidFill>
                  <a:srgbClr val="52676E"/>
                </a:solidFill>
                <a:latin typeface="Arial"/>
                <a:ea typeface="Arial"/>
                <a:cs typeface="Arial"/>
              </a:defRPr>
            </a:lvl9pPr>
          </a:lstStyle>
          <a:p xmlns:a="http://schemas.openxmlformats.org/drawingml/2006/main">
            <a:pPr>
              <a:defRPr sz="1350" b="0">
                <a:solidFill>
                  <a:srgbClr val="52676E"/>
                </a:solidFill>
                <a:latin typeface="Arial"/>
                <a:ea typeface="Arial"/>
                <a:cs typeface="Arial"/>
              </a:defRPr>
            </a:pPr>
            <a:r>
              <a:rPr sz="1350" b="0">
                <a:solidFill>
                  <a:srgbClr val="52676E"/>
                </a:solidFill>
                <a:latin typeface="Arial"/>
                <a:ea typeface="Arial"/>
                <a:cs typeface="Arial"/>
              </a:rPr>
              <a:t>6</a:t>
            </a:r>
          </a:p>
        </p:txBody>
      </p:sp>
      <p:sp>
        <p:nvSpPr>
          <p:cNvPr id="3" name="SOURCE">
            <a:extLst xmlns:a="http://schemas.openxmlformats.org/drawingml/2006/main">
              <a:ext uri="{FF2B5EF4-FFF2-40B4-BE49-F238E27FC236}">
                <a16:creationId xmlns:a16="http://schemas.microsoft.com/office/drawing/2014/main" id="{9DCE762E-CB40-4E1B-9B2C-8703D8DA0745}"/>
              </a:ext>
            </a:extLst>
          </p:cNvPr>
          <p:cNvSpPr>
            <a:spLocks xmlns:a="http://schemas.openxmlformats.org/drawingml/2006/main" noGrp="1"/>
          </p:cNvSpPr>
          <p:nvPr/>
        </p:nvSpPr>
        <p:spPr>
          <a:xfrm xmlns:a="http://schemas.openxmlformats.org/drawingml/2006/main">
            <a:off x="609600" y="16573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52676E"/>
                </a:solidFill>
                <a:latin typeface="Arial"/>
                <a:ea typeface="Arial"/>
                <a:cs typeface="Arial"/>
              </a:defRPr>
            </a:defPPr>
            <a:lvl1pPr>
              <a:defRPr sz="1575" b="1">
                <a:solidFill>
                  <a:srgbClr val="52676E"/>
                </a:solidFill>
                <a:latin typeface="Arial"/>
                <a:ea typeface="Arial"/>
                <a:cs typeface="Arial"/>
              </a:defRPr>
            </a:lvl1pPr>
            <a:lvl2pPr>
              <a:defRPr sz="1575" b="1">
                <a:solidFill>
                  <a:srgbClr val="52676E"/>
                </a:solidFill>
                <a:latin typeface="Arial"/>
                <a:ea typeface="Arial"/>
                <a:cs typeface="Arial"/>
              </a:defRPr>
            </a:lvl2pPr>
            <a:lvl3pPr>
              <a:defRPr sz="1575" b="1">
                <a:solidFill>
                  <a:srgbClr val="52676E"/>
                </a:solidFill>
                <a:latin typeface="Arial"/>
                <a:ea typeface="Arial"/>
                <a:cs typeface="Arial"/>
              </a:defRPr>
            </a:lvl3pPr>
            <a:lvl4pPr>
              <a:defRPr sz="1575" b="1">
                <a:solidFill>
                  <a:srgbClr val="52676E"/>
                </a:solidFill>
                <a:latin typeface="Arial"/>
                <a:ea typeface="Arial"/>
                <a:cs typeface="Arial"/>
              </a:defRPr>
            </a:lvl4pPr>
            <a:lvl5pPr>
              <a:defRPr sz="1575" b="1">
                <a:solidFill>
                  <a:srgbClr val="52676E"/>
                </a:solidFill>
                <a:latin typeface="Arial"/>
                <a:ea typeface="Arial"/>
                <a:cs typeface="Arial"/>
              </a:defRPr>
            </a:lvl5pPr>
            <a:lvl6pPr>
              <a:defRPr sz="1575" b="1">
                <a:solidFill>
                  <a:srgbClr val="52676E"/>
                </a:solidFill>
                <a:latin typeface="Arial"/>
                <a:ea typeface="Arial"/>
                <a:cs typeface="Arial"/>
              </a:defRPr>
            </a:lvl6pPr>
            <a:lvl7pPr>
              <a:defRPr sz="1575" b="1">
                <a:solidFill>
                  <a:srgbClr val="52676E"/>
                </a:solidFill>
                <a:latin typeface="Arial"/>
                <a:ea typeface="Arial"/>
                <a:cs typeface="Arial"/>
              </a:defRPr>
            </a:lvl7pPr>
            <a:lvl8pPr>
              <a:defRPr sz="1575" b="1">
                <a:solidFill>
                  <a:srgbClr val="52676E"/>
                </a:solidFill>
                <a:latin typeface="Arial"/>
                <a:ea typeface="Arial"/>
                <a:cs typeface="Arial"/>
              </a:defRPr>
            </a:lvl8pPr>
            <a:lvl9pPr>
              <a:defRPr sz="1575" b="1">
                <a:solidFill>
                  <a:srgbClr val="52676E"/>
                </a:solidFill>
                <a:latin typeface="Arial"/>
                <a:ea typeface="Arial"/>
                <a:cs typeface="Arial"/>
              </a:defRPr>
            </a:lvl9pPr>
          </a:lstStyle>
          <a:p xmlns:a="http://schemas.openxmlformats.org/drawingml/2006/main">
            <a:pPr>
              <a:defRPr sz="1575" b="1">
                <a:solidFill>
                  <a:srgbClr val="52676E"/>
                </a:solidFill>
                <a:latin typeface="Arial"/>
                <a:ea typeface="Arial"/>
                <a:cs typeface="Arial"/>
              </a:defRPr>
            </a:pPr>
            <a:r>
              <a:rPr sz="1575" b="1">
                <a:solidFill>
                  <a:srgbClr val="52676E"/>
                </a:solidFill>
                <a:latin typeface="Arial"/>
                <a:ea typeface="Arial"/>
                <a:cs typeface="Arial"/>
              </a:rPr>
              <a:t>SOURCE</a:t>
            </a:r>
          </a:p>
        </p:txBody>
      </p:sp>
      <p:sp>
        <p:nvSpPr>
          <p:cNvPr id="4" name="We find that these &quot;tails&quot; are closely related to the positi">
            <a:extLst xmlns:a="http://schemas.openxmlformats.org/drawingml/2006/main">
              <a:ext uri="{FF2B5EF4-FFF2-40B4-BE49-F238E27FC236}">
                <a16:creationId xmlns:a16="http://schemas.microsoft.com/office/drawing/2014/main" id="{AC6FD2EE-6F83-4991-813F-5F2E1C6BE2AF}"/>
              </a:ext>
            </a:extLst>
          </p:cNvPr>
          <p:cNvSpPr>
            <a:spLocks xmlns:a="http://schemas.openxmlformats.org/drawingml/2006/main" noGrp="1"/>
          </p:cNvSpPr>
          <p:nvPr/>
        </p:nvSpPr>
        <p:spPr>
          <a:xfrm xmlns:a="http://schemas.openxmlformats.org/drawingml/2006/main">
            <a:off x="609600" y="20764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42F39"/>
                </a:solidFill>
                <a:latin typeface="Arial"/>
                <a:ea typeface="Arial"/>
                <a:cs typeface="Arial"/>
              </a:defRPr>
            </a:defPPr>
            <a:lvl1pPr>
              <a:defRPr sz="2325" b="0">
                <a:solidFill>
                  <a:srgbClr val="142F39"/>
                </a:solidFill>
                <a:latin typeface="Arial"/>
                <a:ea typeface="Arial"/>
                <a:cs typeface="Arial"/>
              </a:defRPr>
            </a:lvl1pPr>
            <a:lvl2pPr>
              <a:defRPr sz="2325" b="0">
                <a:solidFill>
                  <a:srgbClr val="142F39"/>
                </a:solidFill>
                <a:latin typeface="Arial"/>
                <a:ea typeface="Arial"/>
                <a:cs typeface="Arial"/>
              </a:defRPr>
            </a:lvl2pPr>
            <a:lvl3pPr>
              <a:defRPr sz="2325" b="0">
                <a:solidFill>
                  <a:srgbClr val="142F39"/>
                </a:solidFill>
                <a:latin typeface="Arial"/>
                <a:ea typeface="Arial"/>
                <a:cs typeface="Arial"/>
              </a:defRPr>
            </a:lvl3pPr>
            <a:lvl4pPr>
              <a:defRPr sz="2325" b="0">
                <a:solidFill>
                  <a:srgbClr val="142F39"/>
                </a:solidFill>
                <a:latin typeface="Arial"/>
                <a:ea typeface="Arial"/>
                <a:cs typeface="Arial"/>
              </a:defRPr>
            </a:lvl4pPr>
            <a:lvl5pPr>
              <a:defRPr sz="2325" b="0">
                <a:solidFill>
                  <a:srgbClr val="142F39"/>
                </a:solidFill>
                <a:latin typeface="Arial"/>
                <a:ea typeface="Arial"/>
                <a:cs typeface="Arial"/>
              </a:defRPr>
            </a:lvl5pPr>
            <a:lvl6pPr>
              <a:defRPr sz="2325" b="0">
                <a:solidFill>
                  <a:srgbClr val="142F39"/>
                </a:solidFill>
                <a:latin typeface="Arial"/>
                <a:ea typeface="Arial"/>
                <a:cs typeface="Arial"/>
              </a:defRPr>
            </a:lvl6pPr>
            <a:lvl7pPr>
              <a:defRPr sz="2325" b="0">
                <a:solidFill>
                  <a:srgbClr val="142F39"/>
                </a:solidFill>
                <a:latin typeface="Arial"/>
                <a:ea typeface="Arial"/>
                <a:cs typeface="Arial"/>
              </a:defRPr>
            </a:lvl7pPr>
            <a:lvl8pPr>
              <a:defRPr sz="2325" b="0">
                <a:solidFill>
                  <a:srgbClr val="142F39"/>
                </a:solidFill>
                <a:latin typeface="Arial"/>
                <a:ea typeface="Arial"/>
                <a:cs typeface="Arial"/>
              </a:defRPr>
            </a:lvl8pPr>
            <a:lvl9pPr>
              <a:defRPr sz="2325" b="0">
                <a:solidFill>
                  <a:srgbClr val="142F39"/>
                </a:solidFill>
                <a:latin typeface="Arial"/>
                <a:ea typeface="Arial"/>
                <a:cs typeface="Arial"/>
              </a:defRPr>
            </a:lvl9pPr>
          </a:lstStyle>
          <a:p xmlns:a="http://schemas.openxmlformats.org/drawingml/2006/main">
            <a:pPr>
              <a:defRPr sz="2325" b="0">
                <a:solidFill>
                  <a:srgbClr val="142F39"/>
                </a:solidFill>
                <a:latin typeface="Arial"/>
                <a:ea typeface="Arial"/>
                <a:cs typeface="Arial"/>
              </a:defRPr>
            </a:pPr>
            <a:r>
              <a:rPr sz="2325" b="0">
                <a:solidFill>
                  <a:srgbClr val="142F39"/>
                </a:solidFill>
                <a:latin typeface="Arial"/>
                <a:ea typeface="Arial"/>
                <a:cs typeface="Arial"/>
              </a:rPr>
              <a:t>We find that these "tails" are closely related to the positional information .</a:t>
            </a:r>
          </a:p>
        </p:txBody>
      </p:sp>
      <p:sp>
        <p:nvSpPr>
          <p:cNvPr id="5" name="HUMAN REFERENCE">
            <a:extLst xmlns:a="http://schemas.openxmlformats.org/drawingml/2006/main">
              <a:ext uri="{FF2B5EF4-FFF2-40B4-BE49-F238E27FC236}">
                <a16:creationId xmlns:a16="http://schemas.microsoft.com/office/drawing/2014/main" id="{E0A9B272-F2CB-43D9-8CB6-102784250991}"/>
              </a:ext>
            </a:extLst>
          </p:cNvPr>
          <p:cNvSpPr>
            <a:spLocks xmlns:a="http://schemas.openxmlformats.org/drawingml/2006/main" noGrp="1"/>
          </p:cNvSpPr>
          <p:nvPr/>
        </p:nvSpPr>
        <p:spPr>
          <a:xfrm xmlns:a="http://schemas.openxmlformats.org/drawingml/2006/main">
            <a:off x="609600" y="309562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087E83"/>
                </a:solidFill>
                <a:latin typeface="Arial"/>
                <a:ea typeface="Arial"/>
                <a:cs typeface="Arial"/>
              </a:defRPr>
            </a:defPPr>
            <a:lvl1pPr>
              <a:defRPr sz="1575" b="1">
                <a:solidFill>
                  <a:srgbClr val="087E83"/>
                </a:solidFill>
                <a:latin typeface="Arial"/>
                <a:ea typeface="Arial"/>
                <a:cs typeface="Arial"/>
              </a:defRPr>
            </a:lvl1pPr>
            <a:lvl2pPr>
              <a:defRPr sz="1575" b="1">
                <a:solidFill>
                  <a:srgbClr val="087E83"/>
                </a:solidFill>
                <a:latin typeface="Arial"/>
                <a:ea typeface="Arial"/>
                <a:cs typeface="Arial"/>
              </a:defRPr>
            </a:lvl2pPr>
            <a:lvl3pPr>
              <a:defRPr sz="1575" b="1">
                <a:solidFill>
                  <a:srgbClr val="087E83"/>
                </a:solidFill>
                <a:latin typeface="Arial"/>
                <a:ea typeface="Arial"/>
                <a:cs typeface="Arial"/>
              </a:defRPr>
            </a:lvl3pPr>
            <a:lvl4pPr>
              <a:defRPr sz="1575" b="1">
                <a:solidFill>
                  <a:srgbClr val="087E83"/>
                </a:solidFill>
                <a:latin typeface="Arial"/>
                <a:ea typeface="Arial"/>
                <a:cs typeface="Arial"/>
              </a:defRPr>
            </a:lvl4pPr>
            <a:lvl5pPr>
              <a:defRPr sz="1575" b="1">
                <a:solidFill>
                  <a:srgbClr val="087E83"/>
                </a:solidFill>
                <a:latin typeface="Arial"/>
                <a:ea typeface="Arial"/>
                <a:cs typeface="Arial"/>
              </a:defRPr>
            </a:lvl5pPr>
            <a:lvl6pPr>
              <a:defRPr sz="1575" b="1">
                <a:solidFill>
                  <a:srgbClr val="087E83"/>
                </a:solidFill>
                <a:latin typeface="Arial"/>
                <a:ea typeface="Arial"/>
                <a:cs typeface="Arial"/>
              </a:defRPr>
            </a:lvl6pPr>
            <a:lvl7pPr>
              <a:defRPr sz="1575" b="1">
                <a:solidFill>
                  <a:srgbClr val="087E83"/>
                </a:solidFill>
                <a:latin typeface="Arial"/>
                <a:ea typeface="Arial"/>
                <a:cs typeface="Arial"/>
              </a:defRPr>
            </a:lvl7pPr>
            <a:lvl8pPr>
              <a:defRPr sz="1575" b="1">
                <a:solidFill>
                  <a:srgbClr val="087E83"/>
                </a:solidFill>
                <a:latin typeface="Arial"/>
                <a:ea typeface="Arial"/>
                <a:cs typeface="Arial"/>
              </a:defRPr>
            </a:lvl8pPr>
            <a:lvl9pPr>
              <a:defRPr sz="1575" b="1">
                <a:solidFill>
                  <a:srgbClr val="087E83"/>
                </a:solidFill>
                <a:latin typeface="Arial"/>
                <a:ea typeface="Arial"/>
                <a:cs typeface="Arial"/>
              </a:defRPr>
            </a:lvl9pPr>
          </a:lstStyle>
          <a:p xmlns:a="http://schemas.openxmlformats.org/drawingml/2006/main">
            <a:pPr>
              <a:defRPr sz="1575" b="1">
                <a:solidFill>
                  <a:srgbClr val="087E83"/>
                </a:solidFill>
                <a:latin typeface="Arial"/>
                <a:ea typeface="Arial"/>
                <a:cs typeface="Arial"/>
              </a:defRPr>
            </a:pPr>
            <a:r>
              <a:rPr sz="1575" b="1">
                <a:solidFill>
                  <a:srgbClr val="087E83"/>
                </a:solidFill>
                <a:latin typeface="Arial"/>
                <a:ea typeface="Arial"/>
                <a:cs typeface="Arial"/>
              </a:rPr>
              <a:t>HUMAN REFERENCE</a:t>
            </a:r>
          </a:p>
        </p:txBody>
      </p:sp>
      <p:sp>
        <p:nvSpPr>
          <p:cNvPr id="6" name="We find that these &quot;tails&quot; are closely related to informatio">
            <a:extLst xmlns:a="http://schemas.openxmlformats.org/drawingml/2006/main">
              <a:ext uri="{FF2B5EF4-FFF2-40B4-BE49-F238E27FC236}">
                <a16:creationId xmlns:a16="http://schemas.microsoft.com/office/drawing/2014/main" id="{651337B5-3EB1-4591-9F93-0F829E0A2770}"/>
              </a:ext>
            </a:extLst>
          </p:cNvPr>
          <p:cNvSpPr>
            <a:spLocks xmlns:a="http://schemas.openxmlformats.org/drawingml/2006/main" noGrp="1"/>
          </p:cNvSpPr>
          <p:nvPr/>
        </p:nvSpPr>
        <p:spPr>
          <a:xfrm xmlns:a="http://schemas.openxmlformats.org/drawingml/2006/main">
            <a:off x="609600" y="3514725"/>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087E83"/>
                </a:solidFill>
                <a:latin typeface="Arial"/>
                <a:ea typeface="Arial"/>
                <a:cs typeface="Arial"/>
              </a:defRPr>
            </a:defPPr>
            <a:lvl1pPr>
              <a:defRPr sz="2325" b="1">
                <a:solidFill>
                  <a:srgbClr val="087E83"/>
                </a:solidFill>
                <a:latin typeface="Arial"/>
                <a:ea typeface="Arial"/>
                <a:cs typeface="Arial"/>
              </a:defRPr>
            </a:lvl1pPr>
            <a:lvl2pPr>
              <a:defRPr sz="2325" b="1">
                <a:solidFill>
                  <a:srgbClr val="087E83"/>
                </a:solidFill>
                <a:latin typeface="Arial"/>
                <a:ea typeface="Arial"/>
                <a:cs typeface="Arial"/>
              </a:defRPr>
            </a:lvl2pPr>
            <a:lvl3pPr>
              <a:defRPr sz="2325" b="1">
                <a:solidFill>
                  <a:srgbClr val="087E83"/>
                </a:solidFill>
                <a:latin typeface="Arial"/>
                <a:ea typeface="Arial"/>
                <a:cs typeface="Arial"/>
              </a:defRPr>
            </a:lvl3pPr>
            <a:lvl4pPr>
              <a:defRPr sz="2325" b="1">
                <a:solidFill>
                  <a:srgbClr val="087E83"/>
                </a:solidFill>
                <a:latin typeface="Arial"/>
                <a:ea typeface="Arial"/>
                <a:cs typeface="Arial"/>
              </a:defRPr>
            </a:lvl4pPr>
            <a:lvl5pPr>
              <a:defRPr sz="2325" b="1">
                <a:solidFill>
                  <a:srgbClr val="087E83"/>
                </a:solidFill>
                <a:latin typeface="Arial"/>
                <a:ea typeface="Arial"/>
                <a:cs typeface="Arial"/>
              </a:defRPr>
            </a:lvl5pPr>
            <a:lvl6pPr>
              <a:defRPr sz="2325" b="1">
                <a:solidFill>
                  <a:srgbClr val="087E83"/>
                </a:solidFill>
                <a:latin typeface="Arial"/>
                <a:ea typeface="Arial"/>
                <a:cs typeface="Arial"/>
              </a:defRPr>
            </a:lvl6pPr>
            <a:lvl7pPr>
              <a:defRPr sz="2325" b="1">
                <a:solidFill>
                  <a:srgbClr val="087E83"/>
                </a:solidFill>
                <a:latin typeface="Arial"/>
                <a:ea typeface="Arial"/>
                <a:cs typeface="Arial"/>
              </a:defRPr>
            </a:lvl7pPr>
            <a:lvl8pPr>
              <a:defRPr sz="2325" b="1">
                <a:solidFill>
                  <a:srgbClr val="087E83"/>
                </a:solidFill>
                <a:latin typeface="Arial"/>
                <a:ea typeface="Arial"/>
                <a:cs typeface="Arial"/>
              </a:defRPr>
            </a:lvl8pPr>
            <a:lvl9pPr>
              <a:defRPr sz="2325" b="1">
                <a:solidFill>
                  <a:srgbClr val="087E83"/>
                </a:solidFill>
                <a:latin typeface="Arial"/>
                <a:ea typeface="Arial"/>
                <a:cs typeface="Arial"/>
              </a:defRPr>
            </a:lvl9pPr>
          </a:lstStyle>
          <a:p xmlns:a="http://schemas.openxmlformats.org/drawingml/2006/main">
            <a:pPr>
              <a:defRPr sz="2325" b="1">
                <a:solidFill>
                  <a:srgbClr val="087E83"/>
                </a:solidFill>
                <a:latin typeface="Arial"/>
                <a:ea typeface="Arial"/>
                <a:cs typeface="Arial"/>
              </a:defRPr>
            </a:pPr>
            <a:r>
              <a:rPr sz="2325" b="1">
                <a:solidFill>
                  <a:srgbClr val="087E83"/>
                </a:solidFill>
                <a:latin typeface="Arial"/>
                <a:ea typeface="Arial"/>
                <a:cs typeface="Arial"/>
              </a:rPr>
              <a:t>We find that these "tails" are closely related to information captured by positional embeddings .</a:t>
            </a:r>
          </a:p>
        </p:txBody>
      </p:sp>
      <p:sp>
        <p:nvSpPr>
          <p:cNvPr id="7" name="FROZEN HYBRID">
            <a:extLst xmlns:a="http://schemas.openxmlformats.org/drawingml/2006/main">
              <a:ext uri="{FF2B5EF4-FFF2-40B4-BE49-F238E27FC236}">
                <a16:creationId xmlns:a16="http://schemas.microsoft.com/office/drawing/2014/main" id="{CF6FDB9A-6346-427F-825A-6BAC04E38E9E}"/>
              </a:ext>
            </a:extLst>
          </p:cNvPr>
          <p:cNvSpPr>
            <a:spLocks xmlns:a="http://schemas.openxmlformats.org/drawingml/2006/main" noGrp="1"/>
          </p:cNvSpPr>
          <p:nvPr/>
        </p:nvSpPr>
        <p:spPr>
          <a:xfrm xmlns:a="http://schemas.openxmlformats.org/drawingml/2006/main">
            <a:off x="609600" y="45720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52676E"/>
                </a:solidFill>
                <a:latin typeface="Arial"/>
                <a:ea typeface="Arial"/>
                <a:cs typeface="Arial"/>
              </a:defRPr>
            </a:defPPr>
            <a:lvl1pPr>
              <a:defRPr sz="1575" b="1">
                <a:solidFill>
                  <a:srgbClr val="52676E"/>
                </a:solidFill>
                <a:latin typeface="Arial"/>
                <a:ea typeface="Arial"/>
                <a:cs typeface="Arial"/>
              </a:defRPr>
            </a:lvl1pPr>
            <a:lvl2pPr>
              <a:defRPr sz="1575" b="1">
                <a:solidFill>
                  <a:srgbClr val="52676E"/>
                </a:solidFill>
                <a:latin typeface="Arial"/>
                <a:ea typeface="Arial"/>
                <a:cs typeface="Arial"/>
              </a:defRPr>
            </a:lvl2pPr>
            <a:lvl3pPr>
              <a:defRPr sz="1575" b="1">
                <a:solidFill>
                  <a:srgbClr val="52676E"/>
                </a:solidFill>
                <a:latin typeface="Arial"/>
                <a:ea typeface="Arial"/>
                <a:cs typeface="Arial"/>
              </a:defRPr>
            </a:lvl3pPr>
            <a:lvl4pPr>
              <a:defRPr sz="1575" b="1">
                <a:solidFill>
                  <a:srgbClr val="52676E"/>
                </a:solidFill>
                <a:latin typeface="Arial"/>
                <a:ea typeface="Arial"/>
                <a:cs typeface="Arial"/>
              </a:defRPr>
            </a:lvl4pPr>
            <a:lvl5pPr>
              <a:defRPr sz="1575" b="1">
                <a:solidFill>
                  <a:srgbClr val="52676E"/>
                </a:solidFill>
                <a:latin typeface="Arial"/>
                <a:ea typeface="Arial"/>
                <a:cs typeface="Arial"/>
              </a:defRPr>
            </a:lvl5pPr>
            <a:lvl6pPr>
              <a:defRPr sz="1575" b="1">
                <a:solidFill>
                  <a:srgbClr val="52676E"/>
                </a:solidFill>
                <a:latin typeface="Arial"/>
                <a:ea typeface="Arial"/>
                <a:cs typeface="Arial"/>
              </a:defRPr>
            </a:lvl6pPr>
            <a:lvl7pPr>
              <a:defRPr sz="1575" b="1">
                <a:solidFill>
                  <a:srgbClr val="52676E"/>
                </a:solidFill>
                <a:latin typeface="Arial"/>
                <a:ea typeface="Arial"/>
                <a:cs typeface="Arial"/>
              </a:defRPr>
            </a:lvl7pPr>
            <a:lvl8pPr>
              <a:defRPr sz="1575" b="1">
                <a:solidFill>
                  <a:srgbClr val="52676E"/>
                </a:solidFill>
                <a:latin typeface="Arial"/>
                <a:ea typeface="Arial"/>
                <a:cs typeface="Arial"/>
              </a:defRPr>
            </a:lvl8pPr>
            <a:lvl9pPr>
              <a:defRPr sz="1575" b="1">
                <a:solidFill>
                  <a:srgbClr val="52676E"/>
                </a:solidFill>
                <a:latin typeface="Arial"/>
                <a:ea typeface="Arial"/>
                <a:cs typeface="Arial"/>
              </a:defRPr>
            </a:lvl9pPr>
          </a:lstStyle>
          <a:p xmlns:a="http://schemas.openxmlformats.org/drawingml/2006/main">
            <a:pPr>
              <a:defRPr sz="1575" b="1">
                <a:solidFill>
                  <a:srgbClr val="52676E"/>
                </a:solidFill>
                <a:latin typeface="Arial"/>
                <a:ea typeface="Arial"/>
                <a:cs typeface="Arial"/>
              </a:defRPr>
            </a:pPr>
            <a:r>
              <a:rPr sz="1575" b="1">
                <a:solidFill>
                  <a:srgbClr val="52676E"/>
                </a:solidFill>
                <a:latin typeface="Arial"/>
                <a:ea typeface="Arial"/>
                <a:cs typeface="Arial"/>
              </a:rPr>
              <a:t>FROZEN HYBRID</a:t>
            </a:r>
          </a:p>
        </p:txBody>
      </p:sp>
      <p:sp>
        <p:nvSpPr>
          <p:cNvPr id="8" name="We find that these &quot;tails&quot; are closely related to the positi">
            <a:extLst xmlns:a="http://schemas.openxmlformats.org/drawingml/2006/main">
              <a:ext uri="{FF2B5EF4-FFF2-40B4-BE49-F238E27FC236}">
                <a16:creationId xmlns:a16="http://schemas.microsoft.com/office/drawing/2014/main" id="{F7F2D951-0BD6-4752-B726-61D95E1D17FB}"/>
              </a:ext>
            </a:extLst>
          </p:cNvPr>
          <p:cNvSpPr>
            <a:spLocks xmlns:a="http://schemas.openxmlformats.org/drawingml/2006/main" noGrp="1"/>
          </p:cNvSpPr>
          <p:nvPr/>
        </p:nvSpPr>
        <p:spPr>
          <a:xfrm xmlns:a="http://schemas.openxmlformats.org/drawingml/2006/main">
            <a:off x="609600" y="4991100"/>
            <a:ext cx="10934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42F39"/>
                </a:solidFill>
                <a:latin typeface="Arial"/>
                <a:ea typeface="Arial"/>
                <a:cs typeface="Arial"/>
              </a:defRPr>
            </a:defPPr>
            <a:lvl1pPr>
              <a:defRPr sz="2325" b="0">
                <a:solidFill>
                  <a:srgbClr val="142F39"/>
                </a:solidFill>
                <a:latin typeface="Arial"/>
                <a:ea typeface="Arial"/>
                <a:cs typeface="Arial"/>
              </a:defRPr>
            </a:lvl1pPr>
            <a:lvl2pPr>
              <a:defRPr sz="2325" b="0">
                <a:solidFill>
                  <a:srgbClr val="142F39"/>
                </a:solidFill>
                <a:latin typeface="Arial"/>
                <a:ea typeface="Arial"/>
                <a:cs typeface="Arial"/>
              </a:defRPr>
            </a:lvl2pPr>
            <a:lvl3pPr>
              <a:defRPr sz="2325" b="0">
                <a:solidFill>
                  <a:srgbClr val="142F39"/>
                </a:solidFill>
                <a:latin typeface="Arial"/>
                <a:ea typeface="Arial"/>
                <a:cs typeface="Arial"/>
              </a:defRPr>
            </a:lvl3pPr>
            <a:lvl4pPr>
              <a:defRPr sz="2325" b="0">
                <a:solidFill>
                  <a:srgbClr val="142F39"/>
                </a:solidFill>
                <a:latin typeface="Arial"/>
                <a:ea typeface="Arial"/>
                <a:cs typeface="Arial"/>
              </a:defRPr>
            </a:lvl4pPr>
            <a:lvl5pPr>
              <a:defRPr sz="2325" b="0">
                <a:solidFill>
                  <a:srgbClr val="142F39"/>
                </a:solidFill>
                <a:latin typeface="Arial"/>
                <a:ea typeface="Arial"/>
                <a:cs typeface="Arial"/>
              </a:defRPr>
            </a:lvl5pPr>
            <a:lvl6pPr>
              <a:defRPr sz="2325" b="0">
                <a:solidFill>
                  <a:srgbClr val="142F39"/>
                </a:solidFill>
                <a:latin typeface="Arial"/>
                <a:ea typeface="Arial"/>
                <a:cs typeface="Arial"/>
              </a:defRPr>
            </a:lvl6pPr>
            <a:lvl7pPr>
              <a:defRPr sz="2325" b="0">
                <a:solidFill>
                  <a:srgbClr val="142F39"/>
                </a:solidFill>
                <a:latin typeface="Arial"/>
                <a:ea typeface="Arial"/>
                <a:cs typeface="Arial"/>
              </a:defRPr>
            </a:lvl7pPr>
            <a:lvl8pPr>
              <a:defRPr sz="2325" b="0">
                <a:solidFill>
                  <a:srgbClr val="142F39"/>
                </a:solidFill>
                <a:latin typeface="Arial"/>
                <a:ea typeface="Arial"/>
                <a:cs typeface="Arial"/>
              </a:defRPr>
            </a:lvl8pPr>
            <a:lvl9pPr>
              <a:defRPr sz="2325" b="0">
                <a:solidFill>
                  <a:srgbClr val="142F39"/>
                </a:solidFill>
                <a:latin typeface="Arial"/>
                <a:ea typeface="Arial"/>
                <a:cs typeface="Arial"/>
              </a:defRPr>
            </a:lvl9pPr>
          </a:lstStyle>
          <a:p xmlns:a="http://schemas.openxmlformats.org/drawingml/2006/main">
            <a:pPr>
              <a:defRPr sz="2325" b="0">
                <a:solidFill>
                  <a:srgbClr val="142F39"/>
                </a:solidFill>
                <a:latin typeface="Arial"/>
                <a:ea typeface="Arial"/>
                <a:cs typeface="Arial"/>
              </a:defRPr>
            </a:pPr>
            <a:r>
              <a:rPr sz="2325" b="0">
                <a:solidFill>
                  <a:srgbClr val="142F39"/>
                </a:solidFill>
                <a:latin typeface="Arial"/>
                <a:ea typeface="Arial"/>
                <a:cs typeface="Arial"/>
              </a:rPr>
              <a:t>We find that these "tails" are closely related to the positional information.</a:t>
            </a:r>
          </a:p>
        </p:txBody>
      </p:sp>
      <p:sp>
        <p:nvSpPr>
          <p:cNvPr id="9" name="Whitespace ROUGE-L: 0.741. The output mainly fixes punctuati">
            <a:extLst xmlns:a="http://schemas.openxmlformats.org/drawingml/2006/main">
              <a:ext uri="{FF2B5EF4-FFF2-40B4-BE49-F238E27FC236}">
                <a16:creationId xmlns:a16="http://schemas.microsoft.com/office/drawing/2014/main" id="{8D85564C-068F-4B37-99A3-DDD55A5F8EA8}"/>
              </a:ext>
            </a:extLst>
          </p:cNvPr>
          <p:cNvSpPr>
            <a:spLocks xmlns:a="http://schemas.openxmlformats.org/drawingml/2006/main" noGrp="1"/>
          </p:cNvSpPr>
          <p:nvPr/>
        </p:nvSpPr>
        <p:spPr>
          <a:xfrm xmlns:a="http://schemas.openxmlformats.org/drawingml/2006/main">
            <a:off x="609600" y="6172200"/>
            <a:ext cx="1024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76E"/>
                </a:solidFill>
                <a:latin typeface="Arial"/>
                <a:ea typeface="Arial"/>
                <a:cs typeface="Arial"/>
              </a:defRPr>
            </a:defPPr>
            <a:lvl1pPr>
              <a:defRPr sz="1350" b="0">
                <a:solidFill>
                  <a:srgbClr val="52676E"/>
                </a:solidFill>
                <a:latin typeface="Arial"/>
                <a:ea typeface="Arial"/>
                <a:cs typeface="Arial"/>
              </a:defRPr>
            </a:lvl1pPr>
            <a:lvl2pPr>
              <a:defRPr sz="1350" b="0">
                <a:solidFill>
                  <a:srgbClr val="52676E"/>
                </a:solidFill>
                <a:latin typeface="Arial"/>
                <a:ea typeface="Arial"/>
                <a:cs typeface="Arial"/>
              </a:defRPr>
            </a:lvl2pPr>
            <a:lvl3pPr>
              <a:defRPr sz="1350" b="0">
                <a:solidFill>
                  <a:srgbClr val="52676E"/>
                </a:solidFill>
                <a:latin typeface="Arial"/>
                <a:ea typeface="Arial"/>
                <a:cs typeface="Arial"/>
              </a:defRPr>
            </a:lvl3pPr>
            <a:lvl4pPr>
              <a:defRPr sz="1350" b="0">
                <a:solidFill>
                  <a:srgbClr val="52676E"/>
                </a:solidFill>
                <a:latin typeface="Arial"/>
                <a:ea typeface="Arial"/>
                <a:cs typeface="Arial"/>
              </a:defRPr>
            </a:lvl4pPr>
            <a:lvl5pPr>
              <a:defRPr sz="1350" b="0">
                <a:solidFill>
                  <a:srgbClr val="52676E"/>
                </a:solidFill>
                <a:latin typeface="Arial"/>
                <a:ea typeface="Arial"/>
                <a:cs typeface="Arial"/>
              </a:defRPr>
            </a:lvl5pPr>
            <a:lvl6pPr>
              <a:defRPr sz="1350" b="0">
                <a:solidFill>
                  <a:srgbClr val="52676E"/>
                </a:solidFill>
                <a:latin typeface="Arial"/>
                <a:ea typeface="Arial"/>
                <a:cs typeface="Arial"/>
              </a:defRPr>
            </a:lvl6pPr>
            <a:lvl7pPr>
              <a:defRPr sz="1350" b="0">
                <a:solidFill>
                  <a:srgbClr val="52676E"/>
                </a:solidFill>
                <a:latin typeface="Arial"/>
                <a:ea typeface="Arial"/>
                <a:cs typeface="Arial"/>
              </a:defRPr>
            </a:lvl7pPr>
            <a:lvl8pPr>
              <a:defRPr sz="1350" b="0">
                <a:solidFill>
                  <a:srgbClr val="52676E"/>
                </a:solidFill>
                <a:latin typeface="Arial"/>
                <a:ea typeface="Arial"/>
                <a:cs typeface="Arial"/>
              </a:defRPr>
            </a:lvl8pPr>
            <a:lvl9pPr>
              <a:defRPr sz="1350" b="0">
                <a:solidFill>
                  <a:srgbClr val="52676E"/>
                </a:solidFill>
                <a:latin typeface="Arial"/>
                <a:ea typeface="Arial"/>
                <a:cs typeface="Arial"/>
              </a:defRPr>
            </a:lvl9pPr>
          </a:lstStyle>
          <a:p xmlns:a="http://schemas.openxmlformats.org/drawingml/2006/main">
            <a:pPr>
              <a:defRPr sz="1350" b="0">
                <a:solidFill>
                  <a:srgbClr val="52676E"/>
                </a:solidFill>
                <a:latin typeface="Arial"/>
                <a:ea typeface="Arial"/>
                <a:cs typeface="Arial"/>
              </a:defRPr>
            </a:pPr>
            <a:r>
              <a:rPr sz="1350" b="0">
                <a:solidFill>
                  <a:srgbClr val="52676E"/>
                </a:solidFill>
                <a:latin typeface="Arial"/>
                <a:ea typeface="Arial"/>
                <a:cs typeface="Arial"/>
              </a:rPr>
              <a:t>Whitespace ROUGE-L: 0.741. The output mainly fixes punctuation spacing and misses the substantive edit.</a:t>
            </a:r>
          </a:p>
        </p:txBody>
      </p:sp>
    </p:spTree>
    <p:extLst>
      <p:ext uri="{BB962C8B-B14F-4D97-AF65-F5344CB8AC3E}">
        <p14:creationId xmlns:p14="http://schemas.microsoft.com/office/powerpoint/2010/main" val="818207137"/>
      </p:ext>
    </p:extLst>
  </p:cSld>
</p:sld>
</file>

<file path=ppt/slides/slide7.xml><?xml version="1.0" encoding="utf-8"?>
<p:sld xmlns:p="http://schemas.openxmlformats.org/presentationml/2006/main">
  <p:cSld>
    <p:bg>
      <p:bgPr>
        <a:solidFill xmlns:a="http://schemas.openxmlformats.org/drawingml/2006/main">
          <a:srgbClr val="142F39"/>
        </a:solidFill>
      </p:bgPr>
    </p:bg>
    <p:spTree>
      <p:nvGrpSpPr>
        <p:cNvPr id="1" name=""/>
        <p:cNvGrpSpPr/>
        <p:nvPr/>
      </p:nvGrpSpPr>
      <p:grpSpPr>
        <a:xfrm xmlns:a="http://schemas.openxmlformats.org/drawingml/2006/main"/>
      </p:grpSpPr>
      <p:sp>
        <p:nvSpPr>
          <p:cNvPr id="11" name="The next milestone is reliable rewriting">
            <a:extLst xmlns:a="http://schemas.openxmlformats.org/drawingml/2006/main">
              <a:ext uri="{FF2B5EF4-FFF2-40B4-BE49-F238E27FC236}">
                <a16:creationId xmlns:a16="http://schemas.microsoft.com/office/drawing/2014/main" id="{01FDB8F0-149B-490E-8FD9-6C7293C8B669}"/>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The next milestone is reliable rewriting</a:t>
            </a:r>
          </a:p>
        </p:txBody>
      </p:sp>
      <p:sp>
        <p:nvSpPr>
          <p:cNvPr id="2" name="7">
            <a:extLst xmlns:a="http://schemas.openxmlformats.org/drawingml/2006/main">
              <a:ext uri="{FF2B5EF4-FFF2-40B4-BE49-F238E27FC236}">
                <a16:creationId xmlns:a16="http://schemas.microsoft.com/office/drawing/2014/main" id="{8A73AD85-AA2D-4087-B8A5-4A280BF04B12}"/>
              </a:ext>
            </a:extLst>
          </p:cNvPr>
          <p:cNvSpPr>
            <a:spLocks xmlns:a="http://schemas.openxmlformats.org/drawingml/2006/main" noGrp="1"/>
          </p:cNvSpPr>
          <p:nvPr/>
        </p:nvSpPr>
        <p:spPr>
          <a:xfrm xmlns:a="http://schemas.openxmlformats.org/drawingml/2006/main">
            <a:off x="11182350" y="63150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B6D9D6"/>
                </a:solidFill>
                <a:latin typeface="Arial"/>
                <a:ea typeface="Arial"/>
                <a:cs typeface="Arial"/>
              </a:defRPr>
            </a:defPPr>
            <a:lvl1pPr>
              <a:defRPr sz="1350" b="0">
                <a:solidFill>
                  <a:srgbClr val="B6D9D6"/>
                </a:solidFill>
                <a:latin typeface="Arial"/>
                <a:ea typeface="Arial"/>
                <a:cs typeface="Arial"/>
              </a:defRPr>
            </a:lvl1pPr>
            <a:lvl2pPr>
              <a:defRPr sz="1350" b="0">
                <a:solidFill>
                  <a:srgbClr val="B6D9D6"/>
                </a:solidFill>
                <a:latin typeface="Arial"/>
                <a:ea typeface="Arial"/>
                <a:cs typeface="Arial"/>
              </a:defRPr>
            </a:lvl2pPr>
            <a:lvl3pPr>
              <a:defRPr sz="1350" b="0">
                <a:solidFill>
                  <a:srgbClr val="B6D9D6"/>
                </a:solidFill>
                <a:latin typeface="Arial"/>
                <a:ea typeface="Arial"/>
                <a:cs typeface="Arial"/>
              </a:defRPr>
            </a:lvl3pPr>
            <a:lvl4pPr>
              <a:defRPr sz="1350" b="0">
                <a:solidFill>
                  <a:srgbClr val="B6D9D6"/>
                </a:solidFill>
                <a:latin typeface="Arial"/>
                <a:ea typeface="Arial"/>
                <a:cs typeface="Arial"/>
              </a:defRPr>
            </a:lvl4pPr>
            <a:lvl5pPr>
              <a:defRPr sz="1350" b="0">
                <a:solidFill>
                  <a:srgbClr val="B6D9D6"/>
                </a:solidFill>
                <a:latin typeface="Arial"/>
                <a:ea typeface="Arial"/>
                <a:cs typeface="Arial"/>
              </a:defRPr>
            </a:lvl5pPr>
            <a:lvl6pPr>
              <a:defRPr sz="1350" b="0">
                <a:solidFill>
                  <a:srgbClr val="B6D9D6"/>
                </a:solidFill>
                <a:latin typeface="Arial"/>
                <a:ea typeface="Arial"/>
                <a:cs typeface="Arial"/>
              </a:defRPr>
            </a:lvl6pPr>
            <a:lvl7pPr>
              <a:defRPr sz="1350" b="0">
                <a:solidFill>
                  <a:srgbClr val="B6D9D6"/>
                </a:solidFill>
                <a:latin typeface="Arial"/>
                <a:ea typeface="Arial"/>
                <a:cs typeface="Arial"/>
              </a:defRPr>
            </a:lvl7pPr>
            <a:lvl8pPr>
              <a:defRPr sz="1350" b="0">
                <a:solidFill>
                  <a:srgbClr val="B6D9D6"/>
                </a:solidFill>
                <a:latin typeface="Arial"/>
                <a:ea typeface="Arial"/>
                <a:cs typeface="Arial"/>
              </a:defRPr>
            </a:lvl8pPr>
            <a:lvl9pPr>
              <a:defRPr sz="1350" b="0">
                <a:solidFill>
                  <a:srgbClr val="B6D9D6"/>
                </a:solidFill>
                <a:latin typeface="Arial"/>
                <a:ea typeface="Arial"/>
                <a:cs typeface="Arial"/>
              </a:defRPr>
            </a:lvl9pPr>
          </a:lstStyle>
          <a:p xmlns:a="http://schemas.openxmlformats.org/drawingml/2006/main">
            <a:pPr>
              <a:defRPr sz="1350" b="0">
                <a:solidFill>
                  <a:srgbClr val="B6D9D6"/>
                </a:solidFill>
                <a:latin typeface="Arial"/>
                <a:ea typeface="Arial"/>
                <a:cs typeface="Arial"/>
              </a:defRPr>
            </a:pPr>
            <a:r>
              <a:rPr sz="1350" b="0">
                <a:solidFill>
                  <a:srgbClr val="B6D9D6"/>
                </a:solidFill>
                <a:latin typeface="Arial"/>
                <a:ea typeface="Arial"/>
                <a:cs typeface="Arial"/>
              </a:rPr>
              <a:t>7</a:t>
            </a:r>
          </a:p>
        </p:txBody>
      </p:sp>
      <p:sp>
        <p:nvSpPr>
          <p:cNvPr id="3" name="Independent review">
            <a:extLst xmlns:a="http://schemas.openxmlformats.org/drawingml/2006/main">
              <a:ext uri="{FF2B5EF4-FFF2-40B4-BE49-F238E27FC236}">
                <a16:creationId xmlns:a16="http://schemas.microsoft.com/office/drawing/2014/main" id="{42C3A521-B9A0-4FE0-BCFC-8DFF4A209E9E}"/>
              </a:ext>
            </a:extLst>
          </p:cNvPr>
          <p:cNvSpPr>
            <a:spLocks xmlns:a="http://schemas.openxmlformats.org/drawingml/2006/main" noGrp="1"/>
          </p:cNvSpPr>
          <p:nvPr/>
        </p:nvSpPr>
        <p:spPr>
          <a:xfrm xmlns:a="http://schemas.openxmlformats.org/drawingml/2006/main">
            <a:off x="609600" y="18859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B6D9D6"/>
                </a:solidFill>
                <a:latin typeface="Arial"/>
                <a:ea typeface="Arial"/>
                <a:cs typeface="Arial"/>
              </a:defRPr>
            </a:defPPr>
            <a:lvl1pPr>
              <a:defRPr sz="2325" b="1">
                <a:solidFill>
                  <a:srgbClr val="B6D9D6"/>
                </a:solidFill>
                <a:latin typeface="Arial"/>
                <a:ea typeface="Arial"/>
                <a:cs typeface="Arial"/>
              </a:defRPr>
            </a:lvl1pPr>
            <a:lvl2pPr>
              <a:defRPr sz="2325" b="1">
                <a:solidFill>
                  <a:srgbClr val="B6D9D6"/>
                </a:solidFill>
                <a:latin typeface="Arial"/>
                <a:ea typeface="Arial"/>
                <a:cs typeface="Arial"/>
              </a:defRPr>
            </a:lvl2pPr>
            <a:lvl3pPr>
              <a:defRPr sz="2325" b="1">
                <a:solidFill>
                  <a:srgbClr val="B6D9D6"/>
                </a:solidFill>
                <a:latin typeface="Arial"/>
                <a:ea typeface="Arial"/>
                <a:cs typeface="Arial"/>
              </a:defRPr>
            </a:lvl3pPr>
            <a:lvl4pPr>
              <a:defRPr sz="2325" b="1">
                <a:solidFill>
                  <a:srgbClr val="B6D9D6"/>
                </a:solidFill>
                <a:latin typeface="Arial"/>
                <a:ea typeface="Arial"/>
                <a:cs typeface="Arial"/>
              </a:defRPr>
            </a:lvl4pPr>
            <a:lvl5pPr>
              <a:defRPr sz="2325" b="1">
                <a:solidFill>
                  <a:srgbClr val="B6D9D6"/>
                </a:solidFill>
                <a:latin typeface="Arial"/>
                <a:ea typeface="Arial"/>
                <a:cs typeface="Arial"/>
              </a:defRPr>
            </a:lvl5pPr>
            <a:lvl6pPr>
              <a:defRPr sz="2325" b="1">
                <a:solidFill>
                  <a:srgbClr val="B6D9D6"/>
                </a:solidFill>
                <a:latin typeface="Arial"/>
                <a:ea typeface="Arial"/>
                <a:cs typeface="Arial"/>
              </a:defRPr>
            </a:lvl6pPr>
            <a:lvl7pPr>
              <a:defRPr sz="2325" b="1">
                <a:solidFill>
                  <a:srgbClr val="B6D9D6"/>
                </a:solidFill>
                <a:latin typeface="Arial"/>
                <a:ea typeface="Arial"/>
                <a:cs typeface="Arial"/>
              </a:defRPr>
            </a:lvl7pPr>
            <a:lvl8pPr>
              <a:defRPr sz="2325" b="1">
                <a:solidFill>
                  <a:srgbClr val="B6D9D6"/>
                </a:solidFill>
                <a:latin typeface="Arial"/>
                <a:ea typeface="Arial"/>
                <a:cs typeface="Arial"/>
              </a:defRPr>
            </a:lvl8pPr>
            <a:lvl9pPr>
              <a:defRPr sz="2325" b="1">
                <a:solidFill>
                  <a:srgbClr val="B6D9D6"/>
                </a:solidFill>
                <a:latin typeface="Arial"/>
                <a:ea typeface="Arial"/>
                <a:cs typeface="Arial"/>
              </a:defRPr>
            </a:lvl9pPr>
          </a:lstStyle>
          <a:p xmlns:a="http://schemas.openxmlformats.org/drawingml/2006/main">
            <a:pPr>
              <a:defRPr sz="2325" b="1">
                <a:solidFill>
                  <a:srgbClr val="B6D9D6"/>
                </a:solidFill>
                <a:latin typeface="Arial"/>
                <a:ea typeface="Arial"/>
                <a:cs typeface="Arial"/>
              </a:defRPr>
            </a:pPr>
            <a:r>
              <a:rPr sz="2325" b="1">
                <a:solidFill>
                  <a:srgbClr val="B6D9D6"/>
                </a:solidFill>
                <a:latin typeface="Arial"/>
                <a:ea typeface="Arial"/>
                <a:cs typeface="Arial"/>
              </a:rPr>
              <a:t>Independent review</a:t>
            </a:r>
          </a:p>
        </p:txBody>
      </p:sp>
      <p:sp>
        <p:nvSpPr>
          <p:cNvPr id="4" name="Academic tone, meaning and factual changes">
            <a:extLst xmlns:a="http://schemas.openxmlformats.org/drawingml/2006/main">
              <a:ext uri="{FF2B5EF4-FFF2-40B4-BE49-F238E27FC236}">
                <a16:creationId xmlns:a16="http://schemas.microsoft.com/office/drawing/2014/main" id="{B6639357-4D6D-4A0B-A5EB-251A880221B0}"/>
              </a:ext>
            </a:extLst>
          </p:cNvPr>
          <p:cNvSpPr>
            <a:spLocks xmlns:a="http://schemas.openxmlformats.org/drawingml/2006/main" noGrp="1"/>
          </p:cNvSpPr>
          <p:nvPr/>
        </p:nvSpPr>
        <p:spPr>
          <a:xfrm xmlns:a="http://schemas.openxmlformats.org/drawingml/2006/main">
            <a:off x="609600" y="23526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Academic tone, meaning and factual changes</a:t>
            </a:r>
          </a:p>
        </p:txBody>
      </p:sp>
      <p:sp>
        <p:nvSpPr>
          <p:cNvPr id="5" name="Matched experiments">
            <a:extLst xmlns:a="http://schemas.openxmlformats.org/drawingml/2006/main">
              <a:ext uri="{FF2B5EF4-FFF2-40B4-BE49-F238E27FC236}">
                <a16:creationId xmlns:a16="http://schemas.microsoft.com/office/drawing/2014/main" id="{7E00134B-9506-4458-891A-B50A7DD76C10}"/>
              </a:ext>
            </a:extLst>
          </p:cNvPr>
          <p:cNvSpPr>
            <a:spLocks xmlns:a="http://schemas.openxmlformats.org/drawingml/2006/main" noGrp="1"/>
          </p:cNvSpPr>
          <p:nvPr/>
        </p:nvSpPr>
        <p:spPr>
          <a:xfrm xmlns:a="http://schemas.openxmlformats.org/drawingml/2006/main">
            <a:off x="609600" y="29527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B6D9D6"/>
                </a:solidFill>
                <a:latin typeface="Arial"/>
                <a:ea typeface="Arial"/>
                <a:cs typeface="Arial"/>
              </a:defRPr>
            </a:defPPr>
            <a:lvl1pPr>
              <a:defRPr sz="2325" b="1">
                <a:solidFill>
                  <a:srgbClr val="B6D9D6"/>
                </a:solidFill>
                <a:latin typeface="Arial"/>
                <a:ea typeface="Arial"/>
                <a:cs typeface="Arial"/>
              </a:defRPr>
            </a:lvl1pPr>
            <a:lvl2pPr>
              <a:defRPr sz="2325" b="1">
                <a:solidFill>
                  <a:srgbClr val="B6D9D6"/>
                </a:solidFill>
                <a:latin typeface="Arial"/>
                <a:ea typeface="Arial"/>
                <a:cs typeface="Arial"/>
              </a:defRPr>
            </a:lvl2pPr>
            <a:lvl3pPr>
              <a:defRPr sz="2325" b="1">
                <a:solidFill>
                  <a:srgbClr val="B6D9D6"/>
                </a:solidFill>
                <a:latin typeface="Arial"/>
                <a:ea typeface="Arial"/>
                <a:cs typeface="Arial"/>
              </a:defRPr>
            </a:lvl3pPr>
            <a:lvl4pPr>
              <a:defRPr sz="2325" b="1">
                <a:solidFill>
                  <a:srgbClr val="B6D9D6"/>
                </a:solidFill>
                <a:latin typeface="Arial"/>
                <a:ea typeface="Arial"/>
                <a:cs typeface="Arial"/>
              </a:defRPr>
            </a:lvl4pPr>
            <a:lvl5pPr>
              <a:defRPr sz="2325" b="1">
                <a:solidFill>
                  <a:srgbClr val="B6D9D6"/>
                </a:solidFill>
                <a:latin typeface="Arial"/>
                <a:ea typeface="Arial"/>
                <a:cs typeface="Arial"/>
              </a:defRPr>
            </a:lvl5pPr>
            <a:lvl6pPr>
              <a:defRPr sz="2325" b="1">
                <a:solidFill>
                  <a:srgbClr val="B6D9D6"/>
                </a:solidFill>
                <a:latin typeface="Arial"/>
                <a:ea typeface="Arial"/>
                <a:cs typeface="Arial"/>
              </a:defRPr>
            </a:lvl6pPr>
            <a:lvl7pPr>
              <a:defRPr sz="2325" b="1">
                <a:solidFill>
                  <a:srgbClr val="B6D9D6"/>
                </a:solidFill>
                <a:latin typeface="Arial"/>
                <a:ea typeface="Arial"/>
                <a:cs typeface="Arial"/>
              </a:defRPr>
            </a:lvl7pPr>
            <a:lvl8pPr>
              <a:defRPr sz="2325" b="1">
                <a:solidFill>
                  <a:srgbClr val="B6D9D6"/>
                </a:solidFill>
                <a:latin typeface="Arial"/>
                <a:ea typeface="Arial"/>
                <a:cs typeface="Arial"/>
              </a:defRPr>
            </a:lvl8pPr>
            <a:lvl9pPr>
              <a:defRPr sz="2325" b="1">
                <a:solidFill>
                  <a:srgbClr val="B6D9D6"/>
                </a:solidFill>
                <a:latin typeface="Arial"/>
                <a:ea typeface="Arial"/>
                <a:cs typeface="Arial"/>
              </a:defRPr>
            </a:lvl9pPr>
          </a:lstStyle>
          <a:p xmlns:a="http://schemas.openxmlformats.org/drawingml/2006/main">
            <a:pPr>
              <a:defRPr sz="2325" b="1">
                <a:solidFill>
                  <a:srgbClr val="B6D9D6"/>
                </a:solidFill>
                <a:latin typeface="Arial"/>
                <a:ea typeface="Arial"/>
                <a:cs typeface="Arial"/>
              </a:defRPr>
            </a:pPr>
            <a:r>
              <a:rPr sz="2325" b="1">
                <a:solidFill>
                  <a:srgbClr val="B6D9D6"/>
                </a:solidFill>
                <a:latin typeface="Arial"/>
                <a:ea typeface="Arial"/>
                <a:cs typeface="Arial"/>
              </a:rPr>
              <a:t>Matched experiments</a:t>
            </a:r>
          </a:p>
        </p:txBody>
      </p:sp>
      <p:sp>
        <p:nvSpPr>
          <p:cNvPr id="6" name="Multiple seeds, validation-based checkpoint selection">
            <a:extLst xmlns:a="http://schemas.openxmlformats.org/drawingml/2006/main">
              <a:ext uri="{FF2B5EF4-FFF2-40B4-BE49-F238E27FC236}">
                <a16:creationId xmlns:a16="http://schemas.microsoft.com/office/drawing/2014/main" id="{F711D164-4D75-4B60-B056-13955ACC4C9A}"/>
              </a:ext>
            </a:extLst>
          </p:cNvPr>
          <p:cNvSpPr>
            <a:spLocks xmlns:a="http://schemas.openxmlformats.org/drawingml/2006/main" noGrp="1"/>
          </p:cNvSpPr>
          <p:nvPr/>
        </p:nvSpPr>
        <p:spPr>
          <a:xfrm xmlns:a="http://schemas.openxmlformats.org/drawingml/2006/main">
            <a:off x="609600" y="34194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Multiple seeds, validation-based checkpoint selection</a:t>
            </a:r>
          </a:p>
        </p:txBody>
      </p:sp>
      <p:sp>
        <p:nvSpPr>
          <p:cNvPr id="7" name="Implementation checks">
            <a:extLst xmlns:a="http://schemas.openxmlformats.org/drawingml/2006/main">
              <a:ext uri="{FF2B5EF4-FFF2-40B4-BE49-F238E27FC236}">
                <a16:creationId xmlns:a16="http://schemas.microsoft.com/office/drawing/2014/main" id="{175F4C91-AFC1-47A2-8184-471AFFC4D141}"/>
              </a:ext>
            </a:extLst>
          </p:cNvPr>
          <p:cNvSpPr>
            <a:spLocks xmlns:a="http://schemas.openxmlformats.org/drawingml/2006/main" noGrp="1"/>
          </p:cNvSpPr>
          <p:nvPr/>
        </p:nvSpPr>
        <p:spPr>
          <a:xfrm xmlns:a="http://schemas.openxmlformats.org/drawingml/2006/main">
            <a:off x="609600" y="40195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B6D9D6"/>
                </a:solidFill>
                <a:latin typeface="Arial"/>
                <a:ea typeface="Arial"/>
                <a:cs typeface="Arial"/>
              </a:defRPr>
            </a:defPPr>
            <a:lvl1pPr>
              <a:defRPr sz="2325" b="1">
                <a:solidFill>
                  <a:srgbClr val="B6D9D6"/>
                </a:solidFill>
                <a:latin typeface="Arial"/>
                <a:ea typeface="Arial"/>
                <a:cs typeface="Arial"/>
              </a:defRPr>
            </a:lvl1pPr>
            <a:lvl2pPr>
              <a:defRPr sz="2325" b="1">
                <a:solidFill>
                  <a:srgbClr val="B6D9D6"/>
                </a:solidFill>
                <a:latin typeface="Arial"/>
                <a:ea typeface="Arial"/>
                <a:cs typeface="Arial"/>
              </a:defRPr>
            </a:lvl2pPr>
            <a:lvl3pPr>
              <a:defRPr sz="2325" b="1">
                <a:solidFill>
                  <a:srgbClr val="B6D9D6"/>
                </a:solidFill>
                <a:latin typeface="Arial"/>
                <a:ea typeface="Arial"/>
                <a:cs typeface="Arial"/>
              </a:defRPr>
            </a:lvl3pPr>
            <a:lvl4pPr>
              <a:defRPr sz="2325" b="1">
                <a:solidFill>
                  <a:srgbClr val="B6D9D6"/>
                </a:solidFill>
                <a:latin typeface="Arial"/>
                <a:ea typeface="Arial"/>
                <a:cs typeface="Arial"/>
              </a:defRPr>
            </a:lvl4pPr>
            <a:lvl5pPr>
              <a:defRPr sz="2325" b="1">
                <a:solidFill>
                  <a:srgbClr val="B6D9D6"/>
                </a:solidFill>
                <a:latin typeface="Arial"/>
                <a:ea typeface="Arial"/>
                <a:cs typeface="Arial"/>
              </a:defRPr>
            </a:lvl5pPr>
            <a:lvl6pPr>
              <a:defRPr sz="2325" b="1">
                <a:solidFill>
                  <a:srgbClr val="B6D9D6"/>
                </a:solidFill>
                <a:latin typeface="Arial"/>
                <a:ea typeface="Arial"/>
                <a:cs typeface="Arial"/>
              </a:defRPr>
            </a:lvl6pPr>
            <a:lvl7pPr>
              <a:defRPr sz="2325" b="1">
                <a:solidFill>
                  <a:srgbClr val="B6D9D6"/>
                </a:solidFill>
                <a:latin typeface="Arial"/>
                <a:ea typeface="Arial"/>
                <a:cs typeface="Arial"/>
              </a:defRPr>
            </a:lvl7pPr>
            <a:lvl8pPr>
              <a:defRPr sz="2325" b="1">
                <a:solidFill>
                  <a:srgbClr val="B6D9D6"/>
                </a:solidFill>
                <a:latin typeface="Arial"/>
                <a:ea typeface="Arial"/>
                <a:cs typeface="Arial"/>
              </a:defRPr>
            </a:lvl8pPr>
            <a:lvl9pPr>
              <a:defRPr sz="2325" b="1">
                <a:solidFill>
                  <a:srgbClr val="B6D9D6"/>
                </a:solidFill>
                <a:latin typeface="Arial"/>
                <a:ea typeface="Arial"/>
                <a:cs typeface="Arial"/>
              </a:defRPr>
            </a:lvl9pPr>
          </a:lstStyle>
          <a:p xmlns:a="http://schemas.openxmlformats.org/drawingml/2006/main">
            <a:pPr>
              <a:defRPr sz="2325" b="1">
                <a:solidFill>
                  <a:srgbClr val="B6D9D6"/>
                </a:solidFill>
                <a:latin typeface="Arial"/>
                <a:ea typeface="Arial"/>
                <a:cs typeface="Arial"/>
              </a:defRPr>
            </a:pPr>
            <a:r>
              <a:rPr sz="2325" b="1">
                <a:solidFill>
                  <a:srgbClr val="B6D9D6"/>
                </a:solidFill>
                <a:latin typeface="Arial"/>
                <a:ea typeface="Arial"/>
                <a:cs typeface="Arial"/>
              </a:rPr>
              <a:t>Implementation checks</a:t>
            </a:r>
          </a:p>
        </p:txBody>
      </p:sp>
      <p:sp>
        <p:nvSpPr>
          <p:cNvPr id="8" name="Official Mamba kernels and matched efficiency tests">
            <a:extLst xmlns:a="http://schemas.openxmlformats.org/drawingml/2006/main">
              <a:ext uri="{FF2B5EF4-FFF2-40B4-BE49-F238E27FC236}">
                <a16:creationId xmlns:a16="http://schemas.microsoft.com/office/drawing/2014/main" id="{7C4A8241-31FB-41DE-80B5-E6D74197D0D1}"/>
              </a:ext>
            </a:extLst>
          </p:cNvPr>
          <p:cNvSpPr>
            <a:spLocks xmlns:a="http://schemas.openxmlformats.org/drawingml/2006/main" noGrp="1"/>
          </p:cNvSpPr>
          <p:nvPr/>
        </p:nvSpPr>
        <p:spPr>
          <a:xfrm xmlns:a="http://schemas.openxmlformats.org/drawingml/2006/main">
            <a:off x="609600" y="44862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Official Mamba kernels and matched efficiency tests</a:t>
            </a:r>
          </a:p>
        </p:txBody>
      </p:sp>
      <p:sp>
        <p:nvSpPr>
          <p:cNvPr id="9" name="A reproducible pipeline is ready for stronger evaluation">
            <a:extLst xmlns:a="http://schemas.openxmlformats.org/drawingml/2006/main">
              <a:ext uri="{FF2B5EF4-FFF2-40B4-BE49-F238E27FC236}">
                <a16:creationId xmlns:a16="http://schemas.microsoft.com/office/drawing/2014/main" id="{42549591-55F8-4560-8A7D-E4C580C965E4}"/>
              </a:ext>
            </a:extLst>
          </p:cNvPr>
          <p:cNvSpPr>
            <a:spLocks xmlns:a="http://schemas.openxmlformats.org/drawingml/2006/main" noGrp="1"/>
          </p:cNvSpPr>
          <p:nvPr/>
        </p:nvSpPr>
        <p:spPr>
          <a:xfrm xmlns:a="http://schemas.openxmlformats.org/drawingml/2006/main">
            <a:off x="609600" y="54292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A reproducible pipeline is ready for stronger evaluation</a:t>
            </a:r>
          </a:p>
        </p:txBody>
      </p:sp>
      <p:sp>
        <p:nvSpPr>
          <p:cNvPr id="10" name="The current test set has been inspected. Confirmatory work n">
            <a:extLst xmlns:a="http://schemas.openxmlformats.org/drawingml/2006/main">
              <a:ext uri="{FF2B5EF4-FFF2-40B4-BE49-F238E27FC236}">
                <a16:creationId xmlns:a16="http://schemas.microsoft.com/office/drawing/2014/main" id="{E26B1F72-1992-4464-8084-B18A8997585F}"/>
              </a:ext>
            </a:extLst>
          </p:cNvPr>
          <p:cNvSpPr>
            <a:spLocks xmlns:a="http://schemas.openxmlformats.org/drawingml/2006/main" noGrp="1"/>
          </p:cNvSpPr>
          <p:nvPr/>
        </p:nvSpPr>
        <p:spPr>
          <a:xfrm xmlns:a="http://schemas.openxmlformats.org/drawingml/2006/main">
            <a:off x="609600" y="6172200"/>
            <a:ext cx="1024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B6D9D6"/>
                </a:solidFill>
                <a:latin typeface="Arial"/>
                <a:ea typeface="Arial"/>
                <a:cs typeface="Arial"/>
              </a:defRPr>
            </a:defPPr>
            <a:lvl1pPr>
              <a:defRPr sz="1350" b="0">
                <a:solidFill>
                  <a:srgbClr val="B6D9D6"/>
                </a:solidFill>
                <a:latin typeface="Arial"/>
                <a:ea typeface="Arial"/>
                <a:cs typeface="Arial"/>
              </a:defRPr>
            </a:lvl1pPr>
            <a:lvl2pPr>
              <a:defRPr sz="1350" b="0">
                <a:solidFill>
                  <a:srgbClr val="B6D9D6"/>
                </a:solidFill>
                <a:latin typeface="Arial"/>
                <a:ea typeface="Arial"/>
                <a:cs typeface="Arial"/>
              </a:defRPr>
            </a:lvl2pPr>
            <a:lvl3pPr>
              <a:defRPr sz="1350" b="0">
                <a:solidFill>
                  <a:srgbClr val="B6D9D6"/>
                </a:solidFill>
                <a:latin typeface="Arial"/>
                <a:ea typeface="Arial"/>
                <a:cs typeface="Arial"/>
              </a:defRPr>
            </a:lvl3pPr>
            <a:lvl4pPr>
              <a:defRPr sz="1350" b="0">
                <a:solidFill>
                  <a:srgbClr val="B6D9D6"/>
                </a:solidFill>
                <a:latin typeface="Arial"/>
                <a:ea typeface="Arial"/>
                <a:cs typeface="Arial"/>
              </a:defRPr>
            </a:lvl4pPr>
            <a:lvl5pPr>
              <a:defRPr sz="1350" b="0">
                <a:solidFill>
                  <a:srgbClr val="B6D9D6"/>
                </a:solidFill>
                <a:latin typeface="Arial"/>
                <a:ea typeface="Arial"/>
                <a:cs typeface="Arial"/>
              </a:defRPr>
            </a:lvl5pPr>
            <a:lvl6pPr>
              <a:defRPr sz="1350" b="0">
                <a:solidFill>
                  <a:srgbClr val="B6D9D6"/>
                </a:solidFill>
                <a:latin typeface="Arial"/>
                <a:ea typeface="Arial"/>
                <a:cs typeface="Arial"/>
              </a:defRPr>
            </a:lvl6pPr>
            <a:lvl7pPr>
              <a:defRPr sz="1350" b="0">
                <a:solidFill>
                  <a:srgbClr val="B6D9D6"/>
                </a:solidFill>
                <a:latin typeface="Arial"/>
                <a:ea typeface="Arial"/>
                <a:cs typeface="Arial"/>
              </a:defRPr>
            </a:lvl7pPr>
            <a:lvl8pPr>
              <a:defRPr sz="1350" b="0">
                <a:solidFill>
                  <a:srgbClr val="B6D9D6"/>
                </a:solidFill>
                <a:latin typeface="Arial"/>
                <a:ea typeface="Arial"/>
                <a:cs typeface="Arial"/>
              </a:defRPr>
            </a:lvl8pPr>
            <a:lvl9pPr>
              <a:defRPr sz="1350" b="0">
                <a:solidFill>
                  <a:srgbClr val="B6D9D6"/>
                </a:solidFill>
                <a:latin typeface="Arial"/>
                <a:ea typeface="Arial"/>
                <a:cs typeface="Arial"/>
              </a:defRPr>
            </a:lvl9pPr>
          </a:lstStyle>
          <a:p xmlns:a="http://schemas.openxmlformats.org/drawingml/2006/main">
            <a:pPr>
              <a:defRPr sz="1350" b="0">
                <a:solidFill>
                  <a:srgbClr val="B6D9D6"/>
                </a:solidFill>
                <a:latin typeface="Arial"/>
                <a:ea typeface="Arial"/>
                <a:cs typeface="Arial"/>
              </a:defRPr>
            </a:pPr>
            <a:r>
              <a:rPr sz="1350" b="0">
                <a:solidFill>
                  <a:srgbClr val="B6D9D6"/>
                </a:solidFill>
                <a:latin typeface="Arial"/>
                <a:ea typeface="Arial"/>
                <a:cs typeface="Arial"/>
              </a:rPr>
              <a:t>The current test set has been inspected. Confirmatory work needs fresh data or a revised protocol.</a:t>
            </a:r>
          </a:p>
        </p:txBody>
      </p:sp>
    </p:spTree>
    <p:extLst>
      <p:ext uri="{BB962C8B-B14F-4D97-AF65-F5344CB8AC3E}">
        <p14:creationId xmlns:p14="http://schemas.microsoft.com/office/powerpoint/2010/main" val="6892018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2026-10-26T14:40:27.1810000Z</dcterms:created>
  <dcterms:modified xsi:type="dcterms:W3CDTF">2026-10-26T14:40:27.1810000Z</dcterms:modified>
</coreProperties>
</file>