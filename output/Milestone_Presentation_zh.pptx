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0f12b537dd4c30" /><Relationship Type="http://schemas.openxmlformats.org/officeDocument/2006/relationships/extended-properties" Target="/docProps/app.xml" Id="R953b9e98a29542ff" /><Relationship Type="http://schemas.openxmlformats.org/officeDocument/2006/relationships/officeDocument" Target="/ppt/presentation.xml" Id="R11d80db011b649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ead3fc3e6a4cc5"/>
  </p:sldMasterIdLst>
  <p:notesMasterIdLst>
    <p:notesMasterId xmlns:r="http://schemas.openxmlformats.org/officeDocument/2006/relationships" r:id="R2fb9164b40594cd7"/>
  </p:notesMasterIdLst>
  <p:sldIdLst>
    <p:sldId xmlns:r="http://schemas.openxmlformats.org/officeDocument/2006/relationships" id="256" r:id="Rcbc2356c2dc54b79"/>
    <p:sldId xmlns:r="http://schemas.openxmlformats.org/officeDocument/2006/relationships" id="257" r:id="R8156e117e6c240bf"/>
    <p:sldId xmlns:r="http://schemas.openxmlformats.org/officeDocument/2006/relationships" id="258" r:id="R2a7300999bf144a8"/>
    <p:sldId xmlns:r="http://schemas.openxmlformats.org/officeDocument/2006/relationships" id="259" r:id="R1380f653c7034210"/>
    <p:sldId xmlns:r="http://schemas.openxmlformats.org/officeDocument/2006/relationships" id="260" r:id="R1a4f5a191eb84737"/>
    <p:sldId xmlns:r="http://schemas.openxmlformats.org/officeDocument/2006/relationships" id="261" r:id="R7daa4cb8e8064eca"/>
    <p:sldId xmlns:r="http://schemas.openxmlformats.org/officeDocument/2006/relationships" id="262" r:id="R86ace0d6ccce4a0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c3cc8fc4b342a8" /><Relationship Type="http://schemas.openxmlformats.org/officeDocument/2006/relationships/slideMaster" Target="/ppt/slideMasters/slideMaster1.xml" Id="Rfdead3fc3e6a4cc5" /><Relationship Type="http://schemas.openxmlformats.org/officeDocument/2006/relationships/notesMaster" Target="/ppt/notesMasters/notesMaster1.xml" Id="R2fb9164b40594cd7" /><Relationship Type="http://schemas.openxmlformats.org/officeDocument/2006/relationships/presProps" Target="/ppt/presProps.xml" Id="R470f619e9ea143ef" /><Relationship Type="http://schemas.openxmlformats.org/officeDocument/2006/relationships/tableStyles" Target="/ppt/tableStyles.xml" Id="Rf4bceecad5374cb7" /><Relationship Type="http://schemas.openxmlformats.org/officeDocument/2006/relationships/slide" Target="/ppt/slides/slide1.xml" Id="Rcbc2356c2dc54b79" /><Relationship Type="http://schemas.openxmlformats.org/officeDocument/2006/relationships/slide" Target="/ppt/slides/slide2.xml" Id="R8156e117e6c240bf" /><Relationship Type="http://schemas.openxmlformats.org/officeDocument/2006/relationships/slide" Target="/ppt/slides/slide3.xml" Id="R2a7300999bf144a8" /><Relationship Type="http://schemas.openxmlformats.org/officeDocument/2006/relationships/slide" Target="/ppt/slides/slide4.xml" Id="R1380f653c7034210" /><Relationship Type="http://schemas.openxmlformats.org/officeDocument/2006/relationships/slide" Target="/ppt/slides/slide5.xml" Id="R1a4f5a191eb84737" /><Relationship Type="http://schemas.openxmlformats.org/officeDocument/2006/relationships/slide" Target="/ppt/slides/slide6.xml" Id="R7daa4cb8e8064eca" /><Relationship Type="http://schemas.openxmlformats.org/officeDocument/2006/relationships/slide" Target="/ppt/slides/slide7.xml" Id="R86ace0d6ccce4a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d48e4bf07346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916993b365405f" /><Relationship Type="http://schemas.openxmlformats.org/officeDocument/2006/relationships/notesMaster" Target="/ppt/notesMasters/notesMaster1.xml" Id="Rb6c46740891c4c8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2594f7fbd824ac8" /><Relationship Type="http://schemas.openxmlformats.org/officeDocument/2006/relationships/notesMaster" Target="/ppt/notesMasters/notesMaster1.xml" Id="R24a76f9a9e2d47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d9aad2b5864790" /><Relationship Type="http://schemas.openxmlformats.org/officeDocument/2006/relationships/notesMaster" Target="/ppt/notesMasters/notesMaster1.xml" Id="R751582efc40b4e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25743070b994884" /><Relationship Type="http://schemas.openxmlformats.org/officeDocument/2006/relationships/notesMaster" Target="/ppt/notesMasters/notesMaster1.xml" Id="Ra1b3d5e1ceac43c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328b033fd8f4918" /><Relationship Type="http://schemas.openxmlformats.org/officeDocument/2006/relationships/notesMaster" Target="/ppt/notesMasters/notesMaster1.xml" Id="R4a9fb7ada0704d2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942101479024bb8" /><Relationship Type="http://schemas.openxmlformats.org/officeDocument/2006/relationships/notesMaster" Target="/ppt/notesMasters/notesMaster1.xml" Id="R1504fc3bbb094a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94eb4bbc964414b" /><Relationship Type="http://schemas.openxmlformats.org/officeDocument/2006/relationships/notesMaster" Target="/ppt/notesMasters/notesMaster1.xml" Id="R488af4cc22514b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我们研究学术文本的风格增强，目标是在保留事实和原意的前提下，帮助作者发现并改写不合适的表达。第一阶段提出 Transformer 与 Mamba 混合结构，本次重点展示已经落实的数据、代码与运行证据。我们的范围仍然是英文句子级修订，作者保留最终决定权。今天展示的小模型是流程验证，尚不具备实际改写质量。</a:t>
            </a:r>
          </a:p>
          <a:p xmlns:a="http://schemas.openxmlformats.org/drawingml/2006/main">
            <a:r>
              <a:t>来源：本地 Proposal.pdf；数据与代码证据见 README.md、docs/Progress_Evidence_zh.md。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我们正式选用了作者发布的 IteraTeR-HUMAN sentence 数据，而不是规模更大的 FULL 或 v2。下载版本固定并记录了哈希。原始数据共四千零十八对，包含多个领域。我们根据 arXiv 文档编号筛选学术文本，保留 style、clarity 和 fluency，删除空文本、重复、过长样本以及数值变化的文本对，得到六百七十六对。按文档分组重新划分，训练四百九十一、验证九十八、测试八十七对。这是按文档组划分八比一比一，所以句子数量比例不会完全一致。跨集合的文档和完全相同文本重叠都是零。下面的例子来自上游人工修订，不能当成模型输出。也需要强调，标签并不等于一定改善了学术风格。</a:t>
            </a:r>
          </a:p>
          <a:p xmlns:a="http://schemas.openxmlformats.org/drawingml/2006/main">
            <a:r>
              <a:t>来源：https://huggingface.co/datasets/wanyu/IteraTeR_human_sent ；https://github.com/vipulraheja/iterater ；data/raw/manifest.json；data/processed/stats.json。示例：arXiv 2012.08987，上游 train.json 第 778 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模型首先用 Transformer 编码源句，获得包含全句上下文的表示。Mamba 参考模块对表示做选择性状态空间处理，再通过残差或门控融合送给 Transformer 解码器。默认门控公式是 Z 等于 H 加上 G 乘 M，训练目标是忽略 padding 的序列交叉熵。我们实现了 gated、residual 和 replace 三种融合方式，其中 replace 用来消融跳连。当前 Mamba 使用普通 PyTorch 顺序扫描，是用于验证的参考实现，尚未验证与官方优化内核的数值一致性。它依然保留 Transformer 注意力，因此不能声称整个模型已经实现线性复杂度或速度提升。</a:t>
            </a:r>
          </a:p>
          <a:p xmlns:a="http://schemas.openxmlformats.org/drawingml/2006/main">
            <a:r>
              <a:t>来源：src/academic_rewriter/models.py；https://arxiv.org/abs/2312.00752 ；https://github.com/state-spaces/mamba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目前完成了清洗、文档级划分、仅用训练集学习的 tokenizer、动态 padding、目标掩码，以及两个模型的训练和生成流程。我们使用同一随机种子和小型 BART，在六十四个真实训练样本上分别运行三十步，验证集使用十六对。表中给出相同固定训练批次的前后损失，验证交叉熵则来自独立验证子集。两个模型都完成了反向传播、生成和保存。四项测试覆盖了数据泄漏、数值保护、Mamba 梯度和三种融合路径。这里的损失变化只说明流程已打通，不能说明 Hybrid 更好。保存的验证样例生成结果为空，无法用于改写，测试集没有参与模型评估。</a:t>
            </a:r>
          </a:p>
          <a:p xmlns:a="http://schemas.openxmlformats.org/drawingml/2006/main">
            <a:r>
              <a:t>来源：runs/transformer_smoke/result.json；runs/hybrid_smoke/result.json；runs/tests.txt。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当前最明显的问题是监督信号与项目目标之间还有差距。六百七十六对数据里只有二十四对标为 style，绝大多数属于清晰度和流畅度修订，因此我们需要扩充数据并独立标注学术风格。其次，数值一致检查只能发现部分事实变化，否定、语气、实体和引用还要人工检查。技术上，官方 Mamba 对运行环境和内核有要求，本机当前验证的是顺序扫描参考模块，不能用来推导优化版本的效率。另外，检测器仍然是规则原型，预训练微调、Mamba-only 基线和正式质量评估都未完成。</a:t>
            </a:r>
          </a:p>
          <a:p xmlns:a="http://schemas.openxmlformats.org/drawingml/2006/main">
            <a:r>
              <a:t>来源：data/processed/stats.json；src/academic_rewriter/detect.py；https://github.com/state-spaces/mamba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下面是建议的组内执行目标，不是老师给出的最终截止日期。Milestone 周先审核五十对样本并准备独立的检测标签。十一月第一周建立预训练 BART Baseline，使用验证集选择模型。第二周验证官方 Mamba 并进行 Hybrid 与融合消融。第三周开展盲评和效率测试，并集成作者审阅演示。成员分工沿用 Proposal：数据由 Licheng Wang 负责，训练评估由 Haoxiang Ning 负责，模型结构由 Borui Ning 负责，界面和材料由 Lingfeng Lu 负责。正式实验会匹配数据、长度和解码设置，并在固定方案后再评估测试集。</a:t>
            </a:r>
          </a:p>
          <a:p xmlns:a="http://schemas.openxmlformats.org/drawingml/2006/main">
            <a:r>
              <a:t>来源：Proposal.pdf；docs/Architecture_and_Protocol_zh.md。以上日期为建议计划，需与课程最终日程核对。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本阶段的交付包括可追溯的真实数据、六百七十六对清洗样本、可运行的 Transformer 与 Hybrid 原型，以及真实的三十步 GPU 日志。代码仓库结构和运行说明已经建立，远程 GitHub 地址仍需在团队账户下发布。下一阶段的中心任务是预训练模型微调、完善学术风格监督和保持原意的独立评估。我们目前可以证明项目已经从构想进入实施，但尚未证明混合模型的质量或效率优势。</a:t>
            </a:r>
          </a:p>
          <a:p xmlns:a="http://schemas.openxmlformats.org/drawingml/2006/main">
            <a:r>
              <a:t>来源：README.md；docs/Progress_Evidence_zh.md。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d8c0d854544e8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8c98bb8ec64e3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e684d701ee438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983dbfc0334fa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9099931405400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5029816b094c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4878A49-456B-42F8-92DF-54B0958202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351777E-AF86-4E02-A7A3-D5960DDCC22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DF93A70-99FC-4E31-8F9A-FAEAC8A6B4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7138A3F-99F2-412F-B181-9D5D28AD87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483C8AD-450B-4B47-82EF-1E6F8B7DA5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24BD89B-4A40-4349-B19E-FF9E9EC0BD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C2C522F-459C-4052-B8B8-0D1AB97ABE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82E917D-6EA0-4DC6-8A0D-FECF564A1F5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2607629-C109-4771-B0C5-74A0C40C2E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7E171F6-B161-47C2-BC8A-78E1C5B23B3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3fdb7c79704c0f" /><Relationship Type="http://schemas.openxmlformats.org/officeDocument/2006/relationships/slideLayout" Target="/ppt/slideLayouts/slideLayout1.xml" Id="R2a9d95e2da714152" /><Relationship Type="http://schemas.openxmlformats.org/officeDocument/2006/relationships/slideLayout" Target="/ppt/slideLayouts/slideLayout2.xml" Id="Re75426a617344382" /><Relationship Type="http://schemas.openxmlformats.org/officeDocument/2006/relationships/slideLayout" Target="/ppt/slideLayouts/slideLayout3.xml" Id="R4b4be80e27764326" /><Relationship Type="http://schemas.openxmlformats.org/officeDocument/2006/relationships/slideLayout" Target="/ppt/slideLayouts/slideLayout4.xml" Id="Ree2005e290724fcd" /><Relationship Type="http://schemas.openxmlformats.org/officeDocument/2006/relationships/slideLayout" Target="/ppt/slideLayouts/slideLayout5.xml" Id="R4953faf6236c4c6f" /><Relationship Type="http://schemas.openxmlformats.org/officeDocument/2006/relationships/slideLayout" Target="/ppt/slideLayouts/slideLayout6.xml" Id="Rc048a8a731ea42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9d95e2da714152"/>
    <p:sldLayoutId xmlns:r="http://schemas.openxmlformats.org/officeDocument/2006/relationships" id="2147483650" r:id="Re75426a617344382"/>
    <p:sldLayoutId xmlns:r="http://schemas.openxmlformats.org/officeDocument/2006/relationships" id="2147483651" r:id="R4b4be80e27764326"/>
    <p:sldLayoutId xmlns:r="http://schemas.openxmlformats.org/officeDocument/2006/relationships" id="2147483652" r:id="Ree2005e290724fcd"/>
    <p:sldLayoutId xmlns:r="http://schemas.openxmlformats.org/officeDocument/2006/relationships" id="2147483653" r:id="R4953faf6236c4c6f"/>
    <p:sldLayoutId xmlns:r="http://schemas.openxmlformats.org/officeDocument/2006/relationships" id="2147483654" r:id="Rc048a8a731ea42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5bb17c65e1488a" /><Relationship Type="http://schemas.openxmlformats.org/officeDocument/2006/relationships/notesSlide" Target="/ppt/notesSlides/notesSlide1.xml" Id="R9cbaa803069c42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2f43f857864ea5" /><Relationship Type="http://schemas.openxmlformats.org/officeDocument/2006/relationships/notesSlide" Target="/ppt/notesSlides/notesSlide2.xml" Id="Ra48f9ac6b6ff49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ce5ca82ff5400f" /><Relationship Type="http://schemas.openxmlformats.org/officeDocument/2006/relationships/notesSlide" Target="/ppt/notesSlides/notesSlide3.xml" Id="R2cf26d05b09a48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ecdbd94548448c" /><Relationship Type="http://schemas.openxmlformats.org/officeDocument/2006/relationships/notesSlide" Target="/ppt/notesSlides/notesSlide4.xml" Id="R5db419759522467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62a6225e5d4a96" /><Relationship Type="http://schemas.openxmlformats.org/officeDocument/2006/relationships/notesSlide" Target="/ppt/notesSlides/notesSlide5.xml" Id="R9d36b42af87746b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345f3ef67e4e98" /><Relationship Type="http://schemas.openxmlformats.org/officeDocument/2006/relationships/notesSlide" Target="/ppt/notesSlides/notesSlide6.xml" Id="Rbd7fd2437bd04ab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b1b3644ee94dc6" /><Relationship Type="http://schemas.openxmlformats.org/officeDocument/2006/relationships/notesSlide" Target="/ppt/notesSlides/notesSlide7.xml" Id="R83661f359a8a4e0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34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E54FA9-05A9-4CEB-9158-68EE4B97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D5E8E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1">
                <a:solidFill>
                  <a:srgbClr val="D5E8E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1">
                <a:solidFill>
                  <a:srgbClr val="D5E8E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1">
                <a:solidFill>
                  <a:srgbClr val="D5E8E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1">
                <a:solidFill>
                  <a:srgbClr val="D5E8E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1">
                <a:solidFill>
                  <a:srgbClr val="D5E8E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1">
                <a:solidFill>
                  <a:srgbClr val="D5E8E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1">
                <a:solidFill>
                  <a:srgbClr val="D5E8E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1">
                <a:solidFill>
                  <a:srgbClr val="D5E8E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1">
                <a:solidFill>
                  <a:srgbClr val="D5E8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D5E8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5E8E6"/>
                </a:solidFill>
                <a:latin typeface="Microsoft YaHei"/>
                <a:ea typeface="Microsoft YaHei"/>
                <a:cs typeface="Microsoft YaHei"/>
              </a:rPr>
              <a:t>项目第二次汇报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A8605C-D778-4B8D-BD62-E0333847C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学术文本</a:t>
            </a:r>
          </a:p>
          <a:p xmlns:a="http://schemas.openxmlformats.org/drawingml/2006/main">
            <a:pPr algn="l">
              <a:buNone/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风格增强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B4A213-58C4-4620-BFBD-56DC24167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1038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基于 Transformer + Mamba 的保留原意改写模型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DCB291-4C9E-4D6A-88A6-41C10C6A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529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D5E8E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D5E8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D5E8E6"/>
                </a:solidFill>
                <a:latin typeface="Microsoft YaHei"/>
                <a:ea typeface="Microsoft YaHei"/>
                <a:cs typeface="Microsoft YaHei"/>
              </a:rPr>
              <a:t>里程碑：真实数据、可运行代码与初步 GPU 验证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8005A1-E501-461B-9D9F-64E5845C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67375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Borui Ning   Licheng Wang   Haoxiang Ning   Lingfeng Lu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E0CE9C-BBD0-4AE3-9B67-CDD6EEB2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3410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D5E8E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500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D5E8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5E8E6"/>
                </a:solidFill>
                <a:latin typeface="Microsoft YaHei"/>
                <a:ea typeface="Microsoft YaHei"/>
                <a:cs typeface="Microsoft YaHei"/>
              </a:rPr>
              <a:t>第 9 周   2026 年 10 月 25–31 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48D093-241C-47F5-9ADD-DE3240BA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D5E8E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425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D5E8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5E8E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232830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05686E-7498-4B2D-BEB1-21795B93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34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5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53444"/>
                </a:solidFill>
                <a:latin typeface="Microsoft YaHei"/>
                <a:ea typeface="Microsoft YaHei"/>
                <a:cs typeface="Microsoft YaHei"/>
              </a:rPr>
              <a:t>数据集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227382-2C27-4D0E-8AC4-A3609B298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2656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265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56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955FC1-15BD-4959-B71E-7B7A921C1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37D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1">
                <a:solidFill>
                  <a:srgbClr val="137D8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75" b="1">
                <a:solidFill>
                  <a:srgbClr val="137D8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75" b="1">
                <a:solidFill>
                  <a:srgbClr val="137D8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75" b="1">
                <a:solidFill>
                  <a:srgbClr val="137D8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75" b="1">
                <a:solidFill>
                  <a:srgbClr val="137D8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75" b="1">
                <a:solidFill>
                  <a:srgbClr val="137D8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75" b="1">
                <a:solidFill>
                  <a:srgbClr val="137D8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75" b="1">
                <a:solidFill>
                  <a:srgbClr val="137D8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75" b="1">
                <a:solidFill>
                  <a:srgbClr val="137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37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37D80"/>
                </a:solidFill>
                <a:latin typeface="Microsoft YaHei"/>
                <a:ea typeface="Microsoft YaHei"/>
                <a:cs typeface="Microsoft YaHei"/>
              </a:rPr>
              <a:t>IteraTeR-HUMAN 句子级修订数据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289D33-923F-4248-B551-5AA4681E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534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5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53444"/>
                </a:solidFill>
                <a:latin typeface="Microsoft YaHei"/>
                <a:ea typeface="Microsoft YaHei"/>
                <a:cs typeface="Microsoft YaHei"/>
              </a:rPr>
              <a:t>原始 4,018 条记录     保留 676 对 arXiv 学术修订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54C7A1-84C8-4176-9551-EE73E34CF2C9}"/>
              </a:ext>
            </a:extLst>
          </p:cNvPr>
          <p:cNvGraphicFramePr/>
          <p:nvPr/>
        </p:nvGraphicFramePr>
        <p:xfrm>
          <a:off xmlns:a="http://schemas.openxmlformats.org/drawingml/2006/main" x="685800" y="2505075"/>
          <a:ext xmlns:a="http://schemas.openxmlformats.org/drawingml/2006/main" cx="10820400" cy="1981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10200"/>
                <a:gridCol w="2705100"/>
                <a:gridCol w="2705100"/>
              </a:tblGrid>
              <a:tr h="495300">
                <a:tc>
                  <a:txBody>
                    <a:bodyPr lIns="152400" tIns="114300" rIns="114300" bIns="95250"/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集合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FD9D7"/>
                      </a:solidFill>
                      <a:prstDash val="solid"/>
                    </a:lnL>
                    <a:lnR w="7620">
                      <a:solidFill>
                        <a:srgbClr val="CFD9D7"/>
                      </a:solidFill>
                      <a:prstDash val="solid"/>
                    </a:lnR>
                    <a:lnT w="7620">
                      <a:solidFill>
                        <a:srgbClr val="CFD9D7"/>
                      </a:solidFill>
                      <a:prstDash val="solid"/>
                    </a:lnT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153444"/>
                    </a:solidFill>
                  </a:tcPr>
                </a:tc>
                <a:tc>
                  <a:txBody>
                    <a:bodyPr lIns="152400" tIns="114300" rIns="114300" bIns="95250"/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文本对数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FD9D7"/>
                      </a:solidFill>
                      <a:prstDash val="solid"/>
                    </a:lnR>
                    <a:lnT w="7620">
                      <a:solidFill>
                        <a:srgbClr val="CFD9D7"/>
                      </a:solidFill>
                      <a:prstDash val="solid"/>
                    </a:lnT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153444"/>
                    </a:solidFill>
                  </a:tcPr>
                </a:tc>
                <a:tc>
                  <a:txBody>
                    <a:bodyPr lIns="152400" tIns="114300" rIns="114300" bIns="95250"/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文档数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FD9D7"/>
                      </a:solidFill>
                      <a:prstDash val="solid"/>
                    </a:lnR>
                    <a:lnT w="7620">
                      <a:solidFill>
                        <a:srgbClr val="CFD9D7"/>
                      </a:solidFill>
                      <a:prstDash val="solid"/>
                    </a:lnT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153444"/>
                    </a:solidFill>
                  </a:tcPr>
                </a:tc>
              </a:tr>
              <a:tr h="495300">
                <a:tc>
                  <a:txBody>
                    <a:bodyPr lIns="152400" tIns="114300" rIns="114300" bIns="95250"/>
                    <a:lstStyle/>
                    <a:p>
                      <a:pPr algn="l"/>
                      <a:r>
                        <a:rPr sz="1950" b="0">
                          <a:solidFill>
                            <a:srgbClr val="15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训练集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FD9D7"/>
                      </a:solidFill>
                      <a:prstDash val="solid"/>
                    </a:lnL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14300" bIns="95250"/>
                    <a:lstStyle/>
                    <a:p>
                      <a:pPr algn="l"/>
                      <a:r>
                        <a:rPr sz="1950" b="0">
                          <a:solidFill>
                            <a:srgbClr val="15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491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14300" bIns="95250"/>
                    <a:lstStyle/>
                    <a:p>
                      <a:pPr algn="l"/>
                      <a:r>
                        <a:rPr sz="1950" b="0">
                          <a:solidFill>
                            <a:srgbClr val="15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76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lIns="152400" tIns="114300" rIns="114300" bIns="95250"/>
                    <a:lstStyle/>
                    <a:p>
                      <a:pPr algn="l"/>
                      <a:r>
                        <a:rPr sz="1950" b="0">
                          <a:solidFill>
                            <a:srgbClr val="15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验证集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FD9D7"/>
                      </a:solidFill>
                      <a:prstDash val="solid"/>
                    </a:lnL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EDF1EE"/>
                    </a:solidFill>
                  </a:tcPr>
                </a:tc>
                <a:tc>
                  <a:txBody>
                    <a:bodyPr lIns="152400" tIns="114300" rIns="114300" bIns="95250"/>
                    <a:lstStyle/>
                    <a:p>
                      <a:pPr algn="l"/>
                      <a:r>
                        <a:rPr sz="1950" b="0">
                          <a:solidFill>
                            <a:srgbClr val="15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98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EDF1EE"/>
                    </a:solidFill>
                  </a:tcPr>
                </a:tc>
                <a:tc>
                  <a:txBody>
                    <a:bodyPr lIns="152400" tIns="114300" rIns="114300" bIns="95250"/>
                    <a:lstStyle/>
                    <a:p>
                      <a:pPr algn="l"/>
                      <a:r>
                        <a:rPr sz="1950" b="0">
                          <a:solidFill>
                            <a:srgbClr val="15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EDF1EE"/>
                    </a:solidFill>
                  </a:tcPr>
                </a:tc>
              </a:tr>
              <a:tr h="495300">
                <a:tc>
                  <a:txBody>
                    <a:bodyPr lIns="152400" tIns="114300" rIns="114300" bIns="95250"/>
                    <a:lstStyle/>
                    <a:p>
                      <a:pPr algn="l"/>
                      <a:r>
                        <a:rPr sz="1950" b="0">
                          <a:solidFill>
                            <a:srgbClr val="15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测试集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FD9D7"/>
                      </a:solidFill>
                      <a:prstDash val="solid"/>
                    </a:lnL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14300" bIns="95250"/>
                    <a:lstStyle/>
                    <a:p>
                      <a:pPr algn="l"/>
                      <a:r>
                        <a:rPr sz="1950" b="0">
                          <a:solidFill>
                            <a:srgbClr val="15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87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14300" bIns="95250"/>
                    <a:lstStyle/>
                    <a:p>
                      <a:pPr algn="l"/>
                      <a:r>
                        <a:rPr sz="1950" b="0">
                          <a:solidFill>
                            <a:srgbClr val="15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77DF44-4D3B-4291-B6E1-A8F1C7615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37D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1">
                <a:solidFill>
                  <a:srgbClr val="137D8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1">
                <a:solidFill>
                  <a:srgbClr val="137D8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1">
                <a:solidFill>
                  <a:srgbClr val="137D8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1">
                <a:solidFill>
                  <a:srgbClr val="137D8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1">
                <a:solidFill>
                  <a:srgbClr val="137D8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1">
                <a:solidFill>
                  <a:srgbClr val="137D8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1">
                <a:solidFill>
                  <a:srgbClr val="137D8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1">
                <a:solidFill>
                  <a:srgbClr val="137D8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1">
                <a:solidFill>
                  <a:srgbClr val="137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137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37D80"/>
                </a:solidFill>
                <a:latin typeface="Microsoft YaHei"/>
                <a:ea typeface="Microsoft YaHei"/>
                <a:cs typeface="Microsoft YaHei"/>
              </a:rPr>
              <a:t>真实人工修订样本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FEA413-45AD-4A7C-B23D-6F89BBEC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2922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534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15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53444"/>
                </a:solidFill>
                <a:latin typeface="Microsoft YaHei"/>
                <a:ea typeface="Microsoft YaHei"/>
                <a:cs typeface="Microsoft YaHei"/>
              </a:rPr>
              <a:t>源句：Discovering new intents is a crucial task in a dialogue system 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5632E2-525B-4A03-851D-8AA97258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534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15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53444"/>
                </a:solidFill>
                <a:latin typeface="Microsoft YaHei"/>
                <a:ea typeface="Microsoft YaHei"/>
                <a:cs typeface="Microsoft YaHei"/>
              </a:rPr>
              <a:t>人工参考：Discovering new intents is a crucial task in dialogue systems 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288A55-EEA1-4DC2-9E04-FB2AAA7D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56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5265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56C"/>
                </a:solidFill>
                <a:latin typeface="Microsoft YaHei"/>
                <a:ea typeface="Microsoft YaHei"/>
                <a:cs typeface="Microsoft YaHei"/>
              </a:rPr>
              <a:t>按文档组划分，种子 42。跨集合文档与完全相同文本重叠均为 0。</a:t>
            </a:r>
          </a:p>
        </p:txBody>
      </p:sp>
    </p:spTree>
    <p:extLst>
      <p:ext uri="{BB962C8B-B14F-4D97-AF65-F5344CB8AC3E}">
        <p14:creationId xmlns:p14="http://schemas.microsoft.com/office/powerpoint/2010/main" val="21292511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999C73-E36F-490E-877F-BAA4773900FC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305800" y="32385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37D80"/>
            </a:solidFill>
            <a:tailEnd type="triangle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E7E328-6818-41A7-A297-308426CDBC75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562600" y="32385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37D80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BC7EEC-8CF3-47ED-B99D-67C203BCBFF5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819400" y="32385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37D80"/>
            </a:solidFill>
            <a:tailEnd type="triangle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C3E146-0EFA-4DB7-96B8-1A8B24C1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34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5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53444"/>
                </a:solidFill>
                <a:latin typeface="Microsoft YaHei"/>
                <a:ea typeface="Microsoft YaHei"/>
                <a:cs typeface="Microsoft YaHei"/>
              </a:rPr>
              <a:t>模型架构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E87956-7DC1-46C4-BB1B-3ACD90F2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2656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265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56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EA39D6-FEE7-417D-B70E-BA60CCB1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92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37D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0">
                <a:solidFill>
                  <a:srgbClr val="137D8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75" b="0">
                <a:solidFill>
                  <a:srgbClr val="137D8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75" b="0">
                <a:solidFill>
                  <a:srgbClr val="137D8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75" b="0">
                <a:solidFill>
                  <a:srgbClr val="137D8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75" b="0">
                <a:solidFill>
                  <a:srgbClr val="137D8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75" b="0">
                <a:solidFill>
                  <a:srgbClr val="137D8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75" b="0">
                <a:solidFill>
                  <a:srgbClr val="137D8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75" b="0">
                <a:solidFill>
                  <a:srgbClr val="137D8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75" b="0">
                <a:solidFill>
                  <a:srgbClr val="137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137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37D80"/>
                </a:solidFill>
                <a:latin typeface="Microsoft YaHei"/>
                <a:ea typeface="Microsoft YaHei"/>
                <a:cs typeface="Microsoft YaHei"/>
              </a:rPr>
              <a:t>句子级检测与改写，由作者审阅最终建议</a:t>
            </a:r>
          </a:p>
        </p:txBody>
      </p:sp>
      <p:sp>
        <p:nvSpPr>
          <p:cNvPr id="4" name="Transformer encoder">
            <a:extLst xmlns:a="http://schemas.openxmlformats.org/drawingml/2006/main">
              <a:ext uri="{FF2B5EF4-FFF2-40B4-BE49-F238E27FC236}">
                <a16:creationId xmlns:a16="http://schemas.microsoft.com/office/drawing/2014/main" id="{45C54710-632D-4B9D-9C14-6E94D5C69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1336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44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Transformer</a:t>
            </a:r>
          </a:p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编码器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57B7F3-74F8-4DC5-810D-E7E892D0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0025"/>
            <a:ext cx="2133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56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5265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56C"/>
                </a:solidFill>
                <a:latin typeface="Microsoft YaHei"/>
                <a:ea typeface="Microsoft YaHei"/>
                <a:cs typeface="Microsoft YaHei"/>
              </a:rPr>
              <a:t>全句上下文表示</a:t>
            </a:r>
          </a:p>
        </p:txBody>
      </p:sp>
      <p:sp>
        <p:nvSpPr>
          <p:cNvPr id="6" name="Mamba refinement">
            <a:extLst xmlns:a="http://schemas.openxmlformats.org/drawingml/2006/main">
              <a:ext uri="{FF2B5EF4-FFF2-40B4-BE49-F238E27FC236}">
                <a16:creationId xmlns:a16="http://schemas.microsoft.com/office/drawing/2014/main" id="{AB679AD9-1743-4F9D-AFD6-B50C4E19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86050"/>
            <a:ext cx="21336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D8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Mamba</a:t>
            </a:r>
          </a:p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适配模块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15C1E6-43B7-4078-9842-D9FB6D02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10025"/>
            <a:ext cx="2133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56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5265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56C"/>
                </a:solidFill>
                <a:latin typeface="Microsoft YaHei"/>
                <a:ea typeface="Microsoft YaHei"/>
                <a:cs typeface="Microsoft YaHei"/>
              </a:rPr>
              <a:t>选择性状态更新</a:t>
            </a:r>
          </a:p>
        </p:txBody>
      </p:sp>
      <p:sp>
        <p:nvSpPr>
          <p:cNvPr id="8" name="Feature fusion">
            <a:extLst xmlns:a="http://schemas.openxmlformats.org/drawingml/2006/main">
              <a:ext uri="{FF2B5EF4-FFF2-40B4-BE49-F238E27FC236}">
                <a16:creationId xmlns:a16="http://schemas.microsoft.com/office/drawing/2014/main" id="{8E8815C8-D34A-49FF-8013-F75A7399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86050"/>
            <a:ext cx="21336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44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特征</a:t>
            </a:r>
          </a:p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融合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21C878-5B83-46B6-95D9-A56C31FBE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10025"/>
            <a:ext cx="2133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56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5265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56C"/>
                </a:solidFill>
                <a:latin typeface="Microsoft YaHei"/>
                <a:ea typeface="Microsoft YaHei"/>
                <a:cs typeface="Microsoft YaHei"/>
              </a:rPr>
              <a:t>门控 / 残差 / 替换</a:t>
            </a:r>
          </a:p>
        </p:txBody>
      </p:sp>
      <p:sp>
        <p:nvSpPr>
          <p:cNvPr id="10" name="Transformer decoder">
            <a:extLst xmlns:a="http://schemas.openxmlformats.org/drawingml/2006/main">
              <a:ext uri="{FF2B5EF4-FFF2-40B4-BE49-F238E27FC236}">
                <a16:creationId xmlns:a16="http://schemas.microsoft.com/office/drawing/2014/main" id="{C0CEE973-BE4A-4275-B48A-81DED43F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86050"/>
            <a:ext cx="21336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44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Transformer</a:t>
            </a:r>
          </a:p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解码器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0522B3-8DE2-40D4-A0D4-7A1E960F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010025"/>
            <a:ext cx="2133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56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5265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56C"/>
                </a:solidFill>
                <a:latin typeface="Microsoft YaHei"/>
                <a:ea typeface="Microsoft YaHei"/>
                <a:cs typeface="Microsoft YaHei"/>
              </a:rPr>
              <a:t>自回归生成输出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C5B7F7-B9C6-4DF6-B4E2-07352E0B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56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5265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56C"/>
                </a:solidFill>
                <a:latin typeface="Microsoft YaHei"/>
                <a:ea typeface="Microsoft YaHei"/>
                <a:cs typeface="Microsoft YaHei"/>
              </a:rPr>
              <a:t>源句 token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F9963C-CF7D-46D0-8D1D-E44C124B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534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25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15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53444"/>
                </a:solidFill>
                <a:latin typeface="Microsoft YaHei"/>
                <a:ea typeface="Microsoft YaHei"/>
                <a:cs typeface="Microsoft YaHei"/>
              </a:rPr>
              <a:t>Z = H + G ⊙ M       G = sigmoid(W[H; M] + b)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48C9F0-0349-4B03-9760-532CC594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534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5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53444"/>
                </a:solidFill>
                <a:latin typeface="Microsoft YaHei"/>
                <a:ea typeface="Microsoft YaHei"/>
                <a:cs typeface="Microsoft YaHei"/>
              </a:rPr>
              <a:t>训练目标：忽略填充位置的目标 token 交叉熵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29C5E3-0EAD-42A5-BAC2-4EBC0A84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334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56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5265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56C"/>
                </a:solidFill>
                <a:latin typeface="Microsoft YaHei"/>
                <a:ea typeface="Microsoft YaHei"/>
                <a:cs typeface="Microsoft YaHei"/>
              </a:rPr>
              <a:t>当前使用 PyTorch 顺序扫描参考实现，官方优化内核尚待验证。</a:t>
            </a:r>
          </a:p>
        </p:txBody>
      </p:sp>
    </p:spTree>
    <p:extLst>
      <p:ext uri="{BB962C8B-B14F-4D97-AF65-F5344CB8AC3E}">
        <p14:creationId xmlns:p14="http://schemas.microsoft.com/office/powerpoint/2010/main" val="879374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9EAD1A-593D-4F07-A7DC-4FA69721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34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5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53444"/>
                </a:solidFill>
                <a:latin typeface="Microsoft YaHei"/>
                <a:ea typeface="Microsoft YaHei"/>
                <a:cs typeface="Microsoft YaHei"/>
              </a:rPr>
              <a:t>当前进展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D61034-7205-426B-A565-E21BC953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2656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265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56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ED160A-CDF5-4A65-AC18-5D5A4A81F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92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37D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1">
                <a:solidFill>
                  <a:srgbClr val="137D8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1">
                <a:solidFill>
                  <a:srgbClr val="137D8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1">
                <a:solidFill>
                  <a:srgbClr val="137D8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1">
                <a:solidFill>
                  <a:srgbClr val="137D8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1">
                <a:solidFill>
                  <a:srgbClr val="137D8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1">
                <a:solidFill>
                  <a:srgbClr val="137D8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1">
                <a:solidFill>
                  <a:srgbClr val="137D8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1">
                <a:solidFill>
                  <a:srgbClr val="137D8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1">
                <a:solidFill>
                  <a:srgbClr val="137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137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7D80"/>
                </a:solidFill>
                <a:latin typeface="Microsoft YaHei"/>
                <a:ea typeface="Microsoft YaHei"/>
                <a:cs typeface="Microsoft YaHei"/>
              </a:rPr>
              <a:t>两条流程均已完成前向、反向传播与生成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405717-D75A-4AC7-8B25-239F0A1DD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534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15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53444"/>
                </a:solidFill>
                <a:latin typeface="Microsoft YaHei"/>
                <a:ea typeface="Microsoft YaHei"/>
                <a:cs typeface="Microsoft YaHei"/>
              </a:rPr>
              <a:t>每个模型优化 30 步     训练 64 对     验证 16 对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DD7E8E-FF9E-48B2-9339-1587F188AD97}"/>
              </a:ext>
            </a:extLst>
          </p:cNvPr>
          <p:cNvGraphicFramePr/>
          <p:nvPr/>
        </p:nvGraphicFramePr>
        <p:xfrm>
          <a:off xmlns:a="http://schemas.openxmlformats.org/drawingml/2006/main" x="685800" y="2657475"/>
          <a:ext xmlns:a="http://schemas.openxmlformats.org/drawingml/2006/main" cx="10820400" cy="2114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2686050"/>
                <a:gridCol w="2686050"/>
                <a:gridCol w="2495550"/>
              </a:tblGrid>
              <a:tr h="704850">
                <a:tc>
                  <a:txBody>
                    <a:bodyPr lIns="152400" tIns="114300" rIns="114300" bIns="95250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FD9D7"/>
                      </a:solidFill>
                      <a:prstDash val="solid"/>
                    </a:lnL>
                    <a:lnR w="7620">
                      <a:solidFill>
                        <a:srgbClr val="CFD9D7"/>
                      </a:solidFill>
                      <a:prstDash val="solid"/>
                    </a:lnR>
                    <a:lnT w="7620">
                      <a:solidFill>
                        <a:srgbClr val="CFD9D7"/>
                      </a:solidFill>
                      <a:prstDash val="solid"/>
                    </a:lnT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153444"/>
                    </a:solidFill>
                  </a:tcPr>
                </a:tc>
                <a:tc>
                  <a:txBody>
                    <a:bodyPr lIns="152400" tIns="114300" rIns="114300" bIns="95250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固定批次初始 CE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FD9D7"/>
                      </a:solidFill>
                      <a:prstDash val="solid"/>
                    </a:lnR>
                    <a:lnT w="7620">
                      <a:solidFill>
                        <a:srgbClr val="CFD9D7"/>
                      </a:solidFill>
                      <a:prstDash val="solid"/>
                    </a:lnT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153444"/>
                    </a:solidFill>
                  </a:tcPr>
                </a:tc>
                <a:tc>
                  <a:txBody>
                    <a:bodyPr lIns="152400" tIns="114300" rIns="114300" bIns="95250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固定批次最终 CE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FD9D7"/>
                      </a:solidFill>
                      <a:prstDash val="solid"/>
                    </a:lnR>
                    <a:lnT w="7620">
                      <a:solidFill>
                        <a:srgbClr val="CFD9D7"/>
                      </a:solidFill>
                      <a:prstDash val="solid"/>
                    </a:lnT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153444"/>
                    </a:solidFill>
                  </a:tcPr>
                </a:tc>
                <a:tc>
                  <a:txBody>
                    <a:bodyPr lIns="152400" tIns="114300" rIns="114300" bIns="95250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验证集 CE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FD9D7"/>
                      </a:solidFill>
                      <a:prstDash val="solid"/>
                    </a:lnR>
                    <a:lnT w="7620">
                      <a:solidFill>
                        <a:srgbClr val="CFD9D7"/>
                      </a:solidFill>
                      <a:prstDash val="solid"/>
                    </a:lnT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153444"/>
                    </a:solidFill>
                  </a:tcPr>
                </a:tc>
              </a:tr>
              <a:tr h="704850">
                <a:tc>
                  <a:txBody>
                    <a:bodyPr lIns="152400" tIns="114300" rIns="114300" bIns="95250"/>
                    <a:lstStyle/>
                    <a:p>
                      <a:pPr algn="l"/>
                      <a:r>
                        <a:rPr sz="1800" b="0">
                          <a:solidFill>
                            <a:srgbClr val="15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Transformer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FD9D7"/>
                      </a:solidFill>
                      <a:prstDash val="solid"/>
                    </a:lnL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14300" bIns="95250"/>
                    <a:lstStyle/>
                    <a:p>
                      <a:pPr algn="l"/>
                      <a:r>
                        <a:rPr sz="1800" b="0">
                          <a:solidFill>
                            <a:srgbClr val="15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7.778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14300" bIns="95250"/>
                    <a:lstStyle/>
                    <a:p>
                      <a:pPr algn="l"/>
                      <a:r>
                        <a:rPr sz="1800" b="0">
                          <a:solidFill>
                            <a:srgbClr val="15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6.571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14300" bIns="95250"/>
                    <a:lstStyle/>
                    <a:p>
                      <a:pPr algn="l"/>
                      <a:r>
                        <a:rPr sz="1800" b="0">
                          <a:solidFill>
                            <a:srgbClr val="15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6.841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 lIns="152400" tIns="114300" rIns="114300" bIns="95250"/>
                    <a:lstStyle/>
                    <a:p>
                      <a:pPr algn="l"/>
                      <a:r>
                        <a:rPr sz="1800" b="0">
                          <a:solidFill>
                            <a:srgbClr val="15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Hybrid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FD9D7"/>
                      </a:solidFill>
                      <a:prstDash val="solid"/>
                    </a:lnL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EDF1EE"/>
                    </a:solidFill>
                  </a:tcPr>
                </a:tc>
                <a:tc>
                  <a:txBody>
                    <a:bodyPr lIns="152400" tIns="114300" rIns="114300" bIns="95250"/>
                    <a:lstStyle/>
                    <a:p>
                      <a:pPr algn="l"/>
                      <a:r>
                        <a:rPr sz="1800" b="0">
                          <a:solidFill>
                            <a:srgbClr val="15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7.778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EDF1EE"/>
                    </a:solidFill>
                  </a:tcPr>
                </a:tc>
                <a:tc>
                  <a:txBody>
                    <a:bodyPr lIns="152400" tIns="114300" rIns="114300" bIns="95250"/>
                    <a:lstStyle/>
                    <a:p>
                      <a:pPr algn="l"/>
                      <a:r>
                        <a:rPr sz="1800" b="0">
                          <a:solidFill>
                            <a:srgbClr val="15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6.570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EDF1EE"/>
                    </a:solidFill>
                  </a:tcPr>
                </a:tc>
                <a:tc>
                  <a:txBody>
                    <a:bodyPr lIns="152400" tIns="114300" rIns="114300" bIns="95250"/>
                    <a:lstStyle/>
                    <a:p>
                      <a:pPr algn="l"/>
                      <a:r>
                        <a:rPr sz="1800" b="0">
                          <a:solidFill>
                            <a:srgbClr val="15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6.840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EDF1EE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F7A05C-7A7A-411A-BE90-17E4FBCCF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577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534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5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53444"/>
                </a:solidFill>
                <a:latin typeface="Microsoft YaHei"/>
                <a:ea typeface="Microsoft YaHei"/>
                <a:cs typeface="Microsoft YaHei"/>
              </a:rPr>
              <a:t>四项完整性测试通过，检查点与日志已保存在本地。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46B961-FB0C-44EF-95B3-57B6E8155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022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37D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1">
                <a:solidFill>
                  <a:srgbClr val="137D8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1">
                <a:solidFill>
                  <a:srgbClr val="137D8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1">
                <a:solidFill>
                  <a:srgbClr val="137D8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1">
                <a:solidFill>
                  <a:srgbClr val="137D8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1">
                <a:solidFill>
                  <a:srgbClr val="137D8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1">
                <a:solidFill>
                  <a:srgbClr val="137D8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1">
                <a:solidFill>
                  <a:srgbClr val="137D8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1">
                <a:solidFill>
                  <a:srgbClr val="137D8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1">
                <a:solidFill>
                  <a:srgbClr val="137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137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37D80"/>
                </a:solidFill>
                <a:latin typeface="Microsoft YaHei"/>
                <a:ea typeface="Microsoft YaHei"/>
                <a:cs typeface="Microsoft YaHei"/>
              </a:rPr>
              <a:t>随机小模型只验证流程连通，尚未证明改写质量。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7CE956-9541-40DF-9C69-1D47A669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10334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56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5265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56C"/>
                </a:solidFill>
                <a:latin typeface="Microsoft YaHei"/>
                <a:ea typeface="Microsoft YaHei"/>
                <a:cs typeface="Microsoft YaHei"/>
              </a:rPr>
              <a:t>RTX 4060 Laptop GPU，PyTorch 2.2.0+cu121。测试集尚未用于模型评价。</a:t>
            </a:r>
          </a:p>
        </p:txBody>
      </p:sp>
    </p:spTree>
    <p:extLst>
      <p:ext uri="{BB962C8B-B14F-4D97-AF65-F5344CB8AC3E}">
        <p14:creationId xmlns:p14="http://schemas.microsoft.com/office/powerpoint/2010/main" val="16306519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DEA0A2-B273-4095-BD32-7AEA923F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34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5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53444"/>
                </a:solidFill>
                <a:latin typeface="Microsoft YaHei"/>
                <a:ea typeface="Microsoft YaHei"/>
                <a:cs typeface="Microsoft YaHei"/>
              </a:rPr>
              <a:t>当前问题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22850C-761D-430C-BF7D-80223C6B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2656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265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56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FE7EE7-BD16-4FAE-9650-2D6E8B1F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92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37D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0">
                <a:solidFill>
                  <a:srgbClr val="137D8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0">
                <a:solidFill>
                  <a:srgbClr val="137D8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0">
                <a:solidFill>
                  <a:srgbClr val="137D8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0">
                <a:solidFill>
                  <a:srgbClr val="137D8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0">
                <a:solidFill>
                  <a:srgbClr val="137D8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0">
                <a:solidFill>
                  <a:srgbClr val="137D8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0">
                <a:solidFill>
                  <a:srgbClr val="137D8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0">
                <a:solidFill>
                  <a:srgbClr val="137D8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0">
                <a:solidFill>
                  <a:srgbClr val="137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137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37D80"/>
                </a:solidFill>
                <a:latin typeface="Microsoft YaHei"/>
                <a:ea typeface="Microsoft YaHei"/>
                <a:cs typeface="Microsoft YaHei"/>
              </a:rPr>
              <a:t>主要制约因素为数据覆盖与模型验证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BD9CA6-C39F-4915-A676-F9DA2DE93B2B}"/>
              </a:ext>
            </a:extLst>
          </p:cNvPr>
          <p:cNvGraphicFramePr/>
          <p:nvPr/>
        </p:nvGraphicFramePr>
        <p:xfrm>
          <a:off xmlns:a="http://schemas.openxmlformats.org/drawingml/2006/main" x="685800" y="2152650"/>
          <a:ext xmlns:a="http://schemas.openxmlformats.org/drawingml/2006/main" cx="10820400" cy="3657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3790950"/>
                <a:gridCol w="4552950"/>
              </a:tblGrid>
              <a:tr h="731520">
                <a:tc>
                  <a:txBody>
                    <a:bodyPr lIns="152400" tIns="114300" rIns="114300" bIns="95250"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FD9D7"/>
                      </a:solidFill>
                      <a:prstDash val="solid"/>
                    </a:lnL>
                    <a:lnR w="7620">
                      <a:solidFill>
                        <a:srgbClr val="CFD9D7"/>
                      </a:solidFill>
                      <a:prstDash val="solid"/>
                    </a:lnR>
                    <a:lnT w="7620">
                      <a:solidFill>
                        <a:srgbClr val="CFD9D7"/>
                      </a:solidFill>
                      <a:prstDash val="solid"/>
                    </a:lnT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153444"/>
                    </a:solidFill>
                  </a:tcPr>
                </a:tc>
                <a:tc>
                  <a:txBody>
                    <a:bodyPr lIns="152400" tIns="114300" rIns="114300" bIns="95250"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目前证据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FD9D7"/>
                      </a:solidFill>
                      <a:prstDash val="solid"/>
                    </a:lnR>
                    <a:lnT w="7620">
                      <a:solidFill>
                        <a:srgbClr val="CFD9D7"/>
                      </a:solidFill>
                      <a:prstDash val="solid"/>
                    </a:lnT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153444"/>
                    </a:solidFill>
                  </a:tcPr>
                </a:tc>
                <a:tc>
                  <a:txBody>
                    <a:bodyPr lIns="152400" tIns="114300" rIns="114300" bIns="95250"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应对方案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FD9D7"/>
                      </a:solidFill>
                      <a:prstDash val="solid"/>
                    </a:lnR>
                    <a:lnT w="7620">
                      <a:solidFill>
                        <a:srgbClr val="CFD9D7"/>
                      </a:solidFill>
                      <a:prstDash val="solid"/>
                    </a:lnT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153444"/>
                    </a:solidFill>
                  </a:tcPr>
                </a:tc>
              </a:tr>
              <a:tr h="731520">
                <a:tc>
                  <a:txBody>
                    <a:bodyPr lIns="152400" tIns="114300" rIns="114300" bIns="95250"/>
                    <a:lstStyle/>
                    <a:p>
                      <a:pPr algn="l"/>
                      <a:r>
                        <a:rPr sz="1725" b="0">
                          <a:solidFill>
                            <a:srgbClr val="15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风格监督不足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FD9D7"/>
                      </a:solidFill>
                      <a:prstDash val="solid"/>
                    </a:lnL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14300" bIns="95250"/>
                    <a:lstStyle/>
                    <a:p>
                      <a:pPr algn="l"/>
                      <a:r>
                        <a:rPr sz="1725" b="0">
                          <a:solidFill>
                            <a:srgbClr val="15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676 对中仅 24 对标注 style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14300" bIns="95250"/>
                    <a:lstStyle/>
                    <a:p>
                      <a:pPr algn="l"/>
                      <a:r>
                        <a:rPr sz="1725" b="0">
                          <a:solidFill>
                            <a:srgbClr val="15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扩充学术修订对，独立标注学术语气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lIns="152400" tIns="114300" rIns="114300" bIns="95250"/>
                    <a:lstStyle/>
                    <a:p>
                      <a:pPr algn="l"/>
                      <a:r>
                        <a:rPr sz="1725" b="0">
                          <a:solidFill>
                            <a:srgbClr val="15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原意保留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FD9D7"/>
                      </a:solidFill>
                      <a:prstDash val="solid"/>
                    </a:lnL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EDF1EE"/>
                    </a:solidFill>
                  </a:tcPr>
                </a:tc>
                <a:tc>
                  <a:txBody>
                    <a:bodyPr lIns="152400" tIns="114300" rIns="114300" bIns="95250"/>
                    <a:lstStyle/>
                    <a:p>
                      <a:pPr algn="l"/>
                      <a:r>
                        <a:rPr sz="1725" b="0">
                          <a:solidFill>
                            <a:srgbClr val="15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数字检查遗漏否定、语气和实体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EDF1EE"/>
                    </a:solidFill>
                  </a:tcPr>
                </a:tc>
                <a:tc>
                  <a:txBody>
                    <a:bodyPr lIns="152400" tIns="114300" rIns="114300" bIns="95250"/>
                    <a:lstStyle/>
                    <a:p>
                      <a:pPr algn="l"/>
                      <a:r>
                        <a:rPr sz="1725" b="0">
                          <a:solidFill>
                            <a:srgbClr val="15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人工审核文本对，开展语义盲评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EDF1EE"/>
                    </a:solidFill>
                  </a:tcPr>
                </a:tc>
              </a:tr>
              <a:tr h="731520">
                <a:tc>
                  <a:txBody>
                    <a:bodyPr lIns="152400" tIns="114300" rIns="114300" bIns="95250"/>
                    <a:lstStyle/>
                    <a:p>
                      <a:pPr algn="l"/>
                      <a:r>
                        <a:rPr sz="1725" b="0">
                          <a:solidFill>
                            <a:srgbClr val="15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Mamba 集成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FD9D7"/>
                      </a:solidFill>
                      <a:prstDash val="solid"/>
                    </a:lnL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14300" bIns="95250"/>
                    <a:lstStyle/>
                    <a:p>
                      <a:pPr algn="l"/>
                      <a:r>
                        <a:rPr sz="1725" b="0">
                          <a:solidFill>
                            <a:srgbClr val="15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参考扫描可运行，官方后端尚未验证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14300" bIns="95250"/>
                    <a:lstStyle/>
                    <a:p>
                      <a:pPr algn="l"/>
                      <a:r>
                        <a:rPr sz="1725" b="0">
                          <a:solidFill>
                            <a:srgbClr val="15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 Linux/WSL2 内核、梯度与显存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lIns="152400" tIns="114300" rIns="114300" bIns="95250"/>
                    <a:lstStyle/>
                    <a:p>
                      <a:pPr algn="l"/>
                      <a:r>
                        <a:rPr sz="1725" b="0">
                          <a:solidFill>
                            <a:srgbClr val="15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原型成熟度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FD9D7"/>
                      </a:solidFill>
                      <a:prstDash val="solid"/>
                    </a:lnL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EDF1EE"/>
                    </a:solidFill>
                  </a:tcPr>
                </a:tc>
                <a:tc>
                  <a:txBody>
                    <a:bodyPr lIns="152400" tIns="114300" rIns="114300" bIns="95250"/>
                    <a:lstStyle/>
                    <a:p>
                      <a:pPr algn="l"/>
                      <a:r>
                        <a:rPr sz="1725" b="0">
                          <a:solidFill>
                            <a:srgbClr val="15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随机小模型与启发式检测器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EDF1EE"/>
                    </a:solidFill>
                  </a:tcPr>
                </a:tc>
                <a:tc>
                  <a:txBody>
                    <a:bodyPr lIns="152400" tIns="114300" rIns="114300" bIns="95250"/>
                    <a:lstStyle/>
                    <a:p>
                      <a:pPr algn="l"/>
                      <a:r>
                        <a:rPr sz="1725" b="0">
                          <a:solidFill>
                            <a:srgbClr val="15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微调预训练 BART，训练监督检测器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EDF1EE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35FED3-CA19-4EDE-84C0-B370A7253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33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2656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265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56C"/>
                </a:solidFill>
                <a:latin typeface="Microsoft YaHei"/>
                <a:ea typeface="Microsoft YaHei"/>
                <a:cs typeface="Microsoft YaHei"/>
              </a:rPr>
              <a:t>目前尚无证据证明最终质量、速度或学术风格优势。</a:t>
            </a:r>
          </a:p>
        </p:txBody>
      </p:sp>
    </p:spTree>
    <p:extLst>
      <p:ext uri="{BB962C8B-B14F-4D97-AF65-F5344CB8AC3E}">
        <p14:creationId xmlns:p14="http://schemas.microsoft.com/office/powerpoint/2010/main" val="1873604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365D7F-51F3-4D1B-8B05-6F758BE3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34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5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53444"/>
                </a:solidFill>
                <a:latin typeface="Microsoft YaHei"/>
                <a:ea typeface="Microsoft YaHei"/>
                <a:cs typeface="Microsoft YaHei"/>
              </a:rPr>
              <a:t>后续计划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86C446-56A8-42C6-8D21-F3A8BBF9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2656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265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56C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99011D-E0DD-4981-BB80-D40F1E34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9225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37D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0">
                <a:solidFill>
                  <a:srgbClr val="137D8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75" b="0">
                <a:solidFill>
                  <a:srgbClr val="137D8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75" b="0">
                <a:solidFill>
                  <a:srgbClr val="137D8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75" b="0">
                <a:solidFill>
                  <a:srgbClr val="137D8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75" b="0">
                <a:solidFill>
                  <a:srgbClr val="137D8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75" b="0">
                <a:solidFill>
                  <a:srgbClr val="137D8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75" b="0">
                <a:solidFill>
                  <a:srgbClr val="137D8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75" b="0">
                <a:solidFill>
                  <a:srgbClr val="137D8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75" b="0">
                <a:solidFill>
                  <a:srgbClr val="137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137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37D80"/>
                </a:solidFill>
                <a:latin typeface="Microsoft YaHei"/>
                <a:ea typeface="Microsoft YaHei"/>
                <a:cs typeface="Microsoft YaHei"/>
              </a:rPr>
              <a:t>里程碑之后的建议组内工作目标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D2AED0-FE09-4104-8B99-C4AE4F3933F3}"/>
              </a:ext>
            </a:extLst>
          </p:cNvPr>
          <p:cNvGraphicFramePr/>
          <p:nvPr/>
        </p:nvGraphicFramePr>
        <p:xfrm>
          <a:off xmlns:a="http://schemas.openxmlformats.org/drawingml/2006/main" x="685800" y="2133600"/>
          <a:ext xmlns:a="http://schemas.openxmlformats.org/drawingml/2006/main" cx="10820400" cy="34194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2543175"/>
                <a:gridCol w="6181725"/>
              </a:tblGrid>
              <a:tr h="683895">
                <a:tc>
                  <a:txBody>
                    <a:bodyPr lIns="152400" tIns="114300" rIns="114300" bIns="95250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目标日期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FD9D7"/>
                      </a:solidFill>
                      <a:prstDash val="solid"/>
                    </a:lnL>
                    <a:lnR w="7620">
                      <a:solidFill>
                        <a:srgbClr val="CFD9D7"/>
                      </a:solidFill>
                      <a:prstDash val="solid"/>
                    </a:lnR>
                    <a:lnT w="7620">
                      <a:solidFill>
                        <a:srgbClr val="CFD9D7"/>
                      </a:solidFill>
                      <a:prstDash val="solid"/>
                    </a:lnT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153444"/>
                    </a:solidFill>
                  </a:tcPr>
                </a:tc>
                <a:tc>
                  <a:txBody>
                    <a:bodyPr lIns="152400" tIns="114300" rIns="114300" bIns="95250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FD9D7"/>
                      </a:solidFill>
                      <a:prstDash val="solid"/>
                    </a:lnR>
                    <a:lnT w="7620">
                      <a:solidFill>
                        <a:srgbClr val="CFD9D7"/>
                      </a:solidFill>
                      <a:prstDash val="solid"/>
                    </a:lnT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153444"/>
                    </a:solidFill>
                  </a:tcPr>
                </a:tc>
                <a:tc>
                  <a:txBody>
                    <a:bodyPr lIns="152400" tIns="114300" rIns="114300" bIns="95250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可检查的产出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FD9D7"/>
                      </a:solidFill>
                      <a:prstDash val="solid"/>
                    </a:lnR>
                    <a:lnT w="7620">
                      <a:solidFill>
                        <a:srgbClr val="CFD9D7"/>
                      </a:solidFill>
                      <a:prstDash val="solid"/>
                    </a:lnT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153444"/>
                    </a:solidFill>
                  </a:tcPr>
                </a:tc>
              </a:tr>
              <a:tr h="683895">
                <a:tc>
                  <a:txBody>
                    <a:bodyPr lIns="152400" tIns="114300" rIns="114300" bIns="95250"/>
                    <a:lstStyle/>
                    <a:p>
                      <a:pPr algn="l"/>
                      <a:r>
                        <a:rPr sz="1800" b="0">
                          <a:solidFill>
                            <a:srgbClr val="15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 月 25–31 日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FD9D7"/>
                      </a:solidFill>
                      <a:prstDash val="solid"/>
                    </a:lnL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14300" bIns="95250"/>
                    <a:lstStyle/>
                    <a:p>
                      <a:pPr algn="l"/>
                      <a:r>
                        <a:rPr sz="1800" b="0">
                          <a:solidFill>
                            <a:srgbClr val="15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Licheng Wang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14300" bIns="95250"/>
                    <a:lstStyle/>
                    <a:p>
                      <a:pPr algn="l"/>
                      <a:r>
                        <a:rPr sz="1800" b="0">
                          <a:solidFill>
                            <a:srgbClr val="15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审核 50 对文本，建立独立检测标签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3895">
                <a:tc>
                  <a:txBody>
                    <a:bodyPr lIns="152400" tIns="114300" rIns="114300" bIns="95250"/>
                    <a:lstStyle/>
                    <a:p>
                      <a:pPr algn="l"/>
                      <a:r>
                        <a:rPr sz="1800" b="0">
                          <a:solidFill>
                            <a:srgbClr val="15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 月 1–7 日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FD9D7"/>
                      </a:solidFill>
                      <a:prstDash val="solid"/>
                    </a:lnL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EDF1EE"/>
                    </a:solidFill>
                  </a:tcPr>
                </a:tc>
                <a:tc>
                  <a:txBody>
                    <a:bodyPr lIns="152400" tIns="114300" rIns="114300" bIns="95250"/>
                    <a:lstStyle/>
                    <a:p>
                      <a:pPr algn="l"/>
                      <a:r>
                        <a:rPr sz="1800" b="0">
                          <a:solidFill>
                            <a:srgbClr val="15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Haoxiang Ning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EDF1EE"/>
                    </a:solidFill>
                  </a:tcPr>
                </a:tc>
                <a:tc>
                  <a:txBody>
                    <a:bodyPr lIns="152400" tIns="114300" rIns="114300" bIns="95250"/>
                    <a:lstStyle/>
                    <a:p>
                      <a:pPr algn="l"/>
                      <a:r>
                        <a:rPr sz="1800" b="0">
                          <a:solidFill>
                            <a:srgbClr val="15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预训练 BART 基线与验证集检查点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EDF1EE"/>
                    </a:solidFill>
                  </a:tcPr>
                </a:tc>
              </a:tr>
              <a:tr h="683895">
                <a:tc>
                  <a:txBody>
                    <a:bodyPr lIns="152400" tIns="114300" rIns="114300" bIns="95250"/>
                    <a:lstStyle/>
                    <a:p>
                      <a:pPr algn="l"/>
                      <a:r>
                        <a:rPr sz="1800" b="0">
                          <a:solidFill>
                            <a:srgbClr val="15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 月 8–14 日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FD9D7"/>
                      </a:solidFill>
                      <a:prstDash val="solid"/>
                    </a:lnL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14300" bIns="95250"/>
                    <a:lstStyle/>
                    <a:p>
                      <a:pPr algn="l"/>
                      <a:r>
                        <a:rPr sz="1800" b="0">
                          <a:solidFill>
                            <a:srgbClr val="15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Borui Ning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14300" bIns="95250"/>
                    <a:lstStyle/>
                    <a:p>
                      <a:pPr algn="l"/>
                      <a:r>
                        <a:rPr sz="1800" b="0">
                          <a:solidFill>
                            <a:srgbClr val="15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 Mamba 验证与融合消融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3895">
                <a:tc>
                  <a:txBody>
                    <a:bodyPr lIns="152400" tIns="114300" rIns="114300" bIns="95250"/>
                    <a:lstStyle/>
                    <a:p>
                      <a:pPr algn="l"/>
                      <a:r>
                        <a:rPr sz="1800" b="0">
                          <a:solidFill>
                            <a:srgbClr val="15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 月 15–21 日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FD9D7"/>
                      </a:solidFill>
                      <a:prstDash val="solid"/>
                    </a:lnL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EDF1EE"/>
                    </a:solidFill>
                  </a:tcPr>
                </a:tc>
                <a:tc>
                  <a:txBody>
                    <a:bodyPr lIns="152400" tIns="114300" rIns="114300" bIns="95250"/>
                    <a:lstStyle/>
                    <a:p>
                      <a:pPr algn="l"/>
                      <a:r>
                        <a:rPr sz="1800" b="0">
                          <a:solidFill>
                            <a:srgbClr val="15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Lingfeng Lu 与全组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EDF1EE"/>
                    </a:solidFill>
                  </a:tcPr>
                </a:tc>
                <a:tc>
                  <a:txBody>
                    <a:bodyPr lIns="152400" tIns="114300" rIns="114300" bIns="95250"/>
                    <a:lstStyle/>
                    <a:p>
                      <a:pPr algn="l"/>
                      <a:r>
                        <a:rPr sz="1800" b="0">
                          <a:solidFill>
                            <a:srgbClr val="15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盲评、效率结果与作者审阅演示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EDF1EE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380E9A-B4A2-4EE5-9B64-528DDFDBB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534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00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15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3444"/>
                </a:solidFill>
                <a:latin typeface="Microsoft YaHei"/>
                <a:ea typeface="Microsoft YaHei"/>
                <a:cs typeface="Microsoft YaHei"/>
              </a:rPr>
              <a:t>统一划分与解码，用验证集选模型，冻结方案后再测试。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DC302B-7A57-4493-ADC1-1F8D42A6E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334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56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5265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56C"/>
                </a:solidFill>
                <a:latin typeface="Microsoft YaHei"/>
                <a:ea typeface="Microsoft YaHei"/>
                <a:cs typeface="Microsoft YaHei"/>
              </a:rPr>
              <a:t>以上为组内工作目标，采用前应核对课程最终日程。</a:t>
            </a:r>
          </a:p>
        </p:txBody>
      </p:sp>
    </p:spTree>
    <p:extLst>
      <p:ext uri="{BB962C8B-B14F-4D97-AF65-F5344CB8AC3E}">
        <p14:creationId xmlns:p14="http://schemas.microsoft.com/office/powerpoint/2010/main" val="11327289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534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236111-7E07-4691-9BFE-DAB01152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里程碑总结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3D085F-A21F-462A-99D6-FDB8B291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D5E8E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425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D5E8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5E8E6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7ADC78-BB9E-4212-822C-374F42C3D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D5E8E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400" b="1">
                <a:solidFill>
                  <a:srgbClr val="D5E8E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D5E8E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D5E8E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D5E8E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D5E8E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D5E8E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D5E8E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D5E8E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D5E8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D5E8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D5E8E6"/>
                </a:solidFill>
                <a:latin typeface="Microsoft YaHei"/>
                <a:ea typeface="Microsoft YaHei"/>
                <a:cs typeface="Microsoft YaHei"/>
              </a:rPr>
              <a:t>已落实的实施证据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98C7B2-AF06-4C85-AAB7-E57C95FB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10820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6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676 对真实学术修订文本及可追溯划分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8C8807-E8D2-4439-8C8B-C2AA0AD8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10820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6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可运行的 Transformer 与 Hybrid 训练流程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1803E0-241B-4808-B24B-C5B5090D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0820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6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已保存的 GPU 日志、检查点与可复现代码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2E3B6E-A307-4BF1-AC55-5D625360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D5E8E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250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D5E8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D5E8E6"/>
                </a:solidFill>
                <a:latin typeface="Microsoft YaHei"/>
                <a:ea typeface="Microsoft YaHei"/>
                <a:cs typeface="Microsoft YaHei"/>
              </a:rPr>
              <a:t>下一阶段重点：预训练微调与独立质量评价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94FBDF-32F4-4B2D-9DC6-CD064891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33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D5E8E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425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D5E8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5E8E6"/>
                </a:solidFill>
                <a:latin typeface="Microsoft YaHei"/>
                <a:ea typeface="Microsoft YaHei"/>
                <a:cs typeface="Microsoft YaHei"/>
              </a:rPr>
              <a:t>本地仓库已建立，远程 GitHub 尚待发布。</a:t>
            </a:r>
          </a:p>
        </p:txBody>
      </p:sp>
    </p:spTree>
    <p:extLst>
      <p:ext uri="{BB962C8B-B14F-4D97-AF65-F5344CB8AC3E}">
        <p14:creationId xmlns:p14="http://schemas.microsoft.com/office/powerpoint/2010/main" val="3089138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2026-10-24T03:43:29.1990000Z</dcterms:created>
  <dcterms:modified xsi:type="dcterms:W3CDTF">2026-10-24T03:43:29.1990000Z</dcterms:modified>
</coreProperties>
</file>