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30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25 seconds</a:t>
            </a:r>
          </a:p>
          <a:p>
            <a:endParaRPr/>
          </a:p>
          <a:p>
            <a:r>
              <a:t>English speaking notes</a:t>
            </a:r>
          </a:p>
          <a:p>
            <a:r>
              <a:t>Hello everyone. Our project is an academic-writing assistant based on a hybrid Transformer–Mamba architecture. It will identify expressions that need revision and suggest clearer academic wording while preserving the writer’s intended meaning. Today, we will introduce the idea, explain our implementation and evaluation plan, and present the responsibilities of our four group members.</a:t>
            </a:r>
          </a:p>
          <a:p>
            <a:endParaRPr/>
          </a:p>
          <a:p>
            <a:r>
              <a:t>中文讲解提示</a:t>
            </a:r>
          </a:p>
          <a:p>
            <a:r>
              <a:t>开场说明这是 proposal。核心任务是检查与改写，混合模型的效果需要通过后续实验验证。主体约 8 分钟，最后两页为备用参考资料。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seconds</a:t>
            </a:r>
          </a:p>
          <a:p>
            <a:endParaRPr/>
          </a:p>
          <a:p>
            <a:r>
              <a:t>English speaking notes</a:t>
            </a:r>
          </a:p>
          <a:p>
            <a:r>
              <a:t>Our goal is to improve academic expression without changing the underlying claim. Here is an illustrative example. We replace “looked at” with “examined”, and “worked better than” with “outperformed”. The sample count remains fifty, the comparison remains between A and B, and the qualifier “in most cases” stays in the sentence. These details matter because a fluent rewrite can still be misleading if it adds certainty or new evidence. The example shows the behavior we want to achieve.</a:t>
            </a:r>
          </a:p>
          <a:p>
            <a:endParaRPr/>
          </a:p>
          <a:p>
            <a:r>
              <a:t>中文讲解提示</a:t>
            </a:r>
          </a:p>
          <a:p>
            <a:r>
              <a:t>例句是人工设计的目标行为展示，并非训练后模型输出。强调事实、数值、比较方向和限定词都保持一致。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40 seconds</a:t>
            </a:r>
          </a:p>
          <a:p>
            <a:endParaRPr/>
          </a:p>
          <a:p>
            <a:r>
              <a:t>English speaking notes</a:t>
            </a:r>
          </a:p>
          <a:p>
            <a:r>
              <a:t>The system has two main stages. First, a style detector predicts whether a sentence needs revision. An acceptable sentence can pass through unchanged. A flagged sentence goes to the hybrid rewriter, which produces an academic alternative. The author then compares the original and the suggestion and decides what to keep. We will begin with sentence-level revise-or-keep labels. More detailed issue spans are an extension. The project focuses on style detection and rewriting, with the writer retaining control over the final text.</a:t>
            </a:r>
          </a:p>
          <a:p>
            <a:endParaRPr/>
          </a:p>
          <a:p>
            <a:r>
              <a:t>中文讲解提示</a:t>
            </a:r>
          </a:p>
          <a:p>
            <a:r>
              <a:t>按分支图讲解：可接受的句子直接保留，需修改的句子进入改写器。检测器先做句子级二分类，片段高亮属于可扩展功能。不要把插件接口说成已经完成。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65 seconds</a:t>
            </a:r>
          </a:p>
          <a:p>
            <a:endParaRPr/>
          </a:p>
          <a:p>
            <a:r>
              <a:t>English speaking notes</a:t>
            </a:r>
          </a:p>
          <a:p>
            <a:r>
              <a:t>The proposed rewriter begins with a Transformer encoder, which captures relationships across the input. Mamba blocks then refine the encoded sequence through selective state-space processing. A fusion mechanism combines the original encoder representation with the refined features before the Transformer decoder generates the rewrite. Our first version will use residual fusion, as shown in the equation. The vectors must have compatible dimensions, so we will add a projection if needed. We will then compare residual fusion with a learned gate and with no skip connection. The motivation is complementary sequence modeling. Whether the full hybrid improves quality or efficiency remains an experimental question.</a:t>
            </a:r>
          </a:p>
          <a:p>
            <a:endParaRPr/>
          </a:p>
          <a:p>
            <a:r>
              <a:t>中文讲解提示</a:t>
            </a:r>
          </a:p>
          <a:p>
            <a:r>
              <a:t>重点解释每个模块的作用及跳连：编码器的原始特征也直接进入融合层。公式是初始 residual 方案的示意；若维度不同需投影。Mamba 的线性序列模块不等于整个混合模型线性复杂度，保留 attention 的混合系统必须实测速度与显存。</a:t>
            </a:r>
          </a:p>
          <a:p>
            <a:endParaRPr/>
          </a:p>
          <a:p>
            <a:r>
              <a:t>Sources</a:t>
            </a:r>
          </a:p>
          <a:p>
            <a:r>
              <a:t>Transformer paper</a:t>
            </a:r>
          </a:p>
          <a:p>
            <a:r>
              <a:t>https://arxiv.org/abs/1706.03762</a:t>
            </a:r>
          </a:p>
          <a:p>
            <a:endParaRPr/>
          </a:p>
          <a:p>
            <a:r>
              <a:t>Mamba paper</a:t>
            </a:r>
          </a:p>
          <a:p>
            <a:r>
              <a:t>https://arxiv.org/abs/2312.00752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55 seconds</a:t>
            </a:r>
          </a:p>
          <a:p>
            <a:endParaRPr/>
          </a:p>
          <a:p>
            <a:r>
              <a:t>English speaking notes</a:t>
            </a:r>
          </a:p>
          <a:p>
            <a:r>
              <a:t>Our data plan combines revision resources with carefully checked synthetic examples. For an initial English-language pilot, IteraTeR is a candidate source of scientific-text revisions. We will retain edits that improve expression while preserving content. Synthetic pairs can cover patterns such as conversational wording, unnecessary intensifiers and weak sentence structure. GYAFC may supplement general formality examples if access is available, but it is not academic-domain ground truth. We propose an eighty-ten-ten split by source document. All revisions and synthetic variants from the same source stay in the same split. We will also prepare a smaller labeled detection set and reserve human-written examples for testing.</a:t>
            </a:r>
          </a:p>
          <a:p>
            <a:endParaRPr/>
          </a:p>
          <a:p>
            <a:r>
              <a:t>中文讲解提示</a:t>
            </a:r>
          </a:p>
          <a:p>
            <a:r>
              <a:t>数据集名称、英文试点及 80/10/10 是对原 proposal 的具体实施建议，不是既成实验事实。IteraTeR 需要筛选语义保持的学术修订；GYAFC 是一般文体正式化数据，原作者仓库要求申请访问，因此仅为可选补充。先划分来源，再合成变体，避免数据泄漏。最终规模以清洗和质量审计后统计为准。</a:t>
            </a:r>
          </a:p>
          <a:p>
            <a:endParaRPr/>
          </a:p>
          <a:p>
            <a:r>
              <a:t>Sources</a:t>
            </a:r>
          </a:p>
          <a:p>
            <a:r>
              <a:t>IteraTeR dataset paper</a:t>
            </a:r>
          </a:p>
          <a:p>
            <a:r>
              <a:t>https://aclanthology.org/2022.acl-long.250/</a:t>
            </a:r>
          </a:p>
          <a:p>
            <a:endParaRPr/>
          </a:p>
          <a:p>
            <a:r>
              <a:t>GYAFC dataset paper</a:t>
            </a:r>
          </a:p>
          <a:p>
            <a:r>
              <a:t>https://aclanthology.org/N18-1012/</a:t>
            </a:r>
          </a:p>
          <a:p>
            <a:endParaRPr/>
          </a:p>
          <a:p>
            <a:r>
              <a:t>GYAFC access instructions</a:t>
            </a:r>
          </a:p>
          <a:p>
            <a:r>
              <a:t>https://github.com/raosudha89/GYAFC-corpus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50 seconds</a:t>
            </a:r>
          </a:p>
          <a:p>
            <a:endParaRPr/>
          </a:p>
          <a:p>
            <a:r>
              <a:t>English speaking notes</a:t>
            </a:r>
          </a:p>
          <a:p>
            <a:r>
              <a:t>We will begin with pretrained components where feasible, so that the project does not depend on training a large language model from scratch. First, we establish a Transformer rewriting baseline and a small style classifier. Next, we insert a limited number of Mamba refinement blocks and train the new layers before selectively unfreezing the pretrained backbone. Rewriting uses sequence cross-entropy, with validation loss and early stopping controlling training. We will start with short inputs, use mixed precision and gradient accumulation, and profile memory and kernel compatibility before increasing the model or sequence length.</a:t>
            </a:r>
          </a:p>
          <a:p>
            <a:endParaRPr/>
          </a:p>
          <a:p>
            <a:r>
              <a:t>中文讲解提示</a:t>
            </a:r>
          </a:p>
          <a:p>
            <a:r>
              <a:t>流程先保证 Transformer 基线能跑通，再插入少量 Mamba 层。检测器的分类损失与改写器的 seq2seq 损失分开。这里是初始训练计划，不声称已有模型、耗时或显存测量。随机初始化 Mamba 层和融合层的训练要在日志中记录。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55 seconds</a:t>
            </a:r>
          </a:p>
          <a:p>
            <a:endParaRPr/>
          </a:p>
          <a:p>
            <a:r>
              <a:t>English speaking notes</a:t>
            </a:r>
          </a:p>
          <a:p>
            <a:r>
              <a:t>Evaluation must separate style improvement from meaning preservation. For detection, we will report precision, recall and F1. BLEU and ROUGE-L measure overlap with edited references, while BERTScore provides a semantic-similarity signal. None of these scores alone proves that a rewrite preserves every claim. We will inspect numbers, entities, negation and qualifiers, and use a small blinded human review if time permits. Academic-style accuracy will use independent held-out labels or a separately validated evaluator. Finally, we will report parameter count, latency and peak memory using the same hardware and matched input and output lengths.</a:t>
            </a:r>
          </a:p>
          <a:p>
            <a:endParaRPr/>
          </a:p>
          <a:p>
            <a:r>
              <a:t>中文讲解提示</a:t>
            </a:r>
          </a:p>
          <a:p>
            <a:r>
              <a:t>不要只报告 BLEU/ROUGE。BERTScore 主要比较生成文本与人工参考，其与原文的相似度可作辅助诊断，但都不能保证事实一致。人工评估可按语义、学术性、流畅度各 1–5 分并标记过度改写。冻结评估协议，不能用同一训练标签自证风格效果。</a:t>
            </a:r>
          </a:p>
          <a:p>
            <a:endParaRPr/>
          </a:p>
          <a:p>
            <a:r>
              <a:t>Sources</a:t>
            </a:r>
          </a:p>
          <a:p>
            <a:r>
              <a:t>BLEU paper</a:t>
            </a:r>
          </a:p>
          <a:p>
            <a:r>
              <a:t>https://aclanthology.org/P02-1040/</a:t>
            </a:r>
          </a:p>
          <a:p>
            <a:endParaRPr/>
          </a:p>
          <a:p>
            <a:r>
              <a:t>ROUGE paper</a:t>
            </a:r>
          </a:p>
          <a:p>
            <a:r>
              <a:t>https://aclanthology.org/W04-1013/</a:t>
            </a:r>
          </a:p>
          <a:p>
            <a:endParaRPr/>
          </a:p>
          <a:p>
            <a:r>
              <a:t>BERTScore paper</a:t>
            </a:r>
          </a:p>
          <a:p>
            <a:r>
              <a:t>https://arxiv.org/abs/1904.09675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50 seconds</a:t>
            </a:r>
          </a:p>
          <a:p>
            <a:endParaRPr/>
          </a:p>
          <a:p>
            <a:r>
              <a:t>English speaking notes</a:t>
            </a:r>
          </a:p>
          <a:p>
            <a:r>
              <a:t>The main study compares a Transformer-only model, a Mamba-only model, and our hybrid. The Mamba-only baseline can use conditional generation, with the source sentence followed by the target rewrite and loss applied to the target. The fusion study keeps the surrounding model fixed and changes only the skip and fusion mechanism. This helps us distinguish the effect of fusion from the effect of adding parameters. We will use the same data splits, token limits and decoding settings, and report differences in model size, training budget and pretraining. We will not assume that the hybrid is better before running these comparisons.</a:t>
            </a:r>
          </a:p>
          <a:p>
            <a:endParaRPr/>
          </a:p>
          <a:p>
            <a:r>
              <a:t>中文讲解提示</a:t>
            </a:r>
          </a:p>
          <a:p>
            <a:r>
              <a:t>明确 Mamba-only 是条件生成基线，不能把带 Transformer 解码器的模型称为 Mamba-only。比较时尽量选择相近参数规模，记录训练与预训练差异；主架构对比与严格控制变量的融合消融承担不同证据作用。No fusion 在实现中定义为移除编码器跳连，仅用 Mamba 输出进入解码器。</a:t>
            </a:r>
          </a:p>
          <a:p>
            <a:endParaRPr/>
          </a:p>
          <a:p>
            <a:r>
              <a:t>Sources</a:t>
            </a:r>
          </a:p>
          <a:p>
            <a:r>
              <a:t>Transformer paper</a:t>
            </a:r>
          </a:p>
          <a:p>
            <a:r>
              <a:t>https://arxiv.org/abs/1706.03762</a:t>
            </a:r>
          </a:p>
          <a:p>
            <a:endParaRPr/>
          </a:p>
          <a:p>
            <a:r>
              <a:t>Mamba paper</a:t>
            </a:r>
          </a:p>
          <a:p>
            <a:r>
              <a:t>https://arxiv.org/abs/2312.00752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40 seconds</a:t>
            </a:r>
          </a:p>
          <a:p>
            <a:endParaRPr/>
          </a:p>
          <a:p>
            <a:r>
              <a:t>English speaking notes</a:t>
            </a:r>
          </a:p>
          <a:p>
            <a:r>
              <a:t>This is a proposed six-week plan, which we can align with the course calendar. In weeks one and two, we prepare the data and establish the baselines. Weeks three and four focus on hybrid training and fusion ablations. Week five covers qualitative review, efficiency measurements and failure-case analysis. In the final week, we integrate the prototype and prepare the report. We will keep the first version at sentence level. The main risks are semantic drift, synthetic-data bias and additional computation, so each phase includes an artifact that the team can inspect before moving on.</a:t>
            </a:r>
          </a:p>
          <a:p>
            <a:endParaRPr/>
          </a:p>
          <a:p>
            <a:r>
              <a:t>中文讲解提示</a:t>
            </a:r>
          </a:p>
          <a:p>
            <a:r>
              <a:t>六周安排是建议计划，截图仅明确 Week 4 Proposal，并未给出最终截止时间。学期时间确定后整体平移或压缩。语义漂移靠事实/限定词检查，合成偏差靠独立人工文本测试，显存风险靠先做小规模 profiling。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40 seconds</a:t>
            </a:r>
          </a:p>
          <a:p>
            <a:endParaRPr/>
          </a:p>
          <a:p>
            <a:r>
              <a:t>English speaking notes</a:t>
            </a:r>
          </a:p>
          <a:p>
            <a:r>
              <a:t>Our responsibilities follow the four modules of the project. Borui Ning leads the hybrid architecture, feature fusion and model integration. </a:t>
            </a:r>
            <a:r>
              <a:rPr lang="en-US"/>
              <a:t>Lichen</a:t>
            </a:r>
            <a:r>
              <a:t> Wang prepares the paired rewriting data, detector labels and dataset splits. Haoxiang Ning builds the training and evaluation pipelines and runs the baselines, tuning and ablation studies. Lingfeng Lu develops the inference interface, conducts qualitative testing and supports visualization and documentation. These outputs connect through shared dataset versions, model checkpoints and evaluation results, so we can integrate our work throughout the project.</a:t>
            </a:r>
          </a:p>
          <a:p>
            <a:endParaRPr/>
          </a:p>
          <a:p>
            <a:r>
              <a:t>中文讲解提示</a:t>
            </a:r>
          </a:p>
          <a:p>
            <a:r>
              <a:t>分工沿用最新版 Transformer_Mamba_Project_Proposal.pdf，不使用更早版本中的其他职责划分。Borui 负责架构；</a:t>
            </a:r>
            <a:r>
              <a:rPr lang="en-US"/>
              <a:t>Lichen</a:t>
            </a:r>
            <a:r>
              <a:t> 负责数据；Haoxiang 负责训练评估；Lingfeng 负责界面与定性测试。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20 seconds</a:t>
            </a:r>
          </a:p>
          <a:p>
            <a:endParaRPr/>
          </a:p>
          <a:p>
            <a:r>
              <a:t>English speaking notes</a:t>
            </a:r>
          </a:p>
          <a:p>
            <a:r>
              <a:t>By the end of the project, we aim to deliver a working academic-writing assistant and a reproducible study of the hybrid architecture. The prototype will support the writer’s revision process, while the experiments will show where the hybrid helps and where it fails. Our central criterion is improved academic style with the intended meaning preserved. Thank you. We welcome your questions.</a:t>
            </a:r>
          </a:p>
          <a:p>
            <a:endParaRPr/>
          </a:p>
          <a:p>
            <a:r>
              <a:t>中文讲解提示</a:t>
            </a:r>
          </a:p>
          <a:p>
            <a:r>
              <a:t>用两个具体成果收尾：可运行的检查与改写原型，以及可复现的模型对比。不要声称混合模型必然优于基线。最后两页为答问时可用的参考资料。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srcRect t="27" b="27"/>
          <a:stretch>
            <a:fillRect/>
          </a:stretch>
        </p:blipFill>
        <p:spPr>
          <a:xfrm>
            <a:off x="5255" y="5255"/>
            <a:ext cx="12192000" cy="6858000"/>
          </a:xfrm>
          <a:prstGeom prst="rect">
            <a:avLst/>
          </a:prstGeom>
        </p:spPr>
      </p:pic>
      <p:sp>
        <p:nvSpPr>
          <p:cNvPr id="2" name="text-0">
            <a:extLst>
              <a:ext uri="{FF2B5EF4-FFF2-40B4-BE49-F238E27FC236}">
                <a16:creationId xmlns:a16="http://schemas.microsoft.com/office/drawing/2014/main" id="{463A1F0B-CD69-496D-A2F0-857835FCACEB}"/>
              </a:ext>
            </a:extLst>
          </p:cNvPr>
          <p:cNvSpPr>
            <a:spLocks noGrp="1"/>
          </p:cNvSpPr>
          <p:nvPr/>
        </p:nvSpPr>
        <p:spPr>
          <a:xfrm>
            <a:off x="609600" y="666750"/>
            <a:ext cx="6191250" cy="361950"/>
          </a:xfrm>
          <a:prstGeom prst="rect">
            <a:avLst/>
          </a:prstGeom>
          <a:noFill/>
          <a:ln w="0">
            <a:noFill/>
          </a:ln>
        </p:spPr>
        <p:txBody>
          <a:bodyPr wrap="square" lIns="0" tIns="0" rIns="0" bIns="0" anchor="t">
            <a:noAutofit/>
          </a:bodyPr>
          <a:lstStyle/>
          <a:p>
            <a:pPr algn="l">
              <a:defRPr sz="1800" b="1">
                <a:solidFill>
                  <a:srgbClr val="B97545"/>
                </a:solidFill>
                <a:latin typeface="Nimbus Sans"/>
                <a:ea typeface="Nimbus Sans"/>
                <a:cs typeface="Nimbus Sans"/>
              </a:defRPr>
            </a:pPr>
            <a:r>
              <a:rPr sz="1800" b="1">
                <a:solidFill>
                  <a:srgbClr val="B97545"/>
                </a:solidFill>
                <a:latin typeface="Nimbus Sans"/>
                <a:ea typeface="Nimbus Sans"/>
                <a:cs typeface="Nimbus Sans"/>
              </a:rPr>
              <a:t>WEEK 4 PROPOSAL</a:t>
            </a:r>
          </a:p>
        </p:txBody>
      </p:sp>
      <p:sp>
        <p:nvSpPr>
          <p:cNvPr id="3" name="text-1">
            <a:extLst>
              <a:ext uri="{FF2B5EF4-FFF2-40B4-BE49-F238E27FC236}">
                <a16:creationId xmlns:a16="http://schemas.microsoft.com/office/drawing/2014/main" id="{0D281CB9-F19F-4FDE-87FF-8E838A998A9D}"/>
              </a:ext>
            </a:extLst>
          </p:cNvPr>
          <p:cNvSpPr>
            <a:spLocks noGrp="1"/>
          </p:cNvSpPr>
          <p:nvPr/>
        </p:nvSpPr>
        <p:spPr>
          <a:xfrm>
            <a:off x="609600" y="1924050"/>
            <a:ext cx="6858000" cy="1647825"/>
          </a:xfrm>
          <a:prstGeom prst="rect">
            <a:avLst/>
          </a:prstGeom>
          <a:noFill/>
          <a:ln w="0">
            <a:noFill/>
          </a:ln>
        </p:spPr>
        <p:txBody>
          <a:bodyPr wrap="square" lIns="0" tIns="0" rIns="0" bIns="0" anchor="t">
            <a:noAutofit/>
          </a:bodyPr>
          <a:lstStyle/>
          <a:p>
            <a:pPr algn="l">
              <a:defRPr sz="5100" b="1">
                <a:solidFill>
                  <a:srgbClr val="193B3A"/>
                </a:solidFill>
                <a:latin typeface="Nimbus Sans"/>
                <a:ea typeface="Nimbus Sans"/>
                <a:cs typeface="Nimbus Sans"/>
              </a:defRPr>
            </a:pPr>
            <a:r>
              <a:rPr sz="5100" b="1">
                <a:solidFill>
                  <a:srgbClr val="193B3A"/>
                </a:solidFill>
                <a:latin typeface="Nimbus Sans"/>
                <a:ea typeface="Nimbus Sans"/>
                <a:cs typeface="Nimbus Sans"/>
              </a:rPr>
              <a:t>Academic Text</a:t>
            </a:r>
          </a:p>
          <a:p>
            <a:pPr algn="l">
              <a:defRPr sz="5100" b="1">
                <a:solidFill>
                  <a:srgbClr val="193B3A"/>
                </a:solidFill>
                <a:latin typeface="Nimbus Sans"/>
                <a:ea typeface="Nimbus Sans"/>
                <a:cs typeface="Nimbus Sans"/>
              </a:defRPr>
            </a:pPr>
            <a:r>
              <a:rPr sz="5100" b="1">
                <a:solidFill>
                  <a:srgbClr val="193B3A"/>
                </a:solidFill>
                <a:latin typeface="Nimbus Sans"/>
                <a:ea typeface="Nimbus Sans"/>
                <a:cs typeface="Nimbus Sans"/>
              </a:rPr>
              <a:t>Style Enhancement</a:t>
            </a:r>
          </a:p>
        </p:txBody>
      </p:sp>
      <p:sp>
        <p:nvSpPr>
          <p:cNvPr id="4" name="text-2">
            <a:extLst>
              <a:ext uri="{FF2B5EF4-FFF2-40B4-BE49-F238E27FC236}">
                <a16:creationId xmlns:a16="http://schemas.microsoft.com/office/drawing/2014/main" id="{F154296E-843D-4C10-8C0D-FBE8606BDDE0}"/>
              </a:ext>
            </a:extLst>
          </p:cNvPr>
          <p:cNvSpPr>
            <a:spLocks noGrp="1"/>
          </p:cNvSpPr>
          <p:nvPr/>
        </p:nvSpPr>
        <p:spPr>
          <a:xfrm>
            <a:off x="628650" y="3838575"/>
            <a:ext cx="7096125" cy="666750"/>
          </a:xfrm>
          <a:prstGeom prst="rect">
            <a:avLst/>
          </a:prstGeom>
          <a:noFill/>
          <a:ln w="0">
            <a:noFill/>
          </a:ln>
        </p:spPr>
        <p:txBody>
          <a:bodyPr wrap="square" lIns="0" tIns="0" rIns="0" bIns="0" anchor="t">
            <a:noAutofit/>
          </a:bodyPr>
          <a:lstStyle/>
          <a:p>
            <a:pPr algn="l">
              <a:defRPr sz="2325" b="0">
                <a:solidFill>
                  <a:srgbClr val="276963"/>
                </a:solidFill>
                <a:latin typeface="Nimbus Sans"/>
                <a:ea typeface="Nimbus Sans"/>
                <a:cs typeface="Nimbus Sans"/>
              </a:defRPr>
            </a:pPr>
            <a:r>
              <a:rPr sz="2325" b="0">
                <a:solidFill>
                  <a:srgbClr val="276963"/>
                </a:solidFill>
                <a:latin typeface="Nimbus Sans"/>
                <a:ea typeface="Nimbus Sans"/>
                <a:cs typeface="Nimbus Sans"/>
              </a:rPr>
              <a:t>A Hybrid Transformer–Mamba Architecture</a:t>
            </a:r>
          </a:p>
        </p:txBody>
      </p:sp>
      <p:sp>
        <p:nvSpPr>
          <p:cNvPr id="5" name="text-3">
            <a:extLst>
              <a:ext uri="{FF2B5EF4-FFF2-40B4-BE49-F238E27FC236}">
                <a16:creationId xmlns:a16="http://schemas.microsoft.com/office/drawing/2014/main" id="{0588FB5C-E21E-4271-B1C5-B4994E38090C}"/>
              </a:ext>
            </a:extLst>
          </p:cNvPr>
          <p:cNvSpPr>
            <a:spLocks noGrp="1"/>
          </p:cNvSpPr>
          <p:nvPr/>
        </p:nvSpPr>
        <p:spPr>
          <a:xfrm>
            <a:off x="628650" y="5448300"/>
            <a:ext cx="6048375" cy="790575"/>
          </a:xfrm>
          <a:prstGeom prst="rect">
            <a:avLst/>
          </a:prstGeom>
          <a:noFill/>
          <a:ln w="0">
            <a:noFill/>
          </a:ln>
        </p:spPr>
        <p:txBody>
          <a:bodyPr wrap="square" lIns="0" tIns="0" rIns="0" bIns="0" anchor="t">
            <a:noAutofit/>
          </a:bodyPr>
          <a:lstStyle/>
          <a:p>
            <a:pPr algn="l">
              <a:defRPr sz="1875" b="0">
                <a:solidFill>
                  <a:srgbClr val="5F6C6B"/>
                </a:solidFill>
                <a:latin typeface="Nimbus Sans"/>
                <a:ea typeface="Nimbus Sans"/>
                <a:cs typeface="Nimbus Sans"/>
              </a:defRPr>
            </a:pPr>
            <a:r>
              <a:rPr sz="1875" b="0" dirty="0">
                <a:solidFill>
                  <a:srgbClr val="5F6C6B"/>
                </a:solidFill>
                <a:latin typeface="Nimbus Sans"/>
                <a:ea typeface="Nimbus Sans"/>
                <a:cs typeface="Nimbus Sans"/>
              </a:rPr>
              <a:t>Borui Ning                 </a:t>
            </a:r>
            <a:r>
              <a:rPr lang="en-US" sz="1875" b="0" dirty="0">
                <a:solidFill>
                  <a:srgbClr val="5F6C6B"/>
                </a:solidFill>
                <a:latin typeface="Nimbus Sans"/>
                <a:ea typeface="Nimbus Sans"/>
                <a:cs typeface="Nimbus Sans"/>
              </a:rPr>
              <a:t>Lichen</a:t>
            </a:r>
            <a:r>
              <a:rPr sz="1875" b="0" dirty="0">
                <a:solidFill>
                  <a:srgbClr val="5F6C6B"/>
                </a:solidFill>
                <a:latin typeface="Nimbus Sans"/>
                <a:ea typeface="Nimbus Sans"/>
                <a:cs typeface="Nimbus Sans"/>
              </a:rPr>
              <a:t> Wang</a:t>
            </a:r>
          </a:p>
          <a:p>
            <a:pPr algn="l">
              <a:defRPr sz="1875" b="0">
                <a:solidFill>
                  <a:srgbClr val="5F6C6B"/>
                </a:solidFill>
                <a:latin typeface="Nimbus Sans"/>
                <a:ea typeface="Nimbus Sans"/>
                <a:cs typeface="Nimbus Sans"/>
              </a:defRPr>
            </a:pPr>
            <a:r>
              <a:rPr sz="1875" b="0" dirty="0" err="1">
                <a:solidFill>
                  <a:srgbClr val="5F6C6B"/>
                </a:solidFill>
                <a:latin typeface="Nimbus Sans"/>
                <a:ea typeface="Nimbus Sans"/>
                <a:cs typeface="Nimbus Sans"/>
              </a:rPr>
              <a:t>Haoxiang</a:t>
            </a:r>
            <a:r>
              <a:rPr sz="1875" b="0" dirty="0">
                <a:solidFill>
                  <a:srgbClr val="5F6C6B"/>
                </a:solidFill>
                <a:latin typeface="Nimbus Sans"/>
                <a:ea typeface="Nimbus Sans"/>
                <a:cs typeface="Nimbus Sans"/>
              </a:rPr>
              <a:t> Ning           Lingfeng Lu</a:t>
            </a:r>
          </a:p>
        </p:txBody>
      </p:sp>
    </p:spTree>
    <p:extLst>
      <p:ext uri="{BB962C8B-B14F-4D97-AF65-F5344CB8AC3E}">
        <p14:creationId xmlns:p14="http://schemas.microsoft.com/office/powerpoint/2010/main" val="455241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D71E757C-8850-443D-A079-5C6EABF913D2}"/>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Project idea</a:t>
            </a:r>
          </a:p>
        </p:txBody>
      </p:sp>
      <p:sp>
        <p:nvSpPr>
          <p:cNvPr id="2" name="text-1">
            <a:extLst>
              <a:ext uri="{FF2B5EF4-FFF2-40B4-BE49-F238E27FC236}">
                <a16:creationId xmlns:a16="http://schemas.microsoft.com/office/drawing/2014/main" id="{49F83CA4-B4FD-4A3F-8031-F3D4CCB30606}"/>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02</a:t>
            </a:r>
          </a:p>
        </p:txBody>
      </p:sp>
      <p:sp>
        <p:nvSpPr>
          <p:cNvPr id="3" name="text-2">
            <a:extLst>
              <a:ext uri="{FF2B5EF4-FFF2-40B4-BE49-F238E27FC236}">
                <a16:creationId xmlns:a16="http://schemas.microsoft.com/office/drawing/2014/main" id="{8E268D9A-9F95-42C6-98CA-13F5677CF21C}"/>
              </a:ext>
            </a:extLst>
          </p:cNvPr>
          <p:cNvSpPr>
            <a:spLocks noGrp="1"/>
          </p:cNvSpPr>
          <p:nvPr/>
        </p:nvSpPr>
        <p:spPr>
          <a:xfrm>
            <a:off x="609600" y="1390650"/>
            <a:ext cx="10858500" cy="819150"/>
          </a:xfrm>
          <a:prstGeom prst="rect">
            <a:avLst/>
          </a:prstGeom>
          <a:noFill/>
          <a:ln w="0">
            <a:noFill/>
          </a:ln>
        </p:spPr>
        <p:txBody>
          <a:bodyPr wrap="square" lIns="0" tIns="0" rIns="0" bIns="0" anchor="t">
            <a:noAutofit/>
          </a:bodyPr>
          <a:lstStyle/>
          <a:p>
            <a:pPr algn="l">
              <a:defRPr sz="2475" b="0">
                <a:solidFill>
                  <a:srgbClr val="193B3A"/>
                </a:solidFill>
                <a:latin typeface="Nimbus Sans"/>
                <a:ea typeface="Nimbus Sans"/>
                <a:cs typeface="Nimbus Sans"/>
              </a:defRPr>
            </a:pPr>
            <a:r>
              <a:rPr sz="2475" b="0">
                <a:solidFill>
                  <a:srgbClr val="193B3A"/>
                </a:solidFill>
                <a:latin typeface="Nimbus Sans"/>
                <a:ea typeface="Nimbus Sans"/>
                <a:cs typeface="Nimbus Sans"/>
              </a:rPr>
              <a:t>A writing assistant that detects weak academic style</a:t>
            </a:r>
          </a:p>
          <a:p>
            <a:pPr algn="l">
              <a:defRPr sz="2475" b="0">
                <a:solidFill>
                  <a:srgbClr val="193B3A"/>
                </a:solidFill>
                <a:latin typeface="Nimbus Sans"/>
                <a:ea typeface="Nimbus Sans"/>
                <a:cs typeface="Nimbus Sans"/>
              </a:defRPr>
            </a:pPr>
            <a:r>
              <a:rPr sz="2475" b="0">
                <a:solidFill>
                  <a:srgbClr val="193B3A"/>
                </a:solidFill>
                <a:latin typeface="Nimbus Sans"/>
                <a:ea typeface="Nimbus Sans"/>
                <a:cs typeface="Nimbus Sans"/>
              </a:rPr>
              <a:t>and proposes a meaning-preserving revision.</a:t>
            </a:r>
          </a:p>
        </p:txBody>
      </p:sp>
      <p:sp>
        <p:nvSpPr>
          <p:cNvPr id="4" name="text-3">
            <a:extLst>
              <a:ext uri="{FF2B5EF4-FFF2-40B4-BE49-F238E27FC236}">
                <a16:creationId xmlns:a16="http://schemas.microsoft.com/office/drawing/2014/main" id="{8C44E8CB-121D-493A-860E-3B0CFD3F6B1B}"/>
              </a:ext>
            </a:extLst>
          </p:cNvPr>
          <p:cNvSpPr>
            <a:spLocks noGrp="1"/>
          </p:cNvSpPr>
          <p:nvPr/>
        </p:nvSpPr>
        <p:spPr>
          <a:xfrm>
            <a:off x="609600" y="2533650"/>
            <a:ext cx="5238750" cy="266700"/>
          </a:xfrm>
          <a:prstGeom prst="rect">
            <a:avLst/>
          </a:prstGeom>
          <a:noFill/>
          <a:ln w="0">
            <a:noFill/>
          </a:ln>
        </p:spPr>
        <p:txBody>
          <a:bodyPr wrap="square" lIns="0" tIns="0" rIns="0" bIns="0" anchor="t">
            <a:noAutofit/>
          </a:bodyPr>
          <a:lstStyle/>
          <a:p>
            <a:pPr algn="l">
              <a:defRPr sz="1500" b="1">
                <a:solidFill>
                  <a:srgbClr val="B97545"/>
                </a:solidFill>
                <a:latin typeface="Nimbus Sans"/>
                <a:ea typeface="Nimbus Sans"/>
                <a:cs typeface="Nimbus Sans"/>
              </a:defRPr>
            </a:pPr>
            <a:r>
              <a:rPr sz="1500" b="1">
                <a:solidFill>
                  <a:srgbClr val="B97545"/>
                </a:solidFill>
                <a:latin typeface="Nimbus Sans"/>
                <a:ea typeface="Nimbus Sans"/>
                <a:cs typeface="Nimbus Sans"/>
              </a:rPr>
              <a:t>ILLUSTRATIVE EXAMPLE</a:t>
            </a:r>
          </a:p>
        </p:txBody>
      </p:sp>
      <p:sp>
        <p:nvSpPr>
          <p:cNvPr id="5" name="text-4">
            <a:extLst>
              <a:ext uri="{FF2B5EF4-FFF2-40B4-BE49-F238E27FC236}">
                <a16:creationId xmlns:a16="http://schemas.microsoft.com/office/drawing/2014/main" id="{93A366F2-5394-4173-8CB9-B06CB5CC7AA3}"/>
              </a:ext>
            </a:extLst>
          </p:cNvPr>
          <p:cNvSpPr>
            <a:spLocks noGrp="1"/>
          </p:cNvSpPr>
          <p:nvPr/>
        </p:nvSpPr>
        <p:spPr>
          <a:xfrm>
            <a:off x="609600" y="3067050"/>
            <a:ext cx="4762500" cy="361950"/>
          </a:xfrm>
          <a:prstGeom prst="rect">
            <a:avLst/>
          </a:prstGeom>
          <a:noFill/>
          <a:ln w="0">
            <a:noFill/>
          </a:ln>
        </p:spPr>
        <p:txBody>
          <a:bodyPr wrap="square" lIns="0" tIns="0" rIns="0" bIns="0" anchor="t">
            <a:noAutofit/>
          </a:bodyPr>
          <a:lstStyle/>
          <a:p>
            <a:pPr algn="l">
              <a:defRPr sz="2100" b="1">
                <a:solidFill>
                  <a:srgbClr val="5F6C6B"/>
                </a:solidFill>
                <a:latin typeface="Nimbus Sans"/>
                <a:ea typeface="Nimbus Sans"/>
                <a:cs typeface="Nimbus Sans"/>
              </a:defRPr>
            </a:pPr>
            <a:r>
              <a:rPr sz="2100" b="1">
                <a:solidFill>
                  <a:srgbClr val="5F6C6B"/>
                </a:solidFill>
                <a:latin typeface="Nimbus Sans"/>
                <a:ea typeface="Nimbus Sans"/>
                <a:cs typeface="Nimbus Sans"/>
              </a:rPr>
              <a:t>Draft</a:t>
            </a:r>
          </a:p>
        </p:txBody>
      </p:sp>
      <p:sp>
        <p:nvSpPr>
          <p:cNvPr id="6" name="text-5">
            <a:extLst>
              <a:ext uri="{FF2B5EF4-FFF2-40B4-BE49-F238E27FC236}">
                <a16:creationId xmlns:a16="http://schemas.microsoft.com/office/drawing/2014/main" id="{9A1FE442-EF49-4422-B9A4-5F0F4AEE6B09}"/>
              </a:ext>
            </a:extLst>
          </p:cNvPr>
          <p:cNvSpPr>
            <a:spLocks noGrp="1"/>
          </p:cNvSpPr>
          <p:nvPr/>
        </p:nvSpPr>
        <p:spPr>
          <a:xfrm>
            <a:off x="6419850" y="3067050"/>
            <a:ext cx="4953000" cy="361950"/>
          </a:xfrm>
          <a:prstGeom prst="rect">
            <a:avLst/>
          </a:prstGeom>
          <a:noFill/>
          <a:ln w="0">
            <a:noFill/>
          </a:ln>
        </p:spPr>
        <p:txBody>
          <a:bodyPr wrap="square" lIns="0" tIns="0" rIns="0" bIns="0" anchor="t">
            <a:noAutofit/>
          </a:bodyPr>
          <a:lstStyle/>
          <a:p>
            <a:pPr algn="l">
              <a:defRPr sz="2100" b="1">
                <a:solidFill>
                  <a:srgbClr val="276963"/>
                </a:solidFill>
                <a:latin typeface="Nimbus Sans"/>
                <a:ea typeface="Nimbus Sans"/>
                <a:cs typeface="Nimbus Sans"/>
              </a:defRPr>
            </a:pPr>
            <a:r>
              <a:rPr sz="2100" b="1">
                <a:solidFill>
                  <a:srgbClr val="276963"/>
                </a:solidFill>
                <a:latin typeface="Nimbus Sans"/>
                <a:ea typeface="Nimbus Sans"/>
                <a:cs typeface="Nimbus Sans"/>
              </a:rPr>
              <a:t>Academic revision</a:t>
            </a:r>
          </a:p>
        </p:txBody>
      </p:sp>
      <p:sp>
        <p:nvSpPr>
          <p:cNvPr id="7" name="text-6">
            <a:extLst>
              <a:ext uri="{FF2B5EF4-FFF2-40B4-BE49-F238E27FC236}">
                <a16:creationId xmlns:a16="http://schemas.microsoft.com/office/drawing/2014/main" id="{56F3A6CB-205F-4E7C-A761-5E83746DAD7B}"/>
              </a:ext>
            </a:extLst>
          </p:cNvPr>
          <p:cNvSpPr>
            <a:spLocks noGrp="1"/>
          </p:cNvSpPr>
          <p:nvPr/>
        </p:nvSpPr>
        <p:spPr>
          <a:xfrm>
            <a:off x="609600" y="3600450"/>
            <a:ext cx="5000625" cy="1524000"/>
          </a:xfrm>
          <a:prstGeom prst="rect">
            <a:avLst/>
          </a:prstGeom>
          <a:noFill/>
          <a:ln w="0">
            <a:noFill/>
          </a:ln>
        </p:spPr>
        <p:txBody>
          <a:bodyPr wrap="square" lIns="0" tIns="0" rIns="0" bIns="0" anchor="t">
            <a:noAutofit/>
          </a:bodyPr>
          <a:lstStyle/>
          <a:p>
            <a:pPr algn="l">
              <a:defRPr sz="2400" b="0">
                <a:solidFill>
                  <a:srgbClr val="193B3A"/>
                </a:solidFill>
                <a:latin typeface="Nimbus Sans"/>
                <a:ea typeface="Nimbus Sans"/>
                <a:cs typeface="Nimbus Sans"/>
              </a:defRPr>
            </a:pPr>
            <a:r>
              <a:rPr sz="2400" b="0">
                <a:solidFill>
                  <a:srgbClr val="193B3A"/>
                </a:solidFill>
                <a:latin typeface="Nimbus Sans"/>
                <a:ea typeface="Nimbus Sans"/>
                <a:cs typeface="Nimbus Sans"/>
              </a:rPr>
              <a:t>“We looked at 50 samples and found that A worked better than B in most cases.”</a:t>
            </a:r>
          </a:p>
        </p:txBody>
      </p:sp>
      <p:sp>
        <p:nvSpPr>
          <p:cNvPr id="8" name="text-7">
            <a:extLst>
              <a:ext uri="{FF2B5EF4-FFF2-40B4-BE49-F238E27FC236}">
                <a16:creationId xmlns:a16="http://schemas.microsoft.com/office/drawing/2014/main" id="{82122B47-FCC6-4BBA-BA29-7C44D0B7AA0B}"/>
              </a:ext>
            </a:extLst>
          </p:cNvPr>
          <p:cNvSpPr>
            <a:spLocks noGrp="1"/>
          </p:cNvSpPr>
          <p:nvPr/>
        </p:nvSpPr>
        <p:spPr>
          <a:xfrm>
            <a:off x="6419850" y="3600450"/>
            <a:ext cx="4953000" cy="1524000"/>
          </a:xfrm>
          <a:prstGeom prst="rect">
            <a:avLst/>
          </a:prstGeom>
          <a:noFill/>
          <a:ln w="0">
            <a:noFill/>
          </a:ln>
        </p:spPr>
        <p:txBody>
          <a:bodyPr wrap="square" lIns="0" tIns="0" rIns="0" bIns="0" anchor="t">
            <a:noAutofit/>
          </a:bodyPr>
          <a:lstStyle/>
          <a:p>
            <a:pPr algn="l">
              <a:defRPr sz="2400" b="0">
                <a:solidFill>
                  <a:srgbClr val="276963"/>
                </a:solidFill>
                <a:latin typeface="Nimbus Sans"/>
                <a:ea typeface="Nimbus Sans"/>
                <a:cs typeface="Nimbus Sans"/>
              </a:defRPr>
            </a:pPr>
            <a:r>
              <a:rPr sz="2400" b="0">
                <a:solidFill>
                  <a:srgbClr val="276963"/>
                </a:solidFill>
                <a:latin typeface="Nimbus Sans"/>
                <a:ea typeface="Nimbus Sans"/>
                <a:cs typeface="Nimbus Sans"/>
              </a:rPr>
              <a:t>“We examined 50 samples and found that A outperformed B in most cases.”</a:t>
            </a:r>
          </a:p>
        </p:txBody>
      </p:sp>
      <p:sp>
        <p:nvSpPr>
          <p:cNvPr id="9" name="直接连接符 8">
            <a:extLst>
              <a:ext uri="{FF2B5EF4-FFF2-40B4-BE49-F238E27FC236}">
                <a16:creationId xmlns:a16="http://schemas.microsoft.com/office/drawing/2014/main" id="{D83B3594-B156-490D-BAFE-64A97F638518}"/>
              </a:ext>
            </a:extLst>
          </p:cNvPr>
          <p:cNvSpPr>
            <a:spLocks noGrp="1"/>
          </p:cNvSpPr>
          <p:nvPr/>
        </p:nvSpPr>
        <p:spPr>
          <a:xfrm>
            <a:off x="609600" y="5467350"/>
            <a:ext cx="10810875" cy="0"/>
          </a:xfrm>
          <a:prstGeom prst="line">
            <a:avLst/>
          </a:prstGeom>
          <a:noFill/>
          <a:ln w="11430">
            <a:solidFill>
              <a:srgbClr val="C9D7D0"/>
            </a:solidFill>
          </a:ln>
        </p:spPr>
      </p:sp>
      <p:sp>
        <p:nvSpPr>
          <p:cNvPr id="10" name="text-9">
            <a:extLst>
              <a:ext uri="{FF2B5EF4-FFF2-40B4-BE49-F238E27FC236}">
                <a16:creationId xmlns:a16="http://schemas.microsoft.com/office/drawing/2014/main" id="{C59622AF-7E7F-4447-8B05-2CFB30F4E8AC}"/>
              </a:ext>
            </a:extLst>
          </p:cNvPr>
          <p:cNvSpPr>
            <a:spLocks noGrp="1"/>
          </p:cNvSpPr>
          <p:nvPr/>
        </p:nvSpPr>
        <p:spPr>
          <a:xfrm>
            <a:off x="609600" y="5695950"/>
            <a:ext cx="10572750" cy="552450"/>
          </a:xfrm>
          <a:prstGeom prst="rect">
            <a:avLst/>
          </a:prstGeom>
          <a:noFill/>
          <a:ln w="0">
            <a:noFill/>
          </a:ln>
        </p:spPr>
        <p:txBody>
          <a:bodyPr wrap="square" lIns="0" tIns="0" rIns="0" bIns="0" anchor="t">
            <a:noAutofit/>
          </a:bodyPr>
          <a:lstStyle/>
          <a:p>
            <a:pPr algn="l">
              <a:defRPr sz="1875" b="0">
                <a:solidFill>
                  <a:srgbClr val="5F6C6B"/>
                </a:solidFill>
                <a:latin typeface="Nimbus Sans"/>
                <a:ea typeface="Nimbus Sans"/>
                <a:cs typeface="Nimbus Sans"/>
              </a:defRPr>
            </a:pPr>
            <a:r>
              <a:rPr sz="1875" b="0">
                <a:solidFill>
                  <a:srgbClr val="5F6C6B"/>
                </a:solidFill>
                <a:latin typeface="Nimbus Sans"/>
                <a:ea typeface="Nimbus Sans"/>
                <a:cs typeface="Nimbus Sans"/>
              </a:rPr>
              <a:t>The revision keeps the sample count, the comparison and the qualifier “in most cases”.</a:t>
            </a:r>
          </a:p>
        </p:txBody>
      </p:sp>
    </p:spTree>
    <p:extLst>
      <p:ext uri="{BB962C8B-B14F-4D97-AF65-F5344CB8AC3E}">
        <p14:creationId xmlns:p14="http://schemas.microsoft.com/office/powerpoint/2010/main" val="1476605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F1370223-3088-47FB-865B-28169793D00D}"/>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Detection and rewriting</a:t>
            </a:r>
          </a:p>
        </p:txBody>
      </p:sp>
      <p:sp>
        <p:nvSpPr>
          <p:cNvPr id="2" name="text-1">
            <a:extLst>
              <a:ext uri="{FF2B5EF4-FFF2-40B4-BE49-F238E27FC236}">
                <a16:creationId xmlns:a16="http://schemas.microsoft.com/office/drawing/2014/main" id="{6A9B84FB-924B-43E8-B947-C3A2C44C3DC0}"/>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03</a:t>
            </a:r>
          </a:p>
        </p:txBody>
      </p:sp>
      <p:sp>
        <p:nvSpPr>
          <p:cNvPr id="3" name="text-2">
            <a:extLst>
              <a:ext uri="{FF2B5EF4-FFF2-40B4-BE49-F238E27FC236}">
                <a16:creationId xmlns:a16="http://schemas.microsoft.com/office/drawing/2014/main" id="{CF712CCB-63DD-49BC-8E0D-92C4B84FA00C}"/>
              </a:ext>
            </a:extLst>
          </p:cNvPr>
          <p:cNvSpPr>
            <a:spLocks noGrp="1"/>
          </p:cNvSpPr>
          <p:nvPr/>
        </p:nvSpPr>
        <p:spPr>
          <a:xfrm>
            <a:off x="609600" y="1390650"/>
            <a:ext cx="10763250" cy="504825"/>
          </a:xfrm>
          <a:prstGeom prst="rect">
            <a:avLst/>
          </a:prstGeom>
          <a:noFill/>
          <a:ln w="0">
            <a:noFill/>
          </a:ln>
        </p:spPr>
        <p:txBody>
          <a:bodyPr wrap="square" lIns="0" tIns="0" rIns="0" bIns="0" anchor="t">
            <a:noAutofit/>
          </a:bodyPr>
          <a:lstStyle/>
          <a:p>
            <a:pPr algn="l">
              <a:defRPr sz="2325" b="0">
                <a:solidFill>
                  <a:srgbClr val="193B3A"/>
                </a:solidFill>
                <a:latin typeface="Nimbus Sans"/>
                <a:ea typeface="Nimbus Sans"/>
                <a:cs typeface="Nimbus Sans"/>
              </a:defRPr>
            </a:pPr>
            <a:r>
              <a:rPr sz="2325" b="0">
                <a:solidFill>
                  <a:srgbClr val="193B3A"/>
                </a:solidFill>
                <a:latin typeface="Nimbus Sans"/>
                <a:ea typeface="Nimbus Sans"/>
                <a:cs typeface="Nimbus Sans"/>
              </a:rPr>
              <a:t>Two stages support selective revision and author control.</a:t>
            </a:r>
          </a:p>
        </p:txBody>
      </p:sp>
      <p:sp>
        <p:nvSpPr>
          <p:cNvPr id="4" name="Input sentence">
            <a:extLst>
              <a:ext uri="{FF2B5EF4-FFF2-40B4-BE49-F238E27FC236}">
                <a16:creationId xmlns:a16="http://schemas.microsoft.com/office/drawing/2014/main" id="{2E124B21-DAEC-4DDF-9312-8559FB2BCE2A}"/>
              </a:ext>
            </a:extLst>
          </p:cNvPr>
          <p:cNvSpPr>
            <a:spLocks noGrp="1"/>
          </p:cNvSpPr>
          <p:nvPr/>
        </p:nvSpPr>
        <p:spPr>
          <a:xfrm>
            <a:off x="609600" y="2819400"/>
            <a:ext cx="2066925" cy="914400"/>
          </a:xfrm>
          <a:prstGeom prst="rect">
            <a:avLst/>
          </a:prstGeom>
          <a:solidFill>
            <a:srgbClr val="F6F7F3"/>
          </a:solidFill>
          <a:ln w="11430">
            <a:solidFill>
              <a:srgbClr val="C9D7D0"/>
            </a:solidFill>
          </a:ln>
        </p:spPr>
        <p:txBody>
          <a:bodyPr lIns="95250" tIns="76200" rIns="95250" bIns="76200" anchor="ctr">
            <a:noAutofit/>
          </a:bodyPr>
          <a:lstStyle/>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Input sentence</a:t>
            </a:r>
          </a:p>
        </p:txBody>
      </p:sp>
      <p:sp>
        <p:nvSpPr>
          <p:cNvPr id="5" name="Style detector">
            <a:extLst>
              <a:ext uri="{FF2B5EF4-FFF2-40B4-BE49-F238E27FC236}">
                <a16:creationId xmlns:a16="http://schemas.microsoft.com/office/drawing/2014/main" id="{4361D782-2A96-4650-88BB-980CB5AC2307}"/>
              </a:ext>
            </a:extLst>
          </p:cNvPr>
          <p:cNvSpPr>
            <a:spLocks noGrp="1"/>
          </p:cNvSpPr>
          <p:nvPr/>
        </p:nvSpPr>
        <p:spPr>
          <a:xfrm>
            <a:off x="3238500" y="2819400"/>
            <a:ext cx="2181225" cy="914400"/>
          </a:xfrm>
          <a:prstGeom prst="rect">
            <a:avLst/>
          </a:prstGeom>
          <a:solidFill>
            <a:srgbClr val="DFE9E3"/>
          </a:solidFill>
          <a:ln w="11430">
            <a:solidFill>
              <a:srgbClr val="C9D7D0"/>
            </a:solidFill>
          </a:ln>
        </p:spPr>
        <p:txBody>
          <a:bodyPr lIns="95250" tIns="76200" rIns="95250" bIns="76200" anchor="ctr">
            <a:noAutofit/>
          </a:bodyPr>
          <a:lstStyle/>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Style detector</a:t>
            </a:r>
          </a:p>
        </p:txBody>
      </p:sp>
      <p:sp>
        <p:nvSpPr>
          <p:cNvPr id="6" name="Keep original">
            <a:extLst>
              <a:ext uri="{FF2B5EF4-FFF2-40B4-BE49-F238E27FC236}">
                <a16:creationId xmlns:a16="http://schemas.microsoft.com/office/drawing/2014/main" id="{0F9A1033-4B54-41C4-8D24-E812AFB7B7B6}"/>
              </a:ext>
            </a:extLst>
          </p:cNvPr>
          <p:cNvSpPr>
            <a:spLocks noGrp="1"/>
          </p:cNvSpPr>
          <p:nvPr/>
        </p:nvSpPr>
        <p:spPr>
          <a:xfrm>
            <a:off x="6191250" y="2133600"/>
            <a:ext cx="2266950" cy="838200"/>
          </a:xfrm>
          <a:prstGeom prst="rect">
            <a:avLst/>
          </a:prstGeom>
          <a:solidFill>
            <a:srgbClr val="F6F7F3"/>
          </a:solidFill>
          <a:ln w="11430">
            <a:solidFill>
              <a:srgbClr val="C9D7D0"/>
            </a:solidFill>
          </a:ln>
        </p:spPr>
        <p:txBody>
          <a:bodyPr lIns="95250" tIns="76200" rIns="95250" bIns="76200" anchor="ctr">
            <a:noAutofit/>
          </a:bodyPr>
          <a:lstStyle/>
          <a:p>
            <a:pPr algn="ctr">
              <a:defRPr sz="1875" b="1">
                <a:solidFill>
                  <a:srgbClr val="5F6C6B"/>
                </a:solidFill>
                <a:latin typeface="Nimbus Sans"/>
                <a:ea typeface="Nimbus Sans"/>
                <a:cs typeface="Nimbus Sans"/>
              </a:defRPr>
            </a:pPr>
            <a:r>
              <a:rPr sz="1875" b="1">
                <a:solidFill>
                  <a:srgbClr val="5F6C6B"/>
                </a:solidFill>
                <a:latin typeface="Nimbus Sans"/>
                <a:ea typeface="Nimbus Sans"/>
                <a:cs typeface="Nimbus Sans"/>
              </a:rPr>
              <a:t>Keep original</a:t>
            </a:r>
          </a:p>
        </p:txBody>
      </p:sp>
      <p:sp>
        <p:nvSpPr>
          <p:cNvPr id="7" name="Hybrid rewriter">
            <a:extLst>
              <a:ext uri="{FF2B5EF4-FFF2-40B4-BE49-F238E27FC236}">
                <a16:creationId xmlns:a16="http://schemas.microsoft.com/office/drawing/2014/main" id="{352BC7F1-6F9F-499D-8086-E53867C8C82B}"/>
              </a:ext>
            </a:extLst>
          </p:cNvPr>
          <p:cNvSpPr>
            <a:spLocks noGrp="1"/>
          </p:cNvSpPr>
          <p:nvPr/>
        </p:nvSpPr>
        <p:spPr>
          <a:xfrm>
            <a:off x="6191250" y="3876675"/>
            <a:ext cx="2266950" cy="838200"/>
          </a:xfrm>
          <a:prstGeom prst="rect">
            <a:avLst/>
          </a:prstGeom>
          <a:solidFill>
            <a:srgbClr val="276963"/>
          </a:solidFill>
          <a:ln w="11430">
            <a:solidFill>
              <a:srgbClr val="276963"/>
            </a:solidFill>
          </a:ln>
        </p:spPr>
        <p:txBody>
          <a:bodyPr lIns="95250" tIns="76200" rIns="95250" bIns="76200" anchor="ctr">
            <a:noAutofit/>
          </a:bodyPr>
          <a:lstStyle/>
          <a:p>
            <a:pPr algn="ct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Hybrid rewriter</a:t>
            </a:r>
          </a:p>
        </p:txBody>
      </p:sp>
      <p:sp>
        <p:nvSpPr>
          <p:cNvPr id="8" name="Author review">
            <a:extLst>
              <a:ext uri="{FF2B5EF4-FFF2-40B4-BE49-F238E27FC236}">
                <a16:creationId xmlns:a16="http://schemas.microsoft.com/office/drawing/2014/main" id="{090292AF-814D-493C-8490-0A1021F56C29}"/>
              </a:ext>
            </a:extLst>
          </p:cNvPr>
          <p:cNvSpPr>
            <a:spLocks noGrp="1"/>
          </p:cNvSpPr>
          <p:nvPr/>
        </p:nvSpPr>
        <p:spPr>
          <a:xfrm>
            <a:off x="9229725" y="2819400"/>
            <a:ext cx="2314575" cy="914400"/>
          </a:xfrm>
          <a:prstGeom prst="rect">
            <a:avLst/>
          </a:prstGeom>
          <a:solidFill>
            <a:srgbClr val="F6F7F3"/>
          </a:solidFill>
          <a:ln w="11430">
            <a:solidFill>
              <a:srgbClr val="C9D7D0"/>
            </a:solidFill>
          </a:ln>
        </p:spPr>
        <p:txBody>
          <a:bodyPr lIns="95250" tIns="76200" rIns="95250" bIns="76200" anchor="ctr">
            <a:noAutofit/>
          </a:bodyPr>
          <a:lstStyle/>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Author review</a:t>
            </a:r>
          </a:p>
        </p:txBody>
      </p:sp>
      <p:cxnSp>
        <p:nvCxnSpPr>
          <p:cNvPr id="26" name="直接箭头连接符 25"/>
          <p:cNvCxnSpPr>
            <a:stCxn id="4" idx="3"/>
            <a:endCxn id="5" idx="1"/>
          </p:cNvCxnSpPr>
          <p:nvPr/>
        </p:nvCxnSpPr>
        <p:spPr>
          <a:xfrm>
            <a:off x="2676525" y="3276600"/>
            <a:ext cx="561975" cy="0"/>
          </a:xfrm>
          <a:prstGeom prst="straightConnector1">
            <a:avLst/>
          </a:prstGeom>
          <a:ln w="20955">
            <a:solidFill>
              <a:srgbClr val="276963"/>
            </a:solidFill>
            <a:prstDash val="solid"/>
            <a:tailEnd type="triangle" w="sm" len="sm"/>
          </a:ln>
        </p:spPr>
      </p:cxnSp>
      <p:cxnSp>
        <p:nvCxnSpPr>
          <p:cNvPr id="27" name="连接符: 肘形 26"/>
          <p:cNvCxnSpPr>
            <a:stCxn id="5" idx="3"/>
            <a:endCxn id="6" idx="1"/>
          </p:cNvCxnSpPr>
          <p:nvPr/>
        </p:nvCxnSpPr>
        <p:spPr>
          <a:xfrm flipV="1">
            <a:off x="5419725" y="2552700"/>
            <a:ext cx="771525" cy="723900"/>
          </a:xfrm>
          <a:prstGeom prst="bentConnector3">
            <a:avLst>
              <a:gd name="adj1" fmla="val 50000"/>
            </a:avLst>
          </a:prstGeom>
          <a:ln w="20955">
            <a:solidFill>
              <a:srgbClr val="276963"/>
            </a:solidFill>
            <a:prstDash val="solid"/>
            <a:tailEnd type="triangle" w="sm" len="sm"/>
          </a:ln>
        </p:spPr>
      </p:cxnSp>
      <p:cxnSp>
        <p:nvCxnSpPr>
          <p:cNvPr id="28" name="连接符: 肘形 27"/>
          <p:cNvCxnSpPr>
            <a:stCxn id="5" idx="3"/>
            <a:endCxn id="7" idx="1"/>
          </p:cNvCxnSpPr>
          <p:nvPr/>
        </p:nvCxnSpPr>
        <p:spPr>
          <a:xfrm>
            <a:off x="5419725" y="3276600"/>
            <a:ext cx="771525" cy="1019175"/>
          </a:xfrm>
          <a:prstGeom prst="bentConnector3">
            <a:avLst>
              <a:gd name="adj1" fmla="val 50000"/>
            </a:avLst>
          </a:prstGeom>
          <a:ln w="20955">
            <a:solidFill>
              <a:srgbClr val="276963"/>
            </a:solidFill>
            <a:prstDash val="solid"/>
            <a:tailEnd type="triangle" w="sm" len="sm"/>
          </a:ln>
        </p:spPr>
      </p:cxnSp>
      <p:cxnSp>
        <p:nvCxnSpPr>
          <p:cNvPr id="29" name="连接符: 肘形 28"/>
          <p:cNvCxnSpPr>
            <a:stCxn id="6" idx="3"/>
            <a:endCxn id="8" idx="1"/>
          </p:cNvCxnSpPr>
          <p:nvPr/>
        </p:nvCxnSpPr>
        <p:spPr>
          <a:xfrm>
            <a:off x="8458200" y="2552700"/>
            <a:ext cx="771525" cy="723900"/>
          </a:xfrm>
          <a:prstGeom prst="bentConnector3">
            <a:avLst>
              <a:gd name="adj1" fmla="val 50000"/>
            </a:avLst>
          </a:prstGeom>
          <a:ln w="20955">
            <a:solidFill>
              <a:srgbClr val="276963"/>
            </a:solidFill>
            <a:prstDash val="solid"/>
            <a:tailEnd type="triangle" w="sm" len="sm"/>
          </a:ln>
        </p:spPr>
      </p:cxnSp>
      <p:cxnSp>
        <p:nvCxnSpPr>
          <p:cNvPr id="30" name="连接符: 肘形 29"/>
          <p:cNvCxnSpPr>
            <a:stCxn id="7" idx="3"/>
            <a:endCxn id="8" idx="1"/>
          </p:cNvCxnSpPr>
          <p:nvPr/>
        </p:nvCxnSpPr>
        <p:spPr>
          <a:xfrm flipV="1">
            <a:off x="8458200" y="3276600"/>
            <a:ext cx="771525" cy="1019175"/>
          </a:xfrm>
          <a:prstGeom prst="bentConnector3">
            <a:avLst>
              <a:gd name="adj1" fmla="val 50000"/>
            </a:avLst>
          </a:prstGeom>
          <a:ln w="20955">
            <a:solidFill>
              <a:srgbClr val="276963"/>
            </a:solidFill>
            <a:prstDash val="solid"/>
            <a:tailEnd type="triangle" w="sm" len="sm"/>
          </a:ln>
        </p:spPr>
      </p:cxnSp>
      <p:sp>
        <p:nvSpPr>
          <p:cNvPr id="14" name="text-13">
            <a:extLst>
              <a:ext uri="{FF2B5EF4-FFF2-40B4-BE49-F238E27FC236}">
                <a16:creationId xmlns:a16="http://schemas.microsoft.com/office/drawing/2014/main" id="{F8F06493-5D87-462C-9355-7D0E052E7AF8}"/>
              </a:ext>
            </a:extLst>
          </p:cNvPr>
          <p:cNvSpPr>
            <a:spLocks noGrp="1"/>
          </p:cNvSpPr>
          <p:nvPr/>
        </p:nvSpPr>
        <p:spPr>
          <a:xfrm>
            <a:off x="6238875" y="1752600"/>
            <a:ext cx="2286000" cy="285750"/>
          </a:xfrm>
          <a:prstGeom prst="rect">
            <a:avLst/>
          </a:prstGeom>
          <a:noFill/>
          <a:ln w="0">
            <a:noFill/>
          </a:ln>
        </p:spPr>
        <p:txBody>
          <a:bodyPr wrap="square" lIns="0" tIns="0" rIns="0" bIns="0" anchor="t">
            <a:noAutofit/>
          </a:bodyPr>
          <a:lstStyle/>
          <a:p>
            <a:pPr algn="l">
              <a:defRPr sz="1650" b="0">
                <a:solidFill>
                  <a:srgbClr val="5F6C6B"/>
                </a:solidFill>
                <a:latin typeface="Nimbus Sans"/>
                <a:ea typeface="Nimbus Sans"/>
                <a:cs typeface="Nimbus Sans"/>
              </a:defRPr>
            </a:pPr>
            <a:r>
              <a:rPr sz="1650" b="0">
                <a:solidFill>
                  <a:srgbClr val="5F6C6B"/>
                </a:solidFill>
                <a:latin typeface="Nimbus Sans"/>
                <a:ea typeface="Nimbus Sans"/>
                <a:cs typeface="Nimbus Sans"/>
              </a:rPr>
              <a:t>Acceptable style</a:t>
            </a:r>
          </a:p>
        </p:txBody>
      </p:sp>
      <p:sp>
        <p:nvSpPr>
          <p:cNvPr id="15" name="text-14">
            <a:extLst>
              <a:ext uri="{FF2B5EF4-FFF2-40B4-BE49-F238E27FC236}">
                <a16:creationId xmlns:a16="http://schemas.microsoft.com/office/drawing/2014/main" id="{8955EFAB-CB39-4C7B-8A29-06284FB1451B}"/>
              </a:ext>
            </a:extLst>
          </p:cNvPr>
          <p:cNvSpPr>
            <a:spLocks noGrp="1"/>
          </p:cNvSpPr>
          <p:nvPr/>
        </p:nvSpPr>
        <p:spPr>
          <a:xfrm>
            <a:off x="6238875" y="4829175"/>
            <a:ext cx="2286000" cy="285750"/>
          </a:xfrm>
          <a:prstGeom prst="rect">
            <a:avLst/>
          </a:prstGeom>
          <a:noFill/>
          <a:ln w="0">
            <a:noFill/>
          </a:ln>
        </p:spPr>
        <p:txBody>
          <a:bodyPr wrap="square" lIns="0" tIns="0" rIns="0" bIns="0" anchor="t">
            <a:noAutofit/>
          </a:bodyPr>
          <a:lstStyle/>
          <a:p>
            <a:pPr algn="l">
              <a:defRPr sz="1650" b="0">
                <a:solidFill>
                  <a:srgbClr val="276963"/>
                </a:solidFill>
                <a:latin typeface="Nimbus Sans"/>
                <a:ea typeface="Nimbus Sans"/>
                <a:cs typeface="Nimbus Sans"/>
              </a:defRPr>
            </a:pPr>
            <a:r>
              <a:rPr sz="1650" b="0">
                <a:solidFill>
                  <a:srgbClr val="276963"/>
                </a:solidFill>
                <a:latin typeface="Nimbus Sans"/>
                <a:ea typeface="Nimbus Sans"/>
                <a:cs typeface="Nimbus Sans"/>
              </a:rPr>
              <a:t>Needs revision</a:t>
            </a:r>
          </a:p>
        </p:txBody>
      </p:sp>
      <p:sp>
        <p:nvSpPr>
          <p:cNvPr id="16" name="text-15">
            <a:extLst>
              <a:ext uri="{FF2B5EF4-FFF2-40B4-BE49-F238E27FC236}">
                <a16:creationId xmlns:a16="http://schemas.microsoft.com/office/drawing/2014/main" id="{D0AA9B0E-1410-48DE-A7A6-8C02425DFC18}"/>
              </a:ext>
            </a:extLst>
          </p:cNvPr>
          <p:cNvSpPr>
            <a:spLocks noGrp="1"/>
          </p:cNvSpPr>
          <p:nvPr/>
        </p:nvSpPr>
        <p:spPr>
          <a:xfrm>
            <a:off x="609600" y="5400675"/>
            <a:ext cx="10858500" cy="333375"/>
          </a:xfrm>
          <a:prstGeom prst="rect">
            <a:avLst/>
          </a:prstGeom>
          <a:noFill/>
          <a:ln w="0">
            <a:noFill/>
          </a:ln>
        </p:spPr>
        <p:txBody>
          <a:bodyPr wrap="square" lIns="0" tIns="0" rIns="0" bIns="0" anchor="t">
            <a:noAutofit/>
          </a:bodyPr>
          <a:lstStyle/>
          <a:p>
            <a:pPr algn="l">
              <a:defRPr sz="1950" b="0">
                <a:solidFill>
                  <a:srgbClr val="193B3A"/>
                </a:solidFill>
                <a:latin typeface="Nimbus Sans"/>
                <a:ea typeface="Nimbus Sans"/>
                <a:cs typeface="Nimbus Sans"/>
              </a:defRPr>
            </a:pPr>
            <a:r>
              <a:rPr sz="1950" b="0">
                <a:solidFill>
                  <a:srgbClr val="193B3A"/>
                </a:solidFill>
                <a:latin typeface="Nimbus Sans"/>
                <a:ea typeface="Nimbus Sans"/>
                <a:cs typeface="Nimbus Sans"/>
              </a:rPr>
              <a:t>Initial detector: revise / keep at sentence level. Issue spans can follow.</a:t>
            </a:r>
          </a:p>
        </p:txBody>
      </p:sp>
      <p:sp>
        <p:nvSpPr>
          <p:cNvPr id="17" name="text-16">
            <a:extLst>
              <a:ext uri="{FF2B5EF4-FFF2-40B4-BE49-F238E27FC236}">
                <a16:creationId xmlns:a16="http://schemas.microsoft.com/office/drawing/2014/main" id="{64568E07-D853-40E6-AF1F-FA4EBF8A6DB4}"/>
              </a:ext>
            </a:extLst>
          </p:cNvPr>
          <p:cNvSpPr>
            <a:spLocks noGrp="1"/>
          </p:cNvSpPr>
          <p:nvPr/>
        </p:nvSpPr>
        <p:spPr>
          <a:xfrm>
            <a:off x="609600" y="5876925"/>
            <a:ext cx="10858500" cy="333375"/>
          </a:xfrm>
          <a:prstGeom prst="rect">
            <a:avLst/>
          </a:prstGeom>
          <a:noFill/>
          <a:ln w="0">
            <a:noFill/>
          </a:ln>
        </p:spPr>
        <p:txBody>
          <a:bodyPr wrap="square" lIns="0" tIns="0" rIns="0" bIns="0" anchor="t">
            <a:noAutofit/>
          </a:bodyPr>
          <a:lstStyle/>
          <a:p>
            <a:pPr algn="l">
              <a:defRPr sz="1950" b="0">
                <a:solidFill>
                  <a:srgbClr val="5F6C6B"/>
                </a:solidFill>
                <a:latin typeface="Nimbus Sans"/>
                <a:ea typeface="Nimbus Sans"/>
                <a:cs typeface="Nimbus Sans"/>
              </a:defRPr>
            </a:pPr>
            <a:r>
              <a:rPr sz="1950" b="0">
                <a:solidFill>
                  <a:srgbClr val="5F6C6B"/>
                </a:solidFill>
                <a:latin typeface="Nimbus Sans"/>
                <a:ea typeface="Nimbus Sans"/>
                <a:cs typeface="Nimbus Sans"/>
              </a:rPr>
              <a:t>The author compares changes and accepts or edits the suggestion.</a:t>
            </a:r>
          </a:p>
        </p:txBody>
      </p:sp>
    </p:spTree>
    <p:extLst>
      <p:ext uri="{BB962C8B-B14F-4D97-AF65-F5344CB8AC3E}">
        <p14:creationId xmlns:p14="http://schemas.microsoft.com/office/powerpoint/2010/main" val="1145219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E36F5464-15B6-46F9-92FB-D1646D3ECCB9}"/>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Proposed hybrid architecture</a:t>
            </a:r>
          </a:p>
        </p:txBody>
      </p:sp>
      <p:sp>
        <p:nvSpPr>
          <p:cNvPr id="2" name="text-1">
            <a:extLst>
              <a:ext uri="{FF2B5EF4-FFF2-40B4-BE49-F238E27FC236}">
                <a16:creationId xmlns:a16="http://schemas.microsoft.com/office/drawing/2014/main" id="{B3587587-B4CC-4E39-8B3E-5F012F9D5B5C}"/>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04</a:t>
            </a:r>
          </a:p>
        </p:txBody>
      </p:sp>
      <p:sp>
        <p:nvSpPr>
          <p:cNvPr id="3" name="text-2">
            <a:extLst>
              <a:ext uri="{FF2B5EF4-FFF2-40B4-BE49-F238E27FC236}">
                <a16:creationId xmlns:a16="http://schemas.microsoft.com/office/drawing/2014/main" id="{C491EA57-2072-4E7A-B1BC-A4CE8B58A544}"/>
              </a:ext>
            </a:extLst>
          </p:cNvPr>
          <p:cNvSpPr>
            <a:spLocks noGrp="1"/>
          </p:cNvSpPr>
          <p:nvPr/>
        </p:nvSpPr>
        <p:spPr>
          <a:xfrm>
            <a:off x="609600" y="1362075"/>
            <a:ext cx="10858500" cy="533400"/>
          </a:xfrm>
          <a:prstGeom prst="rect">
            <a:avLst/>
          </a:prstGeom>
          <a:noFill/>
          <a:ln w="0">
            <a:noFill/>
          </a:ln>
        </p:spPr>
        <p:txBody>
          <a:bodyPr wrap="square" lIns="0" tIns="0" rIns="0" bIns="0" anchor="t">
            <a:noAutofit/>
          </a:bodyPr>
          <a:lstStyle/>
          <a:p>
            <a:pPr algn="l">
              <a:defRPr sz="2325" b="0">
                <a:solidFill>
                  <a:srgbClr val="193B3A"/>
                </a:solidFill>
                <a:latin typeface="Nimbus Sans"/>
                <a:ea typeface="Nimbus Sans"/>
                <a:cs typeface="Nimbus Sans"/>
              </a:defRPr>
            </a:pPr>
            <a:r>
              <a:rPr sz="2325" b="0">
                <a:solidFill>
                  <a:srgbClr val="193B3A"/>
                </a:solidFill>
                <a:latin typeface="Nimbus Sans"/>
                <a:ea typeface="Nimbus Sans"/>
                <a:cs typeface="Nimbus Sans"/>
              </a:rPr>
              <a:t>Transformer context supports selective Mamba refinement.</a:t>
            </a:r>
          </a:p>
        </p:txBody>
      </p:sp>
      <p:sp>
        <p:nvSpPr>
          <p:cNvPr id="4" name="Transformer encoder">
            <a:extLst>
              <a:ext uri="{FF2B5EF4-FFF2-40B4-BE49-F238E27FC236}">
                <a16:creationId xmlns:a16="http://schemas.microsoft.com/office/drawing/2014/main" id="{306E31A8-4177-45A8-A338-920CA010A81D}"/>
              </a:ext>
            </a:extLst>
          </p:cNvPr>
          <p:cNvSpPr>
            <a:spLocks noGrp="1"/>
          </p:cNvSpPr>
          <p:nvPr/>
        </p:nvSpPr>
        <p:spPr>
          <a:xfrm>
            <a:off x="609600" y="2533650"/>
            <a:ext cx="2419350" cy="990600"/>
          </a:xfrm>
          <a:prstGeom prst="rect">
            <a:avLst/>
          </a:prstGeom>
          <a:solidFill>
            <a:srgbClr val="DFE9E3"/>
          </a:solidFill>
          <a:ln w="11430">
            <a:solidFill>
              <a:srgbClr val="C9D7D0"/>
            </a:solidFill>
          </a:ln>
        </p:spPr>
        <p:txBody>
          <a:bodyPr lIns="95250" tIns="76200" rIns="95250" bIns="76200" anchor="ctr">
            <a:noAutofit/>
          </a:bodyPr>
          <a:lstStyle/>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Transformer</a:t>
            </a:r>
          </a:p>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encoder</a:t>
            </a:r>
          </a:p>
        </p:txBody>
      </p:sp>
      <p:sp>
        <p:nvSpPr>
          <p:cNvPr id="5" name="Mamba refinement">
            <a:extLst>
              <a:ext uri="{FF2B5EF4-FFF2-40B4-BE49-F238E27FC236}">
                <a16:creationId xmlns:a16="http://schemas.microsoft.com/office/drawing/2014/main" id="{1FF2FEC1-5969-43CA-A112-207CA0133387}"/>
              </a:ext>
            </a:extLst>
          </p:cNvPr>
          <p:cNvSpPr>
            <a:spLocks noGrp="1"/>
          </p:cNvSpPr>
          <p:nvPr/>
        </p:nvSpPr>
        <p:spPr>
          <a:xfrm>
            <a:off x="3552825" y="2533650"/>
            <a:ext cx="2343150" cy="990600"/>
          </a:xfrm>
          <a:prstGeom prst="rect">
            <a:avLst/>
          </a:prstGeom>
          <a:solidFill>
            <a:srgbClr val="ECE5DB"/>
          </a:solidFill>
          <a:ln w="11430">
            <a:solidFill>
              <a:srgbClr val="C9D7D0"/>
            </a:solidFill>
          </a:ln>
        </p:spPr>
        <p:txBody>
          <a:bodyPr lIns="95250" tIns="76200" rIns="95250" bIns="76200" anchor="ctr">
            <a:noAutofit/>
          </a:bodyPr>
          <a:lstStyle/>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Mamba</a:t>
            </a:r>
          </a:p>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refinement</a:t>
            </a:r>
          </a:p>
        </p:txBody>
      </p:sp>
      <p:sp>
        <p:nvSpPr>
          <p:cNvPr id="6" name="Feature fusion">
            <a:extLst>
              <a:ext uri="{FF2B5EF4-FFF2-40B4-BE49-F238E27FC236}">
                <a16:creationId xmlns:a16="http://schemas.microsoft.com/office/drawing/2014/main" id="{34CF6E78-D12D-43BE-831C-0AE839E4A686}"/>
              </a:ext>
            </a:extLst>
          </p:cNvPr>
          <p:cNvSpPr>
            <a:spLocks noGrp="1"/>
          </p:cNvSpPr>
          <p:nvPr/>
        </p:nvSpPr>
        <p:spPr>
          <a:xfrm>
            <a:off x="6448425" y="2533650"/>
            <a:ext cx="1809750" cy="990600"/>
          </a:xfrm>
          <a:prstGeom prst="rect">
            <a:avLst/>
          </a:prstGeom>
          <a:solidFill>
            <a:srgbClr val="276963"/>
          </a:solidFill>
          <a:ln w="11430">
            <a:solidFill>
              <a:srgbClr val="276963"/>
            </a:solidFill>
          </a:ln>
        </p:spPr>
        <p:txBody>
          <a:bodyPr lIns="95250" tIns="76200" rIns="95250" bIns="76200" anchor="ctr">
            <a:noAutofit/>
          </a:bodyPr>
          <a:lstStyle/>
          <a:p>
            <a:pPr algn="ct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Feature</a:t>
            </a:r>
          </a:p>
          <a:p>
            <a:pPr algn="ctr">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fusion</a:t>
            </a:r>
          </a:p>
        </p:txBody>
      </p:sp>
      <p:sp>
        <p:nvSpPr>
          <p:cNvPr id="7" name="Transformer decoder">
            <a:extLst>
              <a:ext uri="{FF2B5EF4-FFF2-40B4-BE49-F238E27FC236}">
                <a16:creationId xmlns:a16="http://schemas.microsoft.com/office/drawing/2014/main" id="{C0885985-3D0C-4412-9101-CFACEC71D2BA}"/>
              </a:ext>
            </a:extLst>
          </p:cNvPr>
          <p:cNvSpPr>
            <a:spLocks noGrp="1"/>
          </p:cNvSpPr>
          <p:nvPr/>
        </p:nvSpPr>
        <p:spPr>
          <a:xfrm>
            <a:off x="8810625" y="2533650"/>
            <a:ext cx="2714625" cy="990600"/>
          </a:xfrm>
          <a:prstGeom prst="rect">
            <a:avLst/>
          </a:prstGeom>
          <a:solidFill>
            <a:srgbClr val="DFE9E3"/>
          </a:solidFill>
          <a:ln w="11430">
            <a:solidFill>
              <a:srgbClr val="C9D7D0"/>
            </a:solidFill>
          </a:ln>
        </p:spPr>
        <p:txBody>
          <a:bodyPr lIns="95250" tIns="76200" rIns="95250" bIns="76200" anchor="ctr">
            <a:noAutofit/>
          </a:bodyPr>
          <a:lstStyle/>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Transformer</a:t>
            </a:r>
          </a:p>
          <a:p>
            <a:pPr algn="ctr">
              <a:defRPr sz="1875" b="1">
                <a:solidFill>
                  <a:srgbClr val="193B3A"/>
                </a:solidFill>
                <a:latin typeface="Nimbus Sans"/>
                <a:ea typeface="Nimbus Sans"/>
                <a:cs typeface="Nimbus Sans"/>
              </a:defRPr>
            </a:pPr>
            <a:r>
              <a:rPr sz="1875" b="1">
                <a:solidFill>
                  <a:srgbClr val="193B3A"/>
                </a:solidFill>
                <a:latin typeface="Nimbus Sans"/>
                <a:ea typeface="Nimbus Sans"/>
                <a:cs typeface="Nimbus Sans"/>
              </a:rPr>
              <a:t>decoder</a:t>
            </a:r>
          </a:p>
        </p:txBody>
      </p:sp>
      <p:cxnSp>
        <p:nvCxnSpPr>
          <p:cNvPr id="24" name="直接箭头连接符 23"/>
          <p:cNvCxnSpPr>
            <a:stCxn id="4" idx="3"/>
            <a:endCxn id="5" idx="1"/>
          </p:cNvCxnSpPr>
          <p:nvPr/>
        </p:nvCxnSpPr>
        <p:spPr>
          <a:xfrm>
            <a:off x="3028950" y="3028950"/>
            <a:ext cx="523875" cy="0"/>
          </a:xfrm>
          <a:prstGeom prst="straightConnector1">
            <a:avLst/>
          </a:prstGeom>
          <a:ln w="20955">
            <a:solidFill>
              <a:srgbClr val="276963"/>
            </a:solidFill>
            <a:prstDash val="solid"/>
            <a:tailEnd type="triangle" w="sm" len="sm"/>
          </a:ln>
        </p:spPr>
      </p:cxnSp>
      <p:cxnSp>
        <p:nvCxnSpPr>
          <p:cNvPr id="25" name="直接箭头连接符 24"/>
          <p:cNvCxnSpPr>
            <a:stCxn id="5" idx="3"/>
            <a:endCxn id="6" idx="1"/>
          </p:cNvCxnSpPr>
          <p:nvPr/>
        </p:nvCxnSpPr>
        <p:spPr>
          <a:xfrm>
            <a:off x="5895975" y="3028950"/>
            <a:ext cx="552450" cy="0"/>
          </a:xfrm>
          <a:prstGeom prst="straightConnector1">
            <a:avLst/>
          </a:prstGeom>
          <a:ln w="20955">
            <a:solidFill>
              <a:srgbClr val="276963"/>
            </a:solidFill>
            <a:prstDash val="solid"/>
            <a:tailEnd type="triangle" w="sm" len="sm"/>
          </a:ln>
        </p:spPr>
      </p:cxnSp>
      <p:cxnSp>
        <p:nvCxnSpPr>
          <p:cNvPr id="26" name="直接箭头连接符 25"/>
          <p:cNvCxnSpPr>
            <a:stCxn id="6" idx="3"/>
            <a:endCxn id="7" idx="1"/>
          </p:cNvCxnSpPr>
          <p:nvPr/>
        </p:nvCxnSpPr>
        <p:spPr>
          <a:xfrm>
            <a:off x="8258175" y="3028950"/>
            <a:ext cx="552450" cy="0"/>
          </a:xfrm>
          <a:prstGeom prst="straightConnector1">
            <a:avLst/>
          </a:prstGeom>
          <a:ln w="20955">
            <a:solidFill>
              <a:srgbClr val="276963"/>
            </a:solidFill>
            <a:prstDash val="solid"/>
            <a:tailEnd type="triangle" w="sm" len="sm"/>
          </a:ln>
        </p:spPr>
      </p:cxnSp>
      <p:cxnSp>
        <p:nvCxnSpPr>
          <p:cNvPr id="27" name="连接符: 肘形 26"/>
          <p:cNvCxnSpPr>
            <a:cxnSpLocks/>
            <a:stCxn id="4" idx="2"/>
            <a:endCxn id="6" idx="2"/>
          </p:cNvCxnSpPr>
          <p:nvPr/>
        </p:nvCxnSpPr>
        <p:spPr>
          <a:xfrm rot="16200000" flipH="1">
            <a:off x="4586287" y="757237"/>
            <a:ext cx="12700" cy="5534025"/>
          </a:xfrm>
          <a:prstGeom prst="bentConnector3">
            <a:avLst>
              <a:gd name="adj1" fmla="val 1800000"/>
            </a:avLst>
          </a:prstGeom>
          <a:ln w="20955">
            <a:solidFill>
              <a:srgbClr val="276963"/>
            </a:solidFill>
            <a:prstDash val="dash"/>
            <a:tailEnd type="triangle" w="sm" len="sm"/>
          </a:ln>
        </p:spPr>
      </p:cxnSp>
      <p:sp>
        <p:nvSpPr>
          <p:cNvPr id="12" name="text-11">
            <a:extLst>
              <a:ext uri="{FF2B5EF4-FFF2-40B4-BE49-F238E27FC236}">
                <a16:creationId xmlns:a16="http://schemas.microsoft.com/office/drawing/2014/main" id="{F5E7F485-6EAE-4A1A-A136-B5E32275B5BB}"/>
              </a:ext>
            </a:extLst>
          </p:cNvPr>
          <p:cNvSpPr>
            <a:spLocks noGrp="1"/>
          </p:cNvSpPr>
          <p:nvPr/>
        </p:nvSpPr>
        <p:spPr>
          <a:xfrm>
            <a:off x="619125" y="2057400"/>
            <a:ext cx="2381250" cy="304800"/>
          </a:xfrm>
          <a:prstGeom prst="rect">
            <a:avLst/>
          </a:prstGeom>
          <a:noFill/>
          <a:ln w="0">
            <a:noFill/>
          </a:ln>
        </p:spPr>
        <p:txBody>
          <a:bodyPr wrap="square" lIns="0" tIns="0" rIns="0" bIns="0" anchor="t">
            <a:noAutofit/>
          </a:bodyPr>
          <a:lstStyle/>
          <a:p>
            <a:pPr algn="l">
              <a:defRPr sz="1800" b="0">
                <a:solidFill>
                  <a:srgbClr val="5F6C6B"/>
                </a:solidFill>
                <a:latin typeface="Nimbus Sans"/>
                <a:ea typeface="Nimbus Sans"/>
                <a:cs typeface="Nimbus Sans"/>
              </a:defRPr>
            </a:pPr>
            <a:r>
              <a:rPr sz="1800" b="0">
                <a:solidFill>
                  <a:srgbClr val="5F6C6B"/>
                </a:solidFill>
                <a:latin typeface="Nimbus Sans"/>
                <a:ea typeface="Nimbus Sans"/>
                <a:cs typeface="Nimbus Sans"/>
              </a:rPr>
              <a:t>Source tokens</a:t>
            </a:r>
          </a:p>
        </p:txBody>
      </p:sp>
      <p:sp>
        <p:nvSpPr>
          <p:cNvPr id="13" name="text-12">
            <a:extLst>
              <a:ext uri="{FF2B5EF4-FFF2-40B4-BE49-F238E27FC236}">
                <a16:creationId xmlns:a16="http://schemas.microsoft.com/office/drawing/2014/main" id="{5ED023FD-FE6B-4F0E-8C4C-84D1C6E74069}"/>
              </a:ext>
            </a:extLst>
          </p:cNvPr>
          <p:cNvSpPr>
            <a:spLocks noGrp="1"/>
          </p:cNvSpPr>
          <p:nvPr/>
        </p:nvSpPr>
        <p:spPr>
          <a:xfrm>
            <a:off x="8829675" y="3857625"/>
            <a:ext cx="2667000" cy="342900"/>
          </a:xfrm>
          <a:prstGeom prst="rect">
            <a:avLst/>
          </a:prstGeom>
          <a:noFill/>
          <a:ln w="0">
            <a:noFill/>
          </a:ln>
        </p:spPr>
        <p:txBody>
          <a:bodyPr wrap="square" lIns="0" tIns="0" rIns="0" bIns="0" anchor="t">
            <a:noAutofit/>
          </a:bodyPr>
          <a:lstStyle/>
          <a:p>
            <a:pPr algn="l">
              <a:defRPr sz="1800" b="0">
                <a:solidFill>
                  <a:srgbClr val="276963"/>
                </a:solidFill>
                <a:latin typeface="Nimbus Sans"/>
                <a:ea typeface="Nimbus Sans"/>
                <a:cs typeface="Nimbus Sans"/>
              </a:defRPr>
            </a:pPr>
            <a:r>
              <a:rPr sz="1800" b="0">
                <a:solidFill>
                  <a:srgbClr val="276963"/>
                </a:solidFill>
                <a:latin typeface="Nimbus Sans"/>
                <a:ea typeface="Nimbus Sans"/>
                <a:cs typeface="Nimbus Sans"/>
              </a:rPr>
              <a:t>Academic rewrite</a:t>
            </a:r>
          </a:p>
        </p:txBody>
      </p:sp>
      <p:sp>
        <p:nvSpPr>
          <p:cNvPr id="14" name="text-13">
            <a:extLst>
              <a:ext uri="{FF2B5EF4-FFF2-40B4-BE49-F238E27FC236}">
                <a16:creationId xmlns:a16="http://schemas.microsoft.com/office/drawing/2014/main" id="{3FEB4056-5CAF-4931-B115-F9E81AA3643A}"/>
              </a:ext>
            </a:extLst>
          </p:cNvPr>
          <p:cNvSpPr>
            <a:spLocks noGrp="1"/>
          </p:cNvSpPr>
          <p:nvPr/>
        </p:nvSpPr>
        <p:spPr>
          <a:xfrm>
            <a:off x="2705100" y="4124325"/>
            <a:ext cx="3257550" cy="352425"/>
          </a:xfrm>
          <a:prstGeom prst="rect">
            <a:avLst/>
          </a:prstGeom>
          <a:noFill/>
          <a:ln w="0">
            <a:noFill/>
          </a:ln>
        </p:spPr>
        <p:txBody>
          <a:bodyPr wrap="square" lIns="0" tIns="0" rIns="0" bIns="0" anchor="t">
            <a:noAutofit/>
          </a:bodyPr>
          <a:lstStyle/>
          <a:p>
            <a:pPr algn="l">
              <a:defRPr sz="1725" b="0">
                <a:solidFill>
                  <a:srgbClr val="5F6C6B"/>
                </a:solidFill>
                <a:latin typeface="Nimbus Sans"/>
                <a:ea typeface="Nimbus Sans"/>
                <a:cs typeface="Nimbus Sans"/>
              </a:defRPr>
            </a:pPr>
            <a:r>
              <a:rPr sz="1725" b="0">
                <a:solidFill>
                  <a:srgbClr val="5F6C6B"/>
                </a:solidFill>
                <a:latin typeface="Nimbus Sans"/>
                <a:ea typeface="Nimbus Sans"/>
                <a:cs typeface="Nimbus Sans"/>
              </a:rPr>
              <a:t>Encoder representation</a:t>
            </a:r>
          </a:p>
        </p:txBody>
      </p:sp>
      <p:sp>
        <p:nvSpPr>
          <p:cNvPr id="15" name="text-14">
            <a:extLst>
              <a:ext uri="{FF2B5EF4-FFF2-40B4-BE49-F238E27FC236}">
                <a16:creationId xmlns:a16="http://schemas.microsoft.com/office/drawing/2014/main" id="{2B7FFE36-20F2-49CE-9C09-48A4F4A334C9}"/>
              </a:ext>
            </a:extLst>
          </p:cNvPr>
          <p:cNvSpPr>
            <a:spLocks noGrp="1"/>
          </p:cNvSpPr>
          <p:nvPr/>
        </p:nvSpPr>
        <p:spPr>
          <a:xfrm>
            <a:off x="609600" y="4981575"/>
            <a:ext cx="10953750" cy="409575"/>
          </a:xfrm>
          <a:prstGeom prst="rect">
            <a:avLst/>
          </a:prstGeom>
          <a:noFill/>
          <a:ln w="0">
            <a:noFill/>
          </a:ln>
        </p:spPr>
        <p:txBody>
          <a:bodyPr wrap="square" lIns="0" tIns="0" rIns="0" bIns="0" anchor="t">
            <a:noAutofit/>
          </a:bodyPr>
          <a:lstStyle/>
          <a:p>
            <a:pPr algn="l">
              <a:defRPr sz="2100" b="1">
                <a:solidFill>
                  <a:srgbClr val="276963"/>
                </a:solidFill>
                <a:latin typeface="Nimbus Sans"/>
                <a:ea typeface="Nimbus Sans"/>
                <a:cs typeface="Nimbus Sans"/>
              </a:defRPr>
            </a:pPr>
            <a:r>
              <a:rPr sz="2100" b="1">
                <a:solidFill>
                  <a:srgbClr val="276963"/>
                </a:solidFill>
                <a:latin typeface="Nimbus Sans"/>
                <a:ea typeface="Nimbus Sans"/>
                <a:cs typeface="Nimbus Sans"/>
              </a:rPr>
              <a:t>Residual fusion = encoder features + Mamba features</a:t>
            </a:r>
          </a:p>
        </p:txBody>
      </p:sp>
      <p:sp>
        <p:nvSpPr>
          <p:cNvPr id="16" name="text-15">
            <a:extLst>
              <a:ext uri="{FF2B5EF4-FFF2-40B4-BE49-F238E27FC236}">
                <a16:creationId xmlns:a16="http://schemas.microsoft.com/office/drawing/2014/main" id="{53D64CF4-A590-42C2-8D72-3A73F8EB18CA}"/>
              </a:ext>
            </a:extLst>
          </p:cNvPr>
          <p:cNvSpPr>
            <a:spLocks noGrp="1"/>
          </p:cNvSpPr>
          <p:nvPr/>
        </p:nvSpPr>
        <p:spPr>
          <a:xfrm>
            <a:off x="609600" y="5581650"/>
            <a:ext cx="10668000" cy="609600"/>
          </a:xfrm>
          <a:prstGeom prst="rect">
            <a:avLst/>
          </a:prstGeom>
          <a:noFill/>
          <a:ln w="0">
            <a:noFill/>
          </a:ln>
        </p:spPr>
        <p:txBody>
          <a:bodyPr wrap="square" lIns="0" tIns="0" rIns="0" bIns="0" anchor="t">
            <a:noAutofit/>
          </a:bodyPr>
          <a:lstStyle/>
          <a:p>
            <a:pPr algn="l">
              <a:defRPr sz="1950" b="0">
                <a:solidFill>
                  <a:srgbClr val="5F6C6B"/>
                </a:solidFill>
                <a:latin typeface="Nimbus Sans"/>
                <a:ea typeface="Nimbus Sans"/>
                <a:cs typeface="Nimbus Sans"/>
              </a:defRPr>
            </a:pPr>
            <a:r>
              <a:rPr sz="1950" b="0">
                <a:solidFill>
                  <a:srgbClr val="5F6C6B"/>
                </a:solidFill>
                <a:latin typeface="Nimbus Sans"/>
                <a:ea typeface="Nimbus Sans"/>
                <a:cs typeface="Nimbus Sans"/>
              </a:rPr>
              <a:t>We will compare residual fusion with a learned gate and a model without the skip path.</a:t>
            </a:r>
          </a:p>
        </p:txBody>
      </p:sp>
    </p:spTree>
    <p:extLst>
      <p:ext uri="{BB962C8B-B14F-4D97-AF65-F5344CB8AC3E}">
        <p14:creationId xmlns:p14="http://schemas.microsoft.com/office/powerpoint/2010/main" val="642414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C1479F59-135A-4E66-97FC-475A7018489A}"/>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Data and preprocessing</a:t>
            </a:r>
          </a:p>
        </p:txBody>
      </p:sp>
      <p:sp>
        <p:nvSpPr>
          <p:cNvPr id="2" name="text-1">
            <a:extLst>
              <a:ext uri="{FF2B5EF4-FFF2-40B4-BE49-F238E27FC236}">
                <a16:creationId xmlns:a16="http://schemas.microsoft.com/office/drawing/2014/main" id="{C2DF8354-5E0E-4366-ACA9-0B2738FBB965}"/>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05</a:t>
            </a:r>
          </a:p>
        </p:txBody>
      </p:sp>
      <p:sp>
        <p:nvSpPr>
          <p:cNvPr id="3" name="text-2">
            <a:extLst>
              <a:ext uri="{FF2B5EF4-FFF2-40B4-BE49-F238E27FC236}">
                <a16:creationId xmlns:a16="http://schemas.microsoft.com/office/drawing/2014/main" id="{7DF90F12-4017-4DF4-B862-065C2BAF67E8}"/>
              </a:ext>
            </a:extLst>
          </p:cNvPr>
          <p:cNvSpPr>
            <a:spLocks noGrp="1"/>
          </p:cNvSpPr>
          <p:nvPr/>
        </p:nvSpPr>
        <p:spPr>
          <a:xfrm>
            <a:off x="609600" y="1343025"/>
            <a:ext cx="10953750" cy="571500"/>
          </a:xfrm>
          <a:prstGeom prst="rect">
            <a:avLst/>
          </a:prstGeom>
          <a:noFill/>
          <a:ln w="0">
            <a:noFill/>
          </a:ln>
        </p:spPr>
        <p:txBody>
          <a:bodyPr wrap="square" lIns="0" tIns="0" rIns="0" bIns="0" anchor="t">
            <a:noAutofit/>
          </a:bodyPr>
          <a:lstStyle/>
          <a:p>
            <a:pPr algn="l">
              <a:defRPr sz="2175" b="0">
                <a:solidFill>
                  <a:srgbClr val="193B3A"/>
                </a:solidFill>
                <a:latin typeface="Nimbus Sans"/>
                <a:ea typeface="Nimbus Sans"/>
                <a:cs typeface="Nimbus Sans"/>
              </a:defRPr>
            </a:pPr>
            <a:r>
              <a:rPr sz="2175" b="0">
                <a:solidFill>
                  <a:srgbClr val="193B3A"/>
                </a:solidFill>
                <a:latin typeface="Nimbus Sans"/>
                <a:ea typeface="Nimbus Sans"/>
                <a:cs typeface="Nimbus Sans"/>
              </a:rPr>
              <a:t>Proposed pilot: English sentence revision with traceable source pairs.</a:t>
            </a:r>
          </a:p>
        </p:txBody>
      </p:sp>
      <p:graphicFrame>
        <p:nvGraphicFramePr>
          <p:cNvPr id="10" name="表格 9"/>
          <p:cNvGraphicFramePr/>
          <p:nvPr/>
        </p:nvGraphicFramePr>
        <p:xfrm>
          <a:off x="609600" y="2076450"/>
          <a:ext cx="10858500" cy="3124200"/>
        </p:xfrm>
        <a:graphic>
          <a:graphicData uri="http://schemas.openxmlformats.org/drawingml/2006/table">
            <a:tbl>
              <a:tblPr/>
              <a:tblGrid>
                <a:gridCol w="2762250">
                  <a:extLst>
                    <a:ext uri="{9D8B030D-6E8A-4147-A177-3AD203B41FA5}">
                      <a16:colId xmlns:a16="http://schemas.microsoft.com/office/drawing/2014/main" val="20000"/>
                    </a:ext>
                  </a:extLst>
                </a:gridCol>
                <a:gridCol w="3924300">
                  <a:extLst>
                    <a:ext uri="{9D8B030D-6E8A-4147-A177-3AD203B41FA5}">
                      <a16:colId xmlns:a16="http://schemas.microsoft.com/office/drawing/2014/main" val="20001"/>
                    </a:ext>
                  </a:extLst>
                </a:gridCol>
                <a:gridCol w="4171950">
                  <a:extLst>
                    <a:ext uri="{9D8B030D-6E8A-4147-A177-3AD203B41FA5}">
                      <a16:colId xmlns:a16="http://schemas.microsoft.com/office/drawing/2014/main" val="20002"/>
                    </a:ext>
                  </a:extLst>
                </a:gridCol>
              </a:tblGrid>
              <a:tr h="523875">
                <a:tc>
                  <a:txBody>
                    <a:bodyPr/>
                    <a:lstStyle/>
                    <a:p>
                      <a:r>
                        <a:rPr sz="1725" b="1">
                          <a:solidFill>
                            <a:srgbClr val="FFFFFF"/>
                          </a:solidFill>
                          <a:latin typeface="Nimbus Sans"/>
                          <a:ea typeface="Nimbus Sans"/>
                          <a:cs typeface="Nimbus Sans"/>
                        </a:rPr>
                        <a:t>Candidate data</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Planned role</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Quality control</a:t>
                      </a:r>
                    </a:p>
                  </a:txBody>
                  <a:tcPr marL="161925" marR="161925" marT="95250" marB="95250" anchor="ctr">
                    <a:solidFill>
                      <a:srgbClr val="276963"/>
                    </a:solidFill>
                  </a:tcPr>
                </a:tc>
                <a:extLst>
                  <a:ext uri="{0D108BD9-81ED-4DB2-BD59-A6C34878D82A}">
                    <a16:rowId xmlns:a16="http://schemas.microsoft.com/office/drawing/2014/main" val="10000"/>
                  </a:ext>
                </a:extLst>
              </a:tr>
              <a:tr h="866775">
                <a:tc>
                  <a:txBody>
                    <a:bodyPr/>
                    <a:lstStyle/>
                    <a:p>
                      <a:r>
                        <a:rPr sz="1875" b="1">
                          <a:solidFill>
                            <a:srgbClr val="193B3A"/>
                          </a:solidFill>
                          <a:latin typeface="Nimbus Sans"/>
                          <a:ea typeface="Nimbus Sans"/>
                          <a:cs typeface="Nimbus Sans"/>
                        </a:rPr>
                        <a:t>IteraTeR</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Scientific-text revision pairs</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Keep edits that preserve meaning</a:t>
                      </a:r>
                    </a:p>
                  </a:txBody>
                  <a:tcPr marL="161925" marR="161925" marT="95250" marB="95250" anchor="ctr">
                    <a:solidFill>
                      <a:srgbClr val="F6F7F3"/>
                    </a:solidFill>
                  </a:tcPr>
                </a:tc>
                <a:extLst>
                  <a:ext uri="{0D108BD9-81ED-4DB2-BD59-A6C34878D82A}">
                    <a16:rowId xmlns:a16="http://schemas.microsoft.com/office/drawing/2014/main" val="10001"/>
                  </a:ext>
                </a:extLst>
              </a:tr>
              <a:tr h="866775">
                <a:tc>
                  <a:txBody>
                    <a:bodyPr/>
                    <a:lstStyle/>
                    <a:p>
                      <a:r>
                        <a:rPr sz="1875" b="1">
                          <a:solidFill>
                            <a:srgbClr val="193B3A"/>
                          </a:solidFill>
                          <a:latin typeface="Nimbus Sans"/>
                          <a:ea typeface="Nimbus Sans"/>
                          <a:cs typeface="Nimbus Sans"/>
                        </a:rPr>
                        <a:t>Synthetic academic pairs</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Cover weak-style patterns</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Filter and manually spot-check</a:t>
                      </a:r>
                    </a:p>
                  </a:txBody>
                  <a:tcPr marL="161925" marR="161925" marT="95250" marB="95250" anchor="ctr">
                    <a:solidFill>
                      <a:srgbClr val="EDF2EE"/>
                    </a:solidFill>
                  </a:tcPr>
                </a:tc>
                <a:extLst>
                  <a:ext uri="{0D108BD9-81ED-4DB2-BD59-A6C34878D82A}">
                    <a16:rowId xmlns:a16="http://schemas.microsoft.com/office/drawing/2014/main" val="10002"/>
                  </a:ext>
                </a:extLst>
              </a:tr>
              <a:tr h="866775">
                <a:tc>
                  <a:txBody>
                    <a:bodyPr/>
                    <a:lstStyle/>
                    <a:p>
                      <a:r>
                        <a:rPr sz="1875" b="1">
                          <a:solidFill>
                            <a:srgbClr val="193B3A"/>
                          </a:solidFill>
                          <a:latin typeface="Nimbus Sans"/>
                          <a:ea typeface="Nimbus Sans"/>
                          <a:cs typeface="Nimbus Sans"/>
                        </a:rPr>
                        <a:t>GYAFC (optional)</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Supplement formality examples</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Confirm access and domain fit</a:t>
                      </a:r>
                    </a:p>
                  </a:txBody>
                  <a:tcPr marL="161925" marR="161925" marT="95250" marB="95250" anchor="ctr">
                    <a:solidFill>
                      <a:srgbClr val="F6F7F3"/>
                    </a:solidFill>
                  </a:tcPr>
                </a:tc>
                <a:extLst>
                  <a:ext uri="{0D108BD9-81ED-4DB2-BD59-A6C34878D82A}">
                    <a16:rowId xmlns:a16="http://schemas.microsoft.com/office/drawing/2014/main" val="10003"/>
                  </a:ext>
                </a:extLst>
              </a:tr>
            </a:tbl>
          </a:graphicData>
        </a:graphic>
      </p:graphicFrame>
      <p:sp>
        <p:nvSpPr>
          <p:cNvPr id="5" name="text-3">
            <a:extLst>
              <a:ext uri="{FF2B5EF4-FFF2-40B4-BE49-F238E27FC236}">
                <a16:creationId xmlns:a16="http://schemas.microsoft.com/office/drawing/2014/main" id="{3DB0F7E4-C1BE-4E4E-9E00-BCCED9838C7F}"/>
              </a:ext>
            </a:extLst>
          </p:cNvPr>
          <p:cNvSpPr>
            <a:spLocks noGrp="1"/>
          </p:cNvSpPr>
          <p:nvPr/>
        </p:nvSpPr>
        <p:spPr>
          <a:xfrm>
            <a:off x="609600" y="5514975"/>
            <a:ext cx="10858500" cy="323850"/>
          </a:xfrm>
          <a:prstGeom prst="rect">
            <a:avLst/>
          </a:prstGeom>
          <a:noFill/>
          <a:ln w="0">
            <a:noFill/>
          </a:ln>
        </p:spPr>
        <p:txBody>
          <a:bodyPr wrap="square" lIns="0" tIns="0" rIns="0" bIns="0" anchor="t">
            <a:noAutofit/>
          </a:bodyPr>
          <a:lstStyle/>
          <a:p>
            <a:pPr algn="l">
              <a:defRPr sz="1950" b="1">
                <a:solidFill>
                  <a:srgbClr val="193B3A"/>
                </a:solidFill>
                <a:latin typeface="Nimbus Sans"/>
                <a:ea typeface="Nimbus Sans"/>
                <a:cs typeface="Nimbus Sans"/>
              </a:defRPr>
            </a:pPr>
            <a:r>
              <a:rPr sz="1950" b="1">
                <a:solidFill>
                  <a:srgbClr val="193B3A"/>
                </a:solidFill>
                <a:latin typeface="Nimbus Sans"/>
                <a:ea typeface="Nimbus Sans"/>
                <a:cs typeface="Nimbus Sans"/>
              </a:rPr>
              <a:t>Clean, normalize, deduplicate and tokenize each pair.</a:t>
            </a:r>
          </a:p>
        </p:txBody>
      </p:sp>
      <p:sp>
        <p:nvSpPr>
          <p:cNvPr id="6" name="text-4">
            <a:extLst>
              <a:ext uri="{FF2B5EF4-FFF2-40B4-BE49-F238E27FC236}">
                <a16:creationId xmlns:a16="http://schemas.microsoft.com/office/drawing/2014/main" id="{5FB8AB59-9F85-481C-BF4F-8C2A52A04CEE}"/>
              </a:ext>
            </a:extLst>
          </p:cNvPr>
          <p:cNvSpPr>
            <a:spLocks noGrp="1"/>
          </p:cNvSpPr>
          <p:nvPr/>
        </p:nvSpPr>
        <p:spPr>
          <a:xfrm>
            <a:off x="609600" y="5953125"/>
            <a:ext cx="10858500" cy="409575"/>
          </a:xfrm>
          <a:prstGeom prst="rect">
            <a:avLst/>
          </a:prstGeom>
          <a:noFill/>
          <a:ln w="0">
            <a:noFill/>
          </a:ln>
        </p:spPr>
        <p:txBody>
          <a:bodyPr wrap="square" lIns="0" tIns="0" rIns="0" bIns="0" anchor="t">
            <a:noAutofit/>
          </a:bodyPr>
          <a:lstStyle/>
          <a:p>
            <a:pPr algn="l">
              <a:defRPr sz="1875" b="0">
                <a:solidFill>
                  <a:srgbClr val="5F6C6B"/>
                </a:solidFill>
                <a:latin typeface="Nimbus Sans"/>
                <a:ea typeface="Nimbus Sans"/>
                <a:cs typeface="Nimbus Sans"/>
              </a:defRPr>
            </a:pPr>
            <a:r>
              <a:rPr sz="1875" b="0">
                <a:solidFill>
                  <a:srgbClr val="5F6C6B"/>
                </a:solidFill>
                <a:latin typeface="Nimbus Sans"/>
                <a:ea typeface="Nimbus Sans"/>
                <a:cs typeface="Nimbus Sans"/>
              </a:rPr>
              <a:t>Proposed split: 80% / 10% / 10% by source document. Keep synthetic variants together.</a:t>
            </a:r>
          </a:p>
        </p:txBody>
      </p:sp>
    </p:spTree>
    <p:extLst>
      <p:ext uri="{BB962C8B-B14F-4D97-AF65-F5344CB8AC3E}">
        <p14:creationId xmlns:p14="http://schemas.microsoft.com/office/powerpoint/2010/main" val="130460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C7D0749F-D1BB-4C6D-87F3-F05F0D60228F}"/>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Training plan</a:t>
            </a:r>
          </a:p>
        </p:txBody>
      </p:sp>
      <p:sp>
        <p:nvSpPr>
          <p:cNvPr id="2" name="text-1">
            <a:extLst>
              <a:ext uri="{FF2B5EF4-FFF2-40B4-BE49-F238E27FC236}">
                <a16:creationId xmlns:a16="http://schemas.microsoft.com/office/drawing/2014/main" id="{2E7EA8B4-D370-47BB-9334-4AD7E672D511}"/>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06</a:t>
            </a:r>
          </a:p>
        </p:txBody>
      </p:sp>
      <p:sp>
        <p:nvSpPr>
          <p:cNvPr id="3" name="text-2">
            <a:extLst>
              <a:ext uri="{FF2B5EF4-FFF2-40B4-BE49-F238E27FC236}">
                <a16:creationId xmlns:a16="http://schemas.microsoft.com/office/drawing/2014/main" id="{E67AD1D1-C81D-46AF-856C-7D0232D89633}"/>
              </a:ext>
            </a:extLst>
          </p:cNvPr>
          <p:cNvSpPr>
            <a:spLocks noGrp="1"/>
          </p:cNvSpPr>
          <p:nvPr/>
        </p:nvSpPr>
        <p:spPr>
          <a:xfrm>
            <a:off x="609600" y="1628775"/>
            <a:ext cx="628650" cy="504825"/>
          </a:xfrm>
          <a:prstGeom prst="rect">
            <a:avLst/>
          </a:prstGeom>
          <a:noFill/>
          <a:ln w="0">
            <a:noFill/>
          </a:ln>
        </p:spPr>
        <p:txBody>
          <a:bodyPr wrap="square" lIns="0" tIns="0" rIns="0" bIns="0" anchor="t">
            <a:noAutofit/>
          </a:bodyPr>
          <a:lstStyle/>
          <a:p>
            <a:pPr algn="l">
              <a:defRPr sz="2700" b="1">
                <a:solidFill>
                  <a:srgbClr val="B97545"/>
                </a:solidFill>
                <a:latin typeface="Nimbus Sans"/>
                <a:ea typeface="Nimbus Sans"/>
                <a:cs typeface="Nimbus Sans"/>
              </a:defRPr>
            </a:pPr>
            <a:r>
              <a:rPr sz="2700" b="1">
                <a:solidFill>
                  <a:srgbClr val="B97545"/>
                </a:solidFill>
                <a:latin typeface="Nimbus Sans"/>
                <a:ea typeface="Nimbus Sans"/>
                <a:cs typeface="Nimbus Sans"/>
              </a:rPr>
              <a:t>01</a:t>
            </a:r>
          </a:p>
        </p:txBody>
      </p:sp>
      <p:sp>
        <p:nvSpPr>
          <p:cNvPr id="4" name="text-3">
            <a:extLst>
              <a:ext uri="{FF2B5EF4-FFF2-40B4-BE49-F238E27FC236}">
                <a16:creationId xmlns:a16="http://schemas.microsoft.com/office/drawing/2014/main" id="{C6AE4EF5-219A-4792-9067-0EA9A1CD81FB}"/>
              </a:ext>
            </a:extLst>
          </p:cNvPr>
          <p:cNvSpPr>
            <a:spLocks noGrp="1"/>
          </p:cNvSpPr>
          <p:nvPr/>
        </p:nvSpPr>
        <p:spPr>
          <a:xfrm>
            <a:off x="1428750" y="1581150"/>
            <a:ext cx="5857875" cy="419100"/>
          </a:xfrm>
          <a:prstGeom prst="rect">
            <a:avLst/>
          </a:prstGeom>
          <a:noFill/>
          <a:ln w="0">
            <a:noFill/>
          </a:ln>
        </p:spPr>
        <p:txBody>
          <a:bodyPr wrap="square" lIns="0" tIns="0" rIns="0" bIns="0" anchor="t">
            <a:noAutofit/>
          </a:bodyPr>
          <a:lstStyle/>
          <a:p>
            <a:pPr algn="l">
              <a:defRPr sz="2325" b="1">
                <a:solidFill>
                  <a:srgbClr val="193B3A"/>
                </a:solidFill>
                <a:latin typeface="Nimbus Sans"/>
                <a:ea typeface="Nimbus Sans"/>
                <a:cs typeface="Nimbus Sans"/>
              </a:defRPr>
            </a:pPr>
            <a:r>
              <a:rPr sz="2325" b="1">
                <a:solidFill>
                  <a:srgbClr val="193B3A"/>
                </a:solidFill>
                <a:latin typeface="Nimbus Sans"/>
                <a:ea typeface="Nimbus Sans"/>
                <a:cs typeface="Nimbus Sans"/>
              </a:rPr>
              <a:t>Establish the baseline</a:t>
            </a:r>
          </a:p>
        </p:txBody>
      </p:sp>
      <p:sp>
        <p:nvSpPr>
          <p:cNvPr id="5" name="text-4">
            <a:extLst>
              <a:ext uri="{FF2B5EF4-FFF2-40B4-BE49-F238E27FC236}">
                <a16:creationId xmlns:a16="http://schemas.microsoft.com/office/drawing/2014/main" id="{981AFE7C-0AB9-4A5F-A790-9DDACFCC4C51}"/>
              </a:ext>
            </a:extLst>
          </p:cNvPr>
          <p:cNvSpPr>
            <a:spLocks noGrp="1"/>
          </p:cNvSpPr>
          <p:nvPr/>
        </p:nvSpPr>
        <p:spPr>
          <a:xfrm>
            <a:off x="1428750" y="2114550"/>
            <a:ext cx="6067425" cy="790575"/>
          </a:xfrm>
          <a:prstGeom prst="rect">
            <a:avLst/>
          </a:prstGeom>
          <a:noFill/>
          <a:ln w="0">
            <a:noFill/>
          </a:ln>
        </p:spPr>
        <p:txBody>
          <a:bodyPr wrap="square" lIns="0" tIns="0" rIns="0" bIns="0" anchor="t">
            <a:noAutofit/>
          </a:bodyPr>
          <a:lstStyle/>
          <a:p>
            <a:pPr algn="l">
              <a:defRPr sz="2025" b="0">
                <a:solidFill>
                  <a:srgbClr val="193B3A"/>
                </a:solidFill>
                <a:latin typeface="Nimbus Sans"/>
                <a:ea typeface="Nimbus Sans"/>
                <a:cs typeface="Nimbus Sans"/>
              </a:defRPr>
            </a:pPr>
            <a:r>
              <a:rPr sz="2025" b="0">
                <a:solidFill>
                  <a:srgbClr val="193B3A"/>
                </a:solidFill>
                <a:latin typeface="Nimbus Sans"/>
                <a:ea typeface="Nimbus Sans"/>
                <a:cs typeface="Nimbus Sans"/>
              </a:rPr>
              <a:t>Fine-tune a pretrained Transformer rewriter.</a:t>
            </a:r>
          </a:p>
          <a:p>
            <a:pPr algn="l">
              <a:defRPr sz="2025" b="0">
                <a:solidFill>
                  <a:srgbClr val="193B3A"/>
                </a:solidFill>
                <a:latin typeface="Nimbus Sans"/>
                <a:ea typeface="Nimbus Sans"/>
                <a:cs typeface="Nimbus Sans"/>
              </a:defRPr>
            </a:pPr>
            <a:r>
              <a:rPr sz="2025" b="0">
                <a:solidFill>
                  <a:srgbClr val="193B3A"/>
                </a:solidFill>
                <a:latin typeface="Nimbus Sans"/>
                <a:ea typeface="Nimbus Sans"/>
                <a:cs typeface="Nimbus Sans"/>
              </a:rPr>
              <a:t>Train a small sentence-level style classifier.</a:t>
            </a:r>
          </a:p>
        </p:txBody>
      </p:sp>
      <p:sp>
        <p:nvSpPr>
          <p:cNvPr id="6" name="text-5">
            <a:extLst>
              <a:ext uri="{FF2B5EF4-FFF2-40B4-BE49-F238E27FC236}">
                <a16:creationId xmlns:a16="http://schemas.microsoft.com/office/drawing/2014/main" id="{5230642F-8CB8-481E-A98A-7C42ADE3AD1B}"/>
              </a:ext>
            </a:extLst>
          </p:cNvPr>
          <p:cNvSpPr>
            <a:spLocks noGrp="1"/>
          </p:cNvSpPr>
          <p:nvPr/>
        </p:nvSpPr>
        <p:spPr>
          <a:xfrm>
            <a:off x="609600" y="3209925"/>
            <a:ext cx="628650" cy="504825"/>
          </a:xfrm>
          <a:prstGeom prst="rect">
            <a:avLst/>
          </a:prstGeom>
          <a:noFill/>
          <a:ln w="0">
            <a:noFill/>
          </a:ln>
        </p:spPr>
        <p:txBody>
          <a:bodyPr wrap="square" lIns="0" tIns="0" rIns="0" bIns="0" anchor="t">
            <a:noAutofit/>
          </a:bodyPr>
          <a:lstStyle/>
          <a:p>
            <a:pPr algn="l">
              <a:defRPr sz="2700" b="1">
                <a:solidFill>
                  <a:srgbClr val="B97545"/>
                </a:solidFill>
                <a:latin typeface="Nimbus Sans"/>
                <a:ea typeface="Nimbus Sans"/>
                <a:cs typeface="Nimbus Sans"/>
              </a:defRPr>
            </a:pPr>
            <a:r>
              <a:rPr sz="2700" b="1">
                <a:solidFill>
                  <a:srgbClr val="B97545"/>
                </a:solidFill>
                <a:latin typeface="Nimbus Sans"/>
                <a:ea typeface="Nimbus Sans"/>
                <a:cs typeface="Nimbus Sans"/>
              </a:rPr>
              <a:t>02</a:t>
            </a:r>
          </a:p>
        </p:txBody>
      </p:sp>
      <p:sp>
        <p:nvSpPr>
          <p:cNvPr id="7" name="text-6">
            <a:extLst>
              <a:ext uri="{FF2B5EF4-FFF2-40B4-BE49-F238E27FC236}">
                <a16:creationId xmlns:a16="http://schemas.microsoft.com/office/drawing/2014/main" id="{AE7E31C8-27CF-4DBD-965E-F648122D5BAC}"/>
              </a:ext>
            </a:extLst>
          </p:cNvPr>
          <p:cNvSpPr>
            <a:spLocks noGrp="1"/>
          </p:cNvSpPr>
          <p:nvPr/>
        </p:nvSpPr>
        <p:spPr>
          <a:xfrm>
            <a:off x="1428750" y="3162300"/>
            <a:ext cx="5857875" cy="419100"/>
          </a:xfrm>
          <a:prstGeom prst="rect">
            <a:avLst/>
          </a:prstGeom>
          <a:noFill/>
          <a:ln w="0">
            <a:noFill/>
          </a:ln>
        </p:spPr>
        <p:txBody>
          <a:bodyPr wrap="square" lIns="0" tIns="0" rIns="0" bIns="0" anchor="t">
            <a:noAutofit/>
          </a:bodyPr>
          <a:lstStyle/>
          <a:p>
            <a:pPr algn="l">
              <a:defRPr sz="2325" b="1">
                <a:solidFill>
                  <a:srgbClr val="193B3A"/>
                </a:solidFill>
                <a:latin typeface="Nimbus Sans"/>
                <a:ea typeface="Nimbus Sans"/>
                <a:cs typeface="Nimbus Sans"/>
              </a:defRPr>
            </a:pPr>
            <a:r>
              <a:rPr sz="2325" b="1">
                <a:solidFill>
                  <a:srgbClr val="193B3A"/>
                </a:solidFill>
                <a:latin typeface="Nimbus Sans"/>
                <a:ea typeface="Nimbus Sans"/>
                <a:cs typeface="Nimbus Sans"/>
              </a:rPr>
              <a:t>Add Mamba and fusion</a:t>
            </a:r>
          </a:p>
        </p:txBody>
      </p:sp>
      <p:sp>
        <p:nvSpPr>
          <p:cNvPr id="8" name="text-7">
            <a:extLst>
              <a:ext uri="{FF2B5EF4-FFF2-40B4-BE49-F238E27FC236}">
                <a16:creationId xmlns:a16="http://schemas.microsoft.com/office/drawing/2014/main" id="{3D84FF7D-3FD3-454B-9752-D65F41893746}"/>
              </a:ext>
            </a:extLst>
          </p:cNvPr>
          <p:cNvSpPr>
            <a:spLocks noGrp="1"/>
          </p:cNvSpPr>
          <p:nvPr/>
        </p:nvSpPr>
        <p:spPr>
          <a:xfrm>
            <a:off x="1428750" y="3695700"/>
            <a:ext cx="6048375" cy="790575"/>
          </a:xfrm>
          <a:prstGeom prst="rect">
            <a:avLst/>
          </a:prstGeom>
          <a:noFill/>
          <a:ln w="0">
            <a:noFill/>
          </a:ln>
        </p:spPr>
        <p:txBody>
          <a:bodyPr wrap="square" lIns="0" tIns="0" rIns="0" bIns="0" anchor="t">
            <a:noAutofit/>
          </a:bodyPr>
          <a:lstStyle/>
          <a:p>
            <a:pPr algn="l">
              <a:defRPr sz="2025" b="0">
                <a:solidFill>
                  <a:srgbClr val="193B3A"/>
                </a:solidFill>
                <a:latin typeface="Nimbus Sans"/>
                <a:ea typeface="Nimbus Sans"/>
                <a:cs typeface="Nimbus Sans"/>
              </a:defRPr>
            </a:pPr>
            <a:r>
              <a:rPr sz="2025" b="0">
                <a:solidFill>
                  <a:srgbClr val="193B3A"/>
                </a:solidFill>
                <a:latin typeface="Nimbus Sans"/>
                <a:ea typeface="Nimbus Sans"/>
                <a:cs typeface="Nimbus Sans"/>
              </a:rPr>
              <a:t>Train new refinement layers first.</a:t>
            </a:r>
          </a:p>
          <a:p>
            <a:pPr algn="l">
              <a:defRPr sz="2025" b="0">
                <a:solidFill>
                  <a:srgbClr val="193B3A"/>
                </a:solidFill>
                <a:latin typeface="Nimbus Sans"/>
                <a:ea typeface="Nimbus Sans"/>
                <a:cs typeface="Nimbus Sans"/>
              </a:defRPr>
            </a:pPr>
            <a:r>
              <a:rPr sz="2025" b="0">
                <a:solidFill>
                  <a:srgbClr val="193B3A"/>
                </a:solidFill>
                <a:latin typeface="Nimbus Sans"/>
                <a:ea typeface="Nimbus Sans"/>
                <a:cs typeface="Nimbus Sans"/>
              </a:rPr>
              <a:t>Then unfreeze pretrained layers selectively.</a:t>
            </a:r>
          </a:p>
        </p:txBody>
      </p:sp>
      <p:sp>
        <p:nvSpPr>
          <p:cNvPr id="9" name="text-8">
            <a:extLst>
              <a:ext uri="{FF2B5EF4-FFF2-40B4-BE49-F238E27FC236}">
                <a16:creationId xmlns:a16="http://schemas.microsoft.com/office/drawing/2014/main" id="{84B87EDE-3041-4F13-8509-AFD4470C005A}"/>
              </a:ext>
            </a:extLst>
          </p:cNvPr>
          <p:cNvSpPr>
            <a:spLocks noGrp="1"/>
          </p:cNvSpPr>
          <p:nvPr/>
        </p:nvSpPr>
        <p:spPr>
          <a:xfrm>
            <a:off x="609600" y="4791075"/>
            <a:ext cx="628650" cy="504825"/>
          </a:xfrm>
          <a:prstGeom prst="rect">
            <a:avLst/>
          </a:prstGeom>
          <a:noFill/>
          <a:ln w="0">
            <a:noFill/>
          </a:ln>
        </p:spPr>
        <p:txBody>
          <a:bodyPr wrap="square" lIns="0" tIns="0" rIns="0" bIns="0" anchor="t">
            <a:noAutofit/>
          </a:bodyPr>
          <a:lstStyle/>
          <a:p>
            <a:pPr algn="l">
              <a:defRPr sz="2700" b="1">
                <a:solidFill>
                  <a:srgbClr val="B97545"/>
                </a:solidFill>
                <a:latin typeface="Nimbus Sans"/>
                <a:ea typeface="Nimbus Sans"/>
                <a:cs typeface="Nimbus Sans"/>
              </a:defRPr>
            </a:pPr>
            <a:r>
              <a:rPr sz="2700" b="1">
                <a:solidFill>
                  <a:srgbClr val="B97545"/>
                </a:solidFill>
                <a:latin typeface="Nimbus Sans"/>
                <a:ea typeface="Nimbus Sans"/>
                <a:cs typeface="Nimbus Sans"/>
              </a:rPr>
              <a:t>03</a:t>
            </a:r>
          </a:p>
        </p:txBody>
      </p:sp>
      <p:sp>
        <p:nvSpPr>
          <p:cNvPr id="10" name="text-9">
            <a:extLst>
              <a:ext uri="{FF2B5EF4-FFF2-40B4-BE49-F238E27FC236}">
                <a16:creationId xmlns:a16="http://schemas.microsoft.com/office/drawing/2014/main" id="{2CEB5EC4-1090-471F-9B5D-119F1366B37F}"/>
              </a:ext>
            </a:extLst>
          </p:cNvPr>
          <p:cNvSpPr>
            <a:spLocks noGrp="1"/>
          </p:cNvSpPr>
          <p:nvPr/>
        </p:nvSpPr>
        <p:spPr>
          <a:xfrm>
            <a:off x="1428750" y="4743450"/>
            <a:ext cx="6048375" cy="419100"/>
          </a:xfrm>
          <a:prstGeom prst="rect">
            <a:avLst/>
          </a:prstGeom>
          <a:noFill/>
          <a:ln w="0">
            <a:noFill/>
          </a:ln>
        </p:spPr>
        <p:txBody>
          <a:bodyPr wrap="square" lIns="0" tIns="0" rIns="0" bIns="0" anchor="t">
            <a:noAutofit/>
          </a:bodyPr>
          <a:lstStyle/>
          <a:p>
            <a:pPr algn="l">
              <a:defRPr sz="2325" b="1">
                <a:solidFill>
                  <a:srgbClr val="193B3A"/>
                </a:solidFill>
                <a:latin typeface="Nimbus Sans"/>
                <a:ea typeface="Nimbus Sans"/>
                <a:cs typeface="Nimbus Sans"/>
              </a:defRPr>
            </a:pPr>
            <a:r>
              <a:rPr sz="2325" b="1">
                <a:solidFill>
                  <a:srgbClr val="193B3A"/>
                </a:solidFill>
                <a:latin typeface="Nimbus Sans"/>
                <a:ea typeface="Nimbus Sans"/>
                <a:cs typeface="Nimbus Sans"/>
              </a:rPr>
              <a:t>Tune with a fixed protocol</a:t>
            </a:r>
          </a:p>
        </p:txBody>
      </p:sp>
      <p:sp>
        <p:nvSpPr>
          <p:cNvPr id="11" name="text-10">
            <a:extLst>
              <a:ext uri="{FF2B5EF4-FFF2-40B4-BE49-F238E27FC236}">
                <a16:creationId xmlns:a16="http://schemas.microsoft.com/office/drawing/2014/main" id="{F8B83E3C-ACE2-45DF-AA06-EE577A57286B}"/>
              </a:ext>
            </a:extLst>
          </p:cNvPr>
          <p:cNvSpPr>
            <a:spLocks noGrp="1"/>
          </p:cNvSpPr>
          <p:nvPr/>
        </p:nvSpPr>
        <p:spPr>
          <a:xfrm>
            <a:off x="1428750" y="5276850"/>
            <a:ext cx="6067425" cy="800100"/>
          </a:xfrm>
          <a:prstGeom prst="rect">
            <a:avLst/>
          </a:prstGeom>
          <a:noFill/>
          <a:ln w="0">
            <a:noFill/>
          </a:ln>
        </p:spPr>
        <p:txBody>
          <a:bodyPr wrap="square" lIns="0" tIns="0" rIns="0" bIns="0" anchor="t">
            <a:noAutofit/>
          </a:bodyPr>
          <a:lstStyle/>
          <a:p>
            <a:pPr algn="l">
              <a:defRPr sz="2025" b="0">
                <a:solidFill>
                  <a:srgbClr val="193B3A"/>
                </a:solidFill>
                <a:latin typeface="Nimbus Sans"/>
                <a:ea typeface="Nimbus Sans"/>
                <a:cs typeface="Nimbus Sans"/>
              </a:defRPr>
            </a:pPr>
            <a:r>
              <a:rPr sz="2025" b="0">
                <a:solidFill>
                  <a:srgbClr val="193B3A"/>
                </a:solidFill>
                <a:latin typeface="Nimbus Sans"/>
                <a:ea typeface="Nimbus Sans"/>
                <a:cs typeface="Nimbus Sans"/>
              </a:rPr>
              <a:t>Use sequence cross-entropy and early stopping.</a:t>
            </a:r>
          </a:p>
          <a:p>
            <a:pPr algn="l">
              <a:defRPr sz="2025" b="0">
                <a:solidFill>
                  <a:srgbClr val="193B3A"/>
                </a:solidFill>
                <a:latin typeface="Nimbus Sans"/>
                <a:ea typeface="Nimbus Sans"/>
                <a:cs typeface="Nimbus Sans"/>
              </a:defRPr>
            </a:pPr>
            <a:r>
              <a:rPr sz="2025" b="0">
                <a:solidFill>
                  <a:srgbClr val="193B3A"/>
                </a:solidFill>
                <a:latin typeface="Nimbus Sans"/>
                <a:ea typeface="Nimbus Sans"/>
                <a:cs typeface="Nimbus Sans"/>
              </a:rPr>
              <a:t>Choose settings using validation data only.</a:t>
            </a:r>
          </a:p>
        </p:txBody>
      </p:sp>
      <p:sp>
        <p:nvSpPr>
          <p:cNvPr id="12" name="text-11">
            <a:extLst>
              <a:ext uri="{FF2B5EF4-FFF2-40B4-BE49-F238E27FC236}">
                <a16:creationId xmlns:a16="http://schemas.microsoft.com/office/drawing/2014/main" id="{B2189358-C361-4C0A-A4DB-4F3AD961FBB7}"/>
              </a:ext>
            </a:extLst>
          </p:cNvPr>
          <p:cNvSpPr>
            <a:spLocks noGrp="1"/>
          </p:cNvSpPr>
          <p:nvPr/>
        </p:nvSpPr>
        <p:spPr>
          <a:xfrm>
            <a:off x="8248650" y="1714500"/>
            <a:ext cx="3238500" cy="457200"/>
          </a:xfrm>
          <a:prstGeom prst="rect">
            <a:avLst/>
          </a:prstGeom>
          <a:noFill/>
          <a:ln w="0">
            <a:noFill/>
          </a:ln>
        </p:spPr>
        <p:txBody>
          <a:bodyPr wrap="square" lIns="0" tIns="0" rIns="0" bIns="0" anchor="t">
            <a:noAutofit/>
          </a:bodyPr>
          <a:lstStyle/>
          <a:p>
            <a:pPr algn="l">
              <a:defRPr sz="2475" b="1">
                <a:solidFill>
                  <a:srgbClr val="276963"/>
                </a:solidFill>
                <a:latin typeface="Nimbus Sans"/>
                <a:ea typeface="Nimbus Sans"/>
                <a:cs typeface="Nimbus Sans"/>
              </a:defRPr>
            </a:pPr>
            <a:r>
              <a:rPr sz="2475" b="1">
                <a:solidFill>
                  <a:srgbClr val="276963"/>
                </a:solidFill>
                <a:latin typeface="Nimbus Sans"/>
                <a:ea typeface="Nimbus Sans"/>
                <a:cs typeface="Nimbus Sans"/>
              </a:rPr>
              <a:t>Feasibility</a:t>
            </a:r>
          </a:p>
        </p:txBody>
      </p:sp>
      <p:sp>
        <p:nvSpPr>
          <p:cNvPr id="13" name="text-12">
            <a:extLst>
              <a:ext uri="{FF2B5EF4-FFF2-40B4-BE49-F238E27FC236}">
                <a16:creationId xmlns:a16="http://schemas.microsoft.com/office/drawing/2014/main" id="{DC33C9F2-AA82-4219-8B25-DFA78B6797BD}"/>
              </a:ext>
            </a:extLst>
          </p:cNvPr>
          <p:cNvSpPr>
            <a:spLocks noGrp="1"/>
          </p:cNvSpPr>
          <p:nvPr/>
        </p:nvSpPr>
        <p:spPr>
          <a:xfrm>
            <a:off x="8248650" y="2505075"/>
            <a:ext cx="3105150" cy="962025"/>
          </a:xfrm>
          <a:prstGeom prst="rect">
            <a:avLst/>
          </a:prstGeom>
          <a:noFill/>
          <a:ln w="0">
            <a:noFill/>
          </a:ln>
        </p:spPr>
        <p:txBody>
          <a:bodyPr wrap="square" lIns="0" tIns="0" rIns="0" bIns="0" anchor="t">
            <a:noAutofit/>
          </a:bodyPr>
          <a:lstStyle/>
          <a:p>
            <a:pPr algn="l">
              <a:defRPr sz="2100" b="0">
                <a:solidFill>
                  <a:srgbClr val="193B3A"/>
                </a:solidFill>
                <a:latin typeface="Nimbus Sans"/>
                <a:ea typeface="Nimbus Sans"/>
                <a:cs typeface="Nimbus Sans"/>
              </a:defRPr>
            </a:pPr>
            <a:r>
              <a:rPr sz="2100" b="0">
                <a:solidFill>
                  <a:srgbClr val="193B3A"/>
                </a:solidFill>
                <a:latin typeface="Nimbus Sans"/>
                <a:ea typeface="Nimbus Sans"/>
                <a:cs typeface="Nimbus Sans"/>
              </a:rPr>
              <a:t>Begin with short sequences and few Mamba blocks.</a:t>
            </a:r>
          </a:p>
        </p:txBody>
      </p:sp>
      <p:sp>
        <p:nvSpPr>
          <p:cNvPr id="14" name="text-13">
            <a:extLst>
              <a:ext uri="{FF2B5EF4-FFF2-40B4-BE49-F238E27FC236}">
                <a16:creationId xmlns:a16="http://schemas.microsoft.com/office/drawing/2014/main" id="{63338487-BA6F-4CBA-990A-1FA208A570FC}"/>
              </a:ext>
            </a:extLst>
          </p:cNvPr>
          <p:cNvSpPr>
            <a:spLocks noGrp="1"/>
          </p:cNvSpPr>
          <p:nvPr/>
        </p:nvSpPr>
        <p:spPr>
          <a:xfrm>
            <a:off x="8248650" y="3724275"/>
            <a:ext cx="3105150" cy="866775"/>
          </a:xfrm>
          <a:prstGeom prst="rect">
            <a:avLst/>
          </a:prstGeom>
          <a:noFill/>
          <a:ln w="0">
            <a:noFill/>
          </a:ln>
        </p:spPr>
        <p:txBody>
          <a:bodyPr wrap="square" lIns="0" tIns="0" rIns="0" bIns="0" anchor="t">
            <a:noAutofit/>
          </a:bodyPr>
          <a:lstStyle/>
          <a:p>
            <a:pPr algn="l">
              <a:defRPr sz="1950" b="0">
                <a:solidFill>
                  <a:srgbClr val="5F6C6B"/>
                </a:solidFill>
                <a:latin typeface="Nimbus Sans"/>
                <a:ea typeface="Nimbus Sans"/>
                <a:cs typeface="Nimbus Sans"/>
              </a:defRPr>
            </a:pPr>
            <a:r>
              <a:rPr sz="1950" b="0">
                <a:solidFill>
                  <a:srgbClr val="5F6C6B"/>
                </a:solidFill>
                <a:latin typeface="Nimbus Sans"/>
                <a:ea typeface="Nimbus Sans"/>
                <a:cs typeface="Nimbus Sans"/>
              </a:rPr>
              <a:t>Use mixed precision and gradient accumulation.</a:t>
            </a:r>
          </a:p>
        </p:txBody>
      </p:sp>
      <p:sp>
        <p:nvSpPr>
          <p:cNvPr id="15" name="text-14">
            <a:extLst>
              <a:ext uri="{FF2B5EF4-FFF2-40B4-BE49-F238E27FC236}">
                <a16:creationId xmlns:a16="http://schemas.microsoft.com/office/drawing/2014/main" id="{E018AF46-2DCA-4259-9E95-3C9A51EFD9E7}"/>
              </a:ext>
            </a:extLst>
          </p:cNvPr>
          <p:cNvSpPr>
            <a:spLocks noGrp="1"/>
          </p:cNvSpPr>
          <p:nvPr/>
        </p:nvSpPr>
        <p:spPr>
          <a:xfrm>
            <a:off x="8248650" y="4953000"/>
            <a:ext cx="3105150" cy="1057275"/>
          </a:xfrm>
          <a:prstGeom prst="rect">
            <a:avLst/>
          </a:prstGeom>
          <a:noFill/>
          <a:ln w="0">
            <a:noFill/>
          </a:ln>
        </p:spPr>
        <p:txBody>
          <a:bodyPr wrap="square" lIns="0" tIns="0" rIns="0" bIns="0" anchor="t">
            <a:noAutofit/>
          </a:bodyPr>
          <a:lstStyle/>
          <a:p>
            <a:pPr algn="l">
              <a:defRPr sz="1950" b="0">
                <a:solidFill>
                  <a:srgbClr val="5F6C6B"/>
                </a:solidFill>
                <a:latin typeface="Nimbus Sans"/>
                <a:ea typeface="Nimbus Sans"/>
                <a:cs typeface="Nimbus Sans"/>
              </a:defRPr>
            </a:pPr>
            <a:r>
              <a:rPr sz="1950" b="0">
                <a:solidFill>
                  <a:srgbClr val="5F6C6B"/>
                </a:solidFill>
                <a:latin typeface="Nimbus Sans"/>
                <a:ea typeface="Nimbus Sans"/>
                <a:cs typeface="Nimbus Sans"/>
              </a:rPr>
              <a:t>Profile kernel compatibility and peak memory before scaling.</a:t>
            </a:r>
          </a:p>
        </p:txBody>
      </p:sp>
    </p:spTree>
    <p:extLst>
      <p:ext uri="{BB962C8B-B14F-4D97-AF65-F5344CB8AC3E}">
        <p14:creationId xmlns:p14="http://schemas.microsoft.com/office/powerpoint/2010/main" val="102991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0C7F3189-95ED-4F43-AACC-B38180829B39}"/>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Evaluation criteria</a:t>
            </a:r>
          </a:p>
        </p:txBody>
      </p:sp>
      <p:sp>
        <p:nvSpPr>
          <p:cNvPr id="2" name="text-1">
            <a:extLst>
              <a:ext uri="{FF2B5EF4-FFF2-40B4-BE49-F238E27FC236}">
                <a16:creationId xmlns:a16="http://schemas.microsoft.com/office/drawing/2014/main" id="{8E724AF3-2F98-40C1-AD63-59402176E68B}"/>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07</a:t>
            </a:r>
          </a:p>
        </p:txBody>
      </p:sp>
      <p:graphicFrame>
        <p:nvGraphicFramePr>
          <p:cNvPr id="8" name="表格 7"/>
          <p:cNvGraphicFramePr/>
          <p:nvPr/>
        </p:nvGraphicFramePr>
        <p:xfrm>
          <a:off x="609600" y="1495425"/>
          <a:ext cx="10858500" cy="4248150"/>
        </p:xfrm>
        <a:graphic>
          <a:graphicData uri="http://schemas.openxmlformats.org/drawingml/2006/table">
            <a:tbl>
              <a:tblPr/>
              <a:tblGrid>
                <a:gridCol w="2505075">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533400">
                <a:tc>
                  <a:txBody>
                    <a:bodyPr/>
                    <a:lstStyle/>
                    <a:p>
                      <a:r>
                        <a:rPr sz="1725" b="1">
                          <a:solidFill>
                            <a:srgbClr val="FFFFFF"/>
                          </a:solidFill>
                          <a:latin typeface="Nimbus Sans"/>
                          <a:ea typeface="Nimbus Sans"/>
                          <a:cs typeface="Nimbus Sans"/>
                        </a:rPr>
                        <a:t>Dimension</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Metrics / method</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What we will examine</a:t>
                      </a:r>
                    </a:p>
                  </a:txBody>
                  <a:tcPr marL="161925" marR="161925" marT="95250" marB="95250" anchor="ctr">
                    <a:solidFill>
                      <a:srgbClr val="276963"/>
                    </a:solidFill>
                  </a:tcPr>
                </a:tc>
                <a:extLst>
                  <a:ext uri="{0D108BD9-81ED-4DB2-BD59-A6C34878D82A}">
                    <a16:rowId xmlns:a16="http://schemas.microsoft.com/office/drawing/2014/main" val="10000"/>
                  </a:ext>
                </a:extLst>
              </a:tr>
              <a:tr h="742950">
                <a:tc>
                  <a:txBody>
                    <a:bodyPr/>
                    <a:lstStyle/>
                    <a:p>
                      <a:r>
                        <a:rPr sz="1875" b="1">
                          <a:solidFill>
                            <a:srgbClr val="193B3A"/>
                          </a:solidFill>
                          <a:latin typeface="Nimbus Sans"/>
                          <a:ea typeface="Nimbus Sans"/>
                          <a:cs typeface="Nimbus Sans"/>
                        </a:rPr>
                        <a:t>Detection</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Precision, recall and F1</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Which sentences need revision</a:t>
                      </a:r>
                    </a:p>
                  </a:txBody>
                  <a:tcPr marL="161925" marR="161925" marT="95250" marB="95250" anchor="ctr">
                    <a:solidFill>
                      <a:srgbClr val="F6F7F3"/>
                    </a:solidFill>
                  </a:tcPr>
                </a:tc>
                <a:extLst>
                  <a:ext uri="{0D108BD9-81ED-4DB2-BD59-A6C34878D82A}">
                    <a16:rowId xmlns:a16="http://schemas.microsoft.com/office/drawing/2014/main" val="10001"/>
                  </a:ext>
                </a:extLst>
              </a:tr>
              <a:tr h="742950">
                <a:tc>
                  <a:txBody>
                    <a:bodyPr/>
                    <a:lstStyle/>
                    <a:p>
                      <a:r>
                        <a:rPr sz="1875" b="1">
                          <a:solidFill>
                            <a:srgbClr val="193B3A"/>
                          </a:solidFill>
                          <a:latin typeface="Nimbus Sans"/>
                          <a:ea typeface="Nimbus Sans"/>
                          <a:cs typeface="Nimbus Sans"/>
                        </a:rPr>
                        <a:t>Reference match</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BLEU and ROUGE-L</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Overlap with edited references</a:t>
                      </a:r>
                    </a:p>
                  </a:txBody>
                  <a:tcPr marL="161925" marR="161925" marT="95250" marB="95250" anchor="ctr">
                    <a:solidFill>
                      <a:srgbClr val="EDF2EE"/>
                    </a:solidFill>
                  </a:tcPr>
                </a:tc>
                <a:extLst>
                  <a:ext uri="{0D108BD9-81ED-4DB2-BD59-A6C34878D82A}">
                    <a16:rowId xmlns:a16="http://schemas.microsoft.com/office/drawing/2014/main" val="10002"/>
                  </a:ext>
                </a:extLst>
              </a:tr>
              <a:tr h="742950">
                <a:tc>
                  <a:txBody>
                    <a:bodyPr/>
                    <a:lstStyle/>
                    <a:p>
                      <a:r>
                        <a:rPr sz="1875" b="1">
                          <a:solidFill>
                            <a:srgbClr val="193B3A"/>
                          </a:solidFill>
                          <a:latin typeface="Nimbus Sans"/>
                          <a:ea typeface="Nimbus Sans"/>
                          <a:cs typeface="Nimbus Sans"/>
                        </a:rPr>
                        <a:t>Meaning</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BERTScore + human review</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Facts, numbers and qualifiers</a:t>
                      </a:r>
                    </a:p>
                  </a:txBody>
                  <a:tcPr marL="161925" marR="161925" marT="95250" marB="95250" anchor="ctr">
                    <a:solidFill>
                      <a:srgbClr val="F6F7F3"/>
                    </a:solidFill>
                  </a:tcPr>
                </a:tc>
                <a:extLst>
                  <a:ext uri="{0D108BD9-81ED-4DB2-BD59-A6C34878D82A}">
                    <a16:rowId xmlns:a16="http://schemas.microsoft.com/office/drawing/2014/main" val="10003"/>
                  </a:ext>
                </a:extLst>
              </a:tr>
              <a:tr h="742950">
                <a:tc>
                  <a:txBody>
                    <a:bodyPr/>
                    <a:lstStyle/>
                    <a:p>
                      <a:r>
                        <a:rPr sz="1875" b="1">
                          <a:solidFill>
                            <a:srgbClr val="193B3A"/>
                          </a:solidFill>
                          <a:latin typeface="Nimbus Sans"/>
                          <a:ea typeface="Nimbus Sans"/>
                          <a:cs typeface="Nimbus Sans"/>
                        </a:rPr>
                        <a:t>Academic tone</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Held-out style accuracy</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Style quality on independent labels</a:t>
                      </a:r>
                    </a:p>
                  </a:txBody>
                  <a:tcPr marL="161925" marR="161925" marT="95250" marB="95250" anchor="ctr">
                    <a:solidFill>
                      <a:srgbClr val="EDF2EE"/>
                    </a:solidFill>
                  </a:tcPr>
                </a:tc>
                <a:extLst>
                  <a:ext uri="{0D108BD9-81ED-4DB2-BD59-A6C34878D82A}">
                    <a16:rowId xmlns:a16="http://schemas.microsoft.com/office/drawing/2014/main" val="10004"/>
                  </a:ext>
                </a:extLst>
              </a:tr>
              <a:tr h="742950">
                <a:tc>
                  <a:txBody>
                    <a:bodyPr/>
                    <a:lstStyle/>
                    <a:p>
                      <a:r>
                        <a:rPr sz="1875" b="1">
                          <a:solidFill>
                            <a:srgbClr val="193B3A"/>
                          </a:solidFill>
                          <a:latin typeface="Nimbus Sans"/>
                          <a:ea typeface="Nimbus Sans"/>
                          <a:cs typeface="Nimbus Sans"/>
                        </a:rPr>
                        <a:t>Efficiency</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Parameters, latency, memory</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Cost at matched sequence lengths</a:t>
                      </a:r>
                    </a:p>
                  </a:txBody>
                  <a:tcPr marL="161925" marR="161925" marT="95250" marB="95250" anchor="ctr">
                    <a:solidFill>
                      <a:srgbClr val="F6F7F3"/>
                    </a:solidFill>
                  </a:tcPr>
                </a:tc>
                <a:extLst>
                  <a:ext uri="{0D108BD9-81ED-4DB2-BD59-A6C34878D82A}">
                    <a16:rowId xmlns:a16="http://schemas.microsoft.com/office/drawing/2014/main" val="10005"/>
                  </a:ext>
                </a:extLst>
              </a:tr>
            </a:tbl>
          </a:graphicData>
        </a:graphic>
      </p:graphicFrame>
      <p:sp>
        <p:nvSpPr>
          <p:cNvPr id="4" name="text-2">
            <a:extLst>
              <a:ext uri="{FF2B5EF4-FFF2-40B4-BE49-F238E27FC236}">
                <a16:creationId xmlns:a16="http://schemas.microsoft.com/office/drawing/2014/main" id="{F3B6EB60-1B60-45E0-BA6C-DF512805C8DD}"/>
              </a:ext>
            </a:extLst>
          </p:cNvPr>
          <p:cNvSpPr>
            <a:spLocks noGrp="1"/>
          </p:cNvSpPr>
          <p:nvPr/>
        </p:nvSpPr>
        <p:spPr>
          <a:xfrm>
            <a:off x="609600" y="6000750"/>
            <a:ext cx="2095500" cy="342900"/>
          </a:xfrm>
          <a:prstGeom prst="rect">
            <a:avLst/>
          </a:prstGeom>
          <a:noFill/>
          <a:ln w="0">
            <a:noFill/>
          </a:ln>
        </p:spPr>
        <p:txBody>
          <a:bodyPr wrap="square" lIns="0" tIns="0" rIns="0" bIns="0" anchor="t">
            <a:noAutofit/>
          </a:bodyPr>
          <a:lstStyle/>
          <a:p>
            <a:pPr algn="l">
              <a:defRPr sz="1875" b="1">
                <a:solidFill>
                  <a:srgbClr val="276963"/>
                </a:solidFill>
                <a:latin typeface="Nimbus Sans"/>
                <a:ea typeface="Nimbus Sans"/>
                <a:cs typeface="Nimbus Sans"/>
              </a:defRPr>
            </a:pPr>
            <a:r>
              <a:rPr sz="1875" b="1">
                <a:solidFill>
                  <a:srgbClr val="276963"/>
                </a:solidFill>
                <a:latin typeface="Nimbus Sans"/>
                <a:ea typeface="Nimbus Sans"/>
                <a:cs typeface="Nimbus Sans"/>
              </a:rPr>
              <a:t>Success criterion</a:t>
            </a:r>
          </a:p>
        </p:txBody>
      </p:sp>
      <p:sp>
        <p:nvSpPr>
          <p:cNvPr id="5" name="text-3">
            <a:extLst>
              <a:ext uri="{FF2B5EF4-FFF2-40B4-BE49-F238E27FC236}">
                <a16:creationId xmlns:a16="http://schemas.microsoft.com/office/drawing/2014/main" id="{C7EAF9FA-8E2A-4703-94A9-1E907D6A6853}"/>
              </a:ext>
            </a:extLst>
          </p:cNvPr>
          <p:cNvSpPr>
            <a:spLocks noGrp="1"/>
          </p:cNvSpPr>
          <p:nvPr/>
        </p:nvSpPr>
        <p:spPr>
          <a:xfrm>
            <a:off x="2838450" y="6000750"/>
            <a:ext cx="8239125" cy="361950"/>
          </a:xfrm>
          <a:prstGeom prst="rect">
            <a:avLst/>
          </a:prstGeom>
          <a:noFill/>
          <a:ln w="0">
            <a:noFill/>
          </a:ln>
        </p:spPr>
        <p:txBody>
          <a:bodyPr wrap="square" lIns="0" tIns="0" rIns="0" bIns="0" anchor="t">
            <a:noAutofit/>
          </a:bodyPr>
          <a:lstStyle/>
          <a:p>
            <a:pPr algn="l">
              <a:defRPr sz="1875" b="0">
                <a:solidFill>
                  <a:srgbClr val="5F6C6B"/>
                </a:solidFill>
                <a:latin typeface="Nimbus Sans"/>
                <a:ea typeface="Nimbus Sans"/>
                <a:cs typeface="Nimbus Sans"/>
              </a:defRPr>
            </a:pPr>
            <a:r>
              <a:rPr sz="1875" b="0">
                <a:solidFill>
                  <a:srgbClr val="5F6C6B"/>
                </a:solidFill>
                <a:latin typeface="Nimbus Sans"/>
                <a:ea typeface="Nimbus Sans"/>
                <a:cs typeface="Nimbus Sans"/>
              </a:rPr>
              <a:t>Stronger academic style with faithful meaning and fluent wording.</a:t>
            </a:r>
          </a:p>
        </p:txBody>
      </p:sp>
    </p:spTree>
    <p:extLst>
      <p:ext uri="{BB962C8B-B14F-4D97-AF65-F5344CB8AC3E}">
        <p14:creationId xmlns:p14="http://schemas.microsoft.com/office/powerpoint/2010/main" val="1619250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1EDB1786-841C-4250-A2EA-0FDA0F44383A}"/>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Baselines and ablations</a:t>
            </a:r>
          </a:p>
        </p:txBody>
      </p:sp>
      <p:sp>
        <p:nvSpPr>
          <p:cNvPr id="2" name="text-1">
            <a:extLst>
              <a:ext uri="{FF2B5EF4-FFF2-40B4-BE49-F238E27FC236}">
                <a16:creationId xmlns:a16="http://schemas.microsoft.com/office/drawing/2014/main" id="{4A9A3B6C-67C5-4EC5-B1BA-399C0A2DE822}"/>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08</a:t>
            </a:r>
          </a:p>
        </p:txBody>
      </p:sp>
      <p:graphicFrame>
        <p:nvGraphicFramePr>
          <p:cNvPr id="10" name="表格 9"/>
          <p:cNvGraphicFramePr/>
          <p:nvPr/>
        </p:nvGraphicFramePr>
        <p:xfrm>
          <a:off x="609600" y="1495425"/>
          <a:ext cx="10858500" cy="2714625"/>
        </p:xfrm>
        <a:graphic>
          <a:graphicData uri="http://schemas.openxmlformats.org/drawingml/2006/table">
            <a:tbl>
              <a:tblPr/>
              <a:tblGrid>
                <a:gridCol w="2676525">
                  <a:extLst>
                    <a:ext uri="{9D8B030D-6E8A-4147-A177-3AD203B41FA5}">
                      <a16:colId xmlns:a16="http://schemas.microsoft.com/office/drawing/2014/main" val="20000"/>
                    </a:ext>
                  </a:extLst>
                </a:gridCol>
                <a:gridCol w="4314825">
                  <a:extLst>
                    <a:ext uri="{9D8B030D-6E8A-4147-A177-3AD203B41FA5}">
                      <a16:colId xmlns:a16="http://schemas.microsoft.com/office/drawing/2014/main" val="20001"/>
                    </a:ext>
                  </a:extLst>
                </a:gridCol>
                <a:gridCol w="3867150">
                  <a:extLst>
                    <a:ext uri="{9D8B030D-6E8A-4147-A177-3AD203B41FA5}">
                      <a16:colId xmlns:a16="http://schemas.microsoft.com/office/drawing/2014/main" val="20002"/>
                    </a:ext>
                  </a:extLst>
                </a:gridCol>
              </a:tblGrid>
              <a:tr h="514350">
                <a:tc>
                  <a:txBody>
                    <a:bodyPr/>
                    <a:lstStyle/>
                    <a:p>
                      <a:r>
                        <a:rPr sz="1725" b="1">
                          <a:solidFill>
                            <a:srgbClr val="FFFFFF"/>
                          </a:solidFill>
                          <a:latin typeface="Nimbus Sans"/>
                          <a:ea typeface="Nimbus Sans"/>
                          <a:cs typeface="Nimbus Sans"/>
                        </a:rPr>
                        <a:t>System</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Architecture</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Purpose</a:t>
                      </a:r>
                    </a:p>
                  </a:txBody>
                  <a:tcPr marL="161925" marR="161925" marT="95250" marB="95250" anchor="ctr">
                    <a:solidFill>
                      <a:srgbClr val="276963"/>
                    </a:solidFill>
                  </a:tcPr>
                </a:tc>
                <a:extLst>
                  <a:ext uri="{0D108BD9-81ED-4DB2-BD59-A6C34878D82A}">
                    <a16:rowId xmlns:a16="http://schemas.microsoft.com/office/drawing/2014/main" val="10000"/>
                  </a:ext>
                </a:extLst>
              </a:tr>
              <a:tr h="733425">
                <a:tc>
                  <a:txBody>
                    <a:bodyPr/>
                    <a:lstStyle/>
                    <a:p>
                      <a:r>
                        <a:rPr sz="1875" b="1">
                          <a:solidFill>
                            <a:srgbClr val="193B3A"/>
                          </a:solidFill>
                          <a:latin typeface="Nimbus Sans"/>
                          <a:ea typeface="Nimbus Sans"/>
                          <a:cs typeface="Nimbus Sans"/>
                        </a:rPr>
                        <a:t>Transformer-only</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Transformer encoder–decoder</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Reference system</a:t>
                      </a:r>
                    </a:p>
                  </a:txBody>
                  <a:tcPr marL="161925" marR="161925" marT="95250" marB="95250" anchor="ctr">
                    <a:solidFill>
                      <a:srgbClr val="F6F7F3"/>
                    </a:solidFill>
                  </a:tcPr>
                </a:tc>
                <a:extLst>
                  <a:ext uri="{0D108BD9-81ED-4DB2-BD59-A6C34878D82A}">
                    <a16:rowId xmlns:a16="http://schemas.microsoft.com/office/drawing/2014/main" val="10001"/>
                  </a:ext>
                </a:extLst>
              </a:tr>
              <a:tr h="733425">
                <a:tc>
                  <a:txBody>
                    <a:bodyPr/>
                    <a:lstStyle/>
                    <a:p>
                      <a:r>
                        <a:rPr sz="1875" b="1">
                          <a:solidFill>
                            <a:srgbClr val="193B3A"/>
                          </a:solidFill>
                          <a:latin typeface="Nimbus Sans"/>
                          <a:ea typeface="Nimbus Sans"/>
                          <a:cs typeface="Nimbus Sans"/>
                        </a:rPr>
                        <a:t>Mamba-only</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Conditional Mamba generator</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Isolate the state-space backbone</a:t>
                      </a:r>
                    </a:p>
                  </a:txBody>
                  <a:tcPr marL="161925" marR="161925" marT="95250" marB="95250" anchor="ctr">
                    <a:solidFill>
                      <a:srgbClr val="EDF2EE"/>
                    </a:solidFill>
                  </a:tcPr>
                </a:tc>
                <a:extLst>
                  <a:ext uri="{0D108BD9-81ED-4DB2-BD59-A6C34878D82A}">
                    <a16:rowId xmlns:a16="http://schemas.microsoft.com/office/drawing/2014/main" val="10002"/>
                  </a:ext>
                </a:extLst>
              </a:tr>
              <a:tr h="733425">
                <a:tc>
                  <a:txBody>
                    <a:bodyPr/>
                    <a:lstStyle/>
                    <a:p>
                      <a:r>
                        <a:rPr sz="1875" b="1">
                          <a:solidFill>
                            <a:srgbClr val="193B3A"/>
                          </a:solidFill>
                          <a:latin typeface="Nimbus Sans"/>
                          <a:ea typeface="Nimbus Sans"/>
                          <a:cs typeface="Nimbus Sans"/>
                        </a:rPr>
                        <a:t>Proposed hybrid</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Transformer + Mamba + fusion</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Test the combined representation</a:t>
                      </a:r>
                    </a:p>
                  </a:txBody>
                  <a:tcPr marL="161925" marR="161925" marT="95250" marB="95250" anchor="ctr">
                    <a:solidFill>
                      <a:srgbClr val="F6F7F3"/>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C15B7BD3-7CBF-4D69-8F54-29F59360FC52}"/>
              </a:ext>
            </a:extLst>
          </p:cNvPr>
          <p:cNvSpPr>
            <a:spLocks noGrp="1"/>
          </p:cNvSpPr>
          <p:nvPr/>
        </p:nvSpPr>
        <p:spPr>
          <a:xfrm>
            <a:off x="609600" y="4705350"/>
            <a:ext cx="4476750" cy="400050"/>
          </a:xfrm>
          <a:prstGeom prst="rect">
            <a:avLst/>
          </a:prstGeom>
          <a:noFill/>
          <a:ln w="0">
            <a:noFill/>
          </a:ln>
        </p:spPr>
        <p:txBody>
          <a:bodyPr wrap="square" lIns="0" tIns="0" rIns="0" bIns="0" anchor="t">
            <a:noAutofit/>
          </a:bodyPr>
          <a:lstStyle/>
          <a:p>
            <a:pPr algn="l">
              <a:defRPr sz="2250" b="1">
                <a:solidFill>
                  <a:srgbClr val="276963"/>
                </a:solidFill>
                <a:latin typeface="Nimbus Sans"/>
                <a:ea typeface="Nimbus Sans"/>
                <a:cs typeface="Nimbus Sans"/>
              </a:defRPr>
            </a:pPr>
            <a:r>
              <a:rPr sz="2250" b="1">
                <a:solidFill>
                  <a:srgbClr val="276963"/>
                </a:solidFill>
                <a:latin typeface="Nimbus Sans"/>
                <a:ea typeface="Nimbus Sans"/>
                <a:cs typeface="Nimbus Sans"/>
              </a:rPr>
              <a:t>Fusion study</a:t>
            </a:r>
          </a:p>
        </p:txBody>
      </p:sp>
      <p:sp>
        <p:nvSpPr>
          <p:cNvPr id="5" name="text-3">
            <a:extLst>
              <a:ext uri="{FF2B5EF4-FFF2-40B4-BE49-F238E27FC236}">
                <a16:creationId xmlns:a16="http://schemas.microsoft.com/office/drawing/2014/main" id="{6C4D6F78-467D-4277-B0E6-ABF691297284}"/>
              </a:ext>
            </a:extLst>
          </p:cNvPr>
          <p:cNvSpPr>
            <a:spLocks noGrp="1"/>
          </p:cNvSpPr>
          <p:nvPr/>
        </p:nvSpPr>
        <p:spPr>
          <a:xfrm>
            <a:off x="609600" y="5276850"/>
            <a:ext cx="4819650" cy="933450"/>
          </a:xfrm>
          <a:prstGeom prst="rect">
            <a:avLst/>
          </a:prstGeom>
          <a:noFill/>
          <a:ln w="0">
            <a:noFill/>
          </a:ln>
        </p:spPr>
        <p:txBody>
          <a:bodyPr wrap="square" lIns="0" tIns="0" rIns="0" bIns="0" anchor="t">
            <a:noAutofit/>
          </a:bodyPr>
          <a:lstStyle/>
          <a:p>
            <a:pPr algn="l">
              <a:defRPr sz="1950" b="0">
                <a:solidFill>
                  <a:srgbClr val="193B3A"/>
                </a:solidFill>
                <a:latin typeface="Nimbus Sans"/>
                <a:ea typeface="Nimbus Sans"/>
                <a:cs typeface="Nimbus Sans"/>
              </a:defRPr>
            </a:pPr>
            <a:r>
              <a:rPr sz="1950" b="0">
                <a:solidFill>
                  <a:srgbClr val="193B3A"/>
                </a:solidFill>
                <a:latin typeface="Nimbus Sans"/>
                <a:ea typeface="Nimbus Sans"/>
                <a:cs typeface="Nimbus Sans"/>
              </a:rPr>
              <a:t>No skip connection</a:t>
            </a:r>
          </a:p>
          <a:p>
            <a:pPr algn="l">
              <a:defRPr sz="1950" b="0">
                <a:solidFill>
                  <a:srgbClr val="193B3A"/>
                </a:solidFill>
                <a:latin typeface="Nimbus Sans"/>
                <a:ea typeface="Nimbus Sans"/>
                <a:cs typeface="Nimbus Sans"/>
              </a:defRPr>
            </a:pPr>
            <a:r>
              <a:rPr sz="1950" b="0">
                <a:solidFill>
                  <a:srgbClr val="193B3A"/>
                </a:solidFill>
                <a:latin typeface="Nimbus Sans"/>
                <a:ea typeface="Nimbus Sans"/>
                <a:cs typeface="Nimbus Sans"/>
              </a:rPr>
              <a:t>Residual fusion</a:t>
            </a:r>
          </a:p>
          <a:p>
            <a:pPr algn="l">
              <a:defRPr sz="1950" b="0">
                <a:solidFill>
                  <a:srgbClr val="193B3A"/>
                </a:solidFill>
                <a:latin typeface="Nimbus Sans"/>
                <a:ea typeface="Nimbus Sans"/>
                <a:cs typeface="Nimbus Sans"/>
              </a:defRPr>
            </a:pPr>
            <a:r>
              <a:rPr sz="1950" b="0">
                <a:solidFill>
                  <a:srgbClr val="193B3A"/>
                </a:solidFill>
                <a:latin typeface="Nimbus Sans"/>
                <a:ea typeface="Nimbus Sans"/>
                <a:cs typeface="Nimbus Sans"/>
              </a:rPr>
              <a:t>Learned gate</a:t>
            </a:r>
          </a:p>
        </p:txBody>
      </p:sp>
      <p:sp>
        <p:nvSpPr>
          <p:cNvPr id="6" name="text-4">
            <a:extLst>
              <a:ext uri="{FF2B5EF4-FFF2-40B4-BE49-F238E27FC236}">
                <a16:creationId xmlns:a16="http://schemas.microsoft.com/office/drawing/2014/main" id="{987AAF32-7958-4D53-868E-5A038C2DC211}"/>
              </a:ext>
            </a:extLst>
          </p:cNvPr>
          <p:cNvSpPr>
            <a:spLocks noGrp="1"/>
          </p:cNvSpPr>
          <p:nvPr/>
        </p:nvSpPr>
        <p:spPr>
          <a:xfrm>
            <a:off x="6429375" y="4705350"/>
            <a:ext cx="5029200" cy="400050"/>
          </a:xfrm>
          <a:prstGeom prst="rect">
            <a:avLst/>
          </a:prstGeom>
          <a:noFill/>
          <a:ln w="0">
            <a:noFill/>
          </a:ln>
        </p:spPr>
        <p:txBody>
          <a:bodyPr wrap="square" lIns="0" tIns="0" rIns="0" bIns="0" anchor="t">
            <a:noAutofit/>
          </a:bodyPr>
          <a:lstStyle/>
          <a:p>
            <a:pPr algn="l">
              <a:defRPr sz="2250" b="1">
                <a:solidFill>
                  <a:srgbClr val="276963"/>
                </a:solidFill>
                <a:latin typeface="Nimbus Sans"/>
                <a:ea typeface="Nimbus Sans"/>
                <a:cs typeface="Nimbus Sans"/>
              </a:defRPr>
            </a:pPr>
            <a:r>
              <a:rPr sz="2250" b="1">
                <a:solidFill>
                  <a:srgbClr val="276963"/>
                </a:solidFill>
                <a:latin typeface="Nimbus Sans"/>
                <a:ea typeface="Nimbus Sans"/>
                <a:cs typeface="Nimbus Sans"/>
              </a:rPr>
              <a:t>Fair comparison</a:t>
            </a:r>
          </a:p>
        </p:txBody>
      </p:sp>
      <p:sp>
        <p:nvSpPr>
          <p:cNvPr id="7" name="text-5">
            <a:extLst>
              <a:ext uri="{FF2B5EF4-FFF2-40B4-BE49-F238E27FC236}">
                <a16:creationId xmlns:a16="http://schemas.microsoft.com/office/drawing/2014/main" id="{4BEB8959-E273-4D19-8ED9-A2A54D290579}"/>
              </a:ext>
            </a:extLst>
          </p:cNvPr>
          <p:cNvSpPr>
            <a:spLocks noGrp="1"/>
          </p:cNvSpPr>
          <p:nvPr/>
        </p:nvSpPr>
        <p:spPr>
          <a:xfrm>
            <a:off x="6429375" y="5276850"/>
            <a:ext cx="5029200" cy="990600"/>
          </a:xfrm>
          <a:prstGeom prst="rect">
            <a:avLst/>
          </a:prstGeom>
          <a:noFill/>
          <a:ln w="0">
            <a:noFill/>
          </a:ln>
        </p:spPr>
        <p:txBody>
          <a:bodyPr wrap="square" lIns="0" tIns="0" rIns="0" bIns="0" anchor="t">
            <a:noAutofit/>
          </a:bodyPr>
          <a:lstStyle/>
          <a:p>
            <a:pPr algn="l">
              <a:defRPr sz="1950" b="0">
                <a:solidFill>
                  <a:srgbClr val="193B3A"/>
                </a:solidFill>
                <a:latin typeface="Nimbus Sans"/>
                <a:ea typeface="Nimbus Sans"/>
                <a:cs typeface="Nimbus Sans"/>
              </a:defRPr>
            </a:pPr>
            <a:r>
              <a:rPr sz="1950" b="0">
                <a:solidFill>
                  <a:srgbClr val="193B3A"/>
                </a:solidFill>
                <a:latin typeface="Nimbus Sans"/>
                <a:ea typeface="Nimbus Sans"/>
                <a:cs typeface="Nimbus Sans"/>
              </a:rPr>
              <a:t>Same data, token limits and decoding.</a:t>
            </a:r>
          </a:p>
          <a:p>
            <a:pPr algn="l">
              <a:defRPr sz="1950" b="0">
                <a:solidFill>
                  <a:srgbClr val="193B3A"/>
                </a:solidFill>
                <a:latin typeface="Nimbus Sans"/>
                <a:ea typeface="Nimbus Sans"/>
                <a:cs typeface="Nimbus Sans"/>
              </a:defRPr>
            </a:pPr>
            <a:r>
              <a:rPr sz="1950" b="0">
                <a:solidFill>
                  <a:srgbClr val="193B3A"/>
                </a:solidFill>
                <a:latin typeface="Nimbus Sans"/>
                <a:ea typeface="Nimbus Sans"/>
                <a:cs typeface="Nimbus Sans"/>
              </a:rPr>
              <a:t>Report model size, training budget</a:t>
            </a:r>
          </a:p>
          <a:p>
            <a:pPr algn="l">
              <a:defRPr sz="1950" b="0">
                <a:solidFill>
                  <a:srgbClr val="193B3A"/>
                </a:solidFill>
                <a:latin typeface="Nimbus Sans"/>
                <a:ea typeface="Nimbus Sans"/>
                <a:cs typeface="Nimbus Sans"/>
              </a:defRPr>
            </a:pPr>
            <a:r>
              <a:rPr sz="1950" b="0">
                <a:solidFill>
                  <a:srgbClr val="193B3A"/>
                </a:solidFill>
                <a:latin typeface="Nimbus Sans"/>
                <a:ea typeface="Nimbus Sans"/>
                <a:cs typeface="Nimbus Sans"/>
              </a:rPr>
              <a:t>and pretraining differences.</a:t>
            </a:r>
          </a:p>
        </p:txBody>
      </p:sp>
    </p:spTree>
    <p:extLst>
      <p:ext uri="{BB962C8B-B14F-4D97-AF65-F5344CB8AC3E}">
        <p14:creationId xmlns:p14="http://schemas.microsoft.com/office/powerpoint/2010/main" val="413809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04C5CF50-A844-49FE-8445-6BC84F78FC4D}"/>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Milestones and feasibility</a:t>
            </a:r>
          </a:p>
        </p:txBody>
      </p:sp>
      <p:sp>
        <p:nvSpPr>
          <p:cNvPr id="2" name="text-1">
            <a:extLst>
              <a:ext uri="{FF2B5EF4-FFF2-40B4-BE49-F238E27FC236}">
                <a16:creationId xmlns:a16="http://schemas.microsoft.com/office/drawing/2014/main" id="{F0E6B931-19A4-4270-9102-BA5867EC4CB7}"/>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09</a:t>
            </a:r>
          </a:p>
        </p:txBody>
      </p:sp>
      <p:sp>
        <p:nvSpPr>
          <p:cNvPr id="3" name="text-2">
            <a:extLst>
              <a:ext uri="{FF2B5EF4-FFF2-40B4-BE49-F238E27FC236}">
                <a16:creationId xmlns:a16="http://schemas.microsoft.com/office/drawing/2014/main" id="{CB73A7BB-E5EC-4C43-BEEA-4778A0C50F08}"/>
              </a:ext>
            </a:extLst>
          </p:cNvPr>
          <p:cNvSpPr>
            <a:spLocks noGrp="1"/>
          </p:cNvSpPr>
          <p:nvPr/>
        </p:nvSpPr>
        <p:spPr>
          <a:xfrm>
            <a:off x="609600" y="1343025"/>
            <a:ext cx="10858500" cy="514350"/>
          </a:xfrm>
          <a:prstGeom prst="rect">
            <a:avLst/>
          </a:prstGeom>
          <a:noFill/>
          <a:ln w="0">
            <a:noFill/>
          </a:ln>
        </p:spPr>
        <p:txBody>
          <a:bodyPr wrap="square" lIns="0" tIns="0" rIns="0" bIns="0" anchor="t">
            <a:noAutofit/>
          </a:bodyPr>
          <a:lstStyle/>
          <a:p>
            <a:pPr algn="l">
              <a:defRPr sz="2250" b="0">
                <a:solidFill>
                  <a:srgbClr val="5F6C6B"/>
                </a:solidFill>
                <a:latin typeface="Nimbus Sans"/>
                <a:ea typeface="Nimbus Sans"/>
                <a:cs typeface="Nimbus Sans"/>
              </a:defRPr>
            </a:pPr>
            <a:r>
              <a:rPr sz="2250" b="0">
                <a:solidFill>
                  <a:srgbClr val="5F6C6B"/>
                </a:solidFill>
                <a:latin typeface="Nimbus Sans"/>
                <a:ea typeface="Nimbus Sans"/>
                <a:cs typeface="Nimbus Sans"/>
              </a:rPr>
              <a:t>Proposed six-week schedule after proposal approval</a:t>
            </a:r>
          </a:p>
        </p:txBody>
      </p:sp>
      <p:graphicFrame>
        <p:nvGraphicFramePr>
          <p:cNvPr id="9" name="表格 8"/>
          <p:cNvGraphicFramePr/>
          <p:nvPr/>
        </p:nvGraphicFramePr>
        <p:xfrm>
          <a:off x="609600" y="1924050"/>
          <a:ext cx="10858500" cy="3457575"/>
        </p:xfrm>
        <a:graphic>
          <a:graphicData uri="http://schemas.openxmlformats.org/drawingml/2006/table">
            <a:tbl>
              <a:tblPr/>
              <a:tblGrid>
                <a:gridCol w="2105025">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324350">
                  <a:extLst>
                    <a:ext uri="{9D8B030D-6E8A-4147-A177-3AD203B41FA5}">
                      <a16:colId xmlns:a16="http://schemas.microsoft.com/office/drawing/2014/main" val="20002"/>
                    </a:ext>
                  </a:extLst>
                </a:gridCol>
              </a:tblGrid>
              <a:tr h="523875">
                <a:tc>
                  <a:txBody>
                    <a:bodyPr/>
                    <a:lstStyle/>
                    <a:p>
                      <a:r>
                        <a:rPr sz="1725" b="1">
                          <a:solidFill>
                            <a:srgbClr val="FFFFFF"/>
                          </a:solidFill>
                          <a:latin typeface="Nimbus Sans"/>
                          <a:ea typeface="Nimbus Sans"/>
                          <a:cs typeface="Nimbus Sans"/>
                        </a:rPr>
                        <a:t>Phase</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Work</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Reviewable output</a:t>
                      </a:r>
                    </a:p>
                  </a:txBody>
                  <a:tcPr marL="161925" marR="161925" marT="95250" marB="95250" anchor="ctr">
                    <a:solidFill>
                      <a:srgbClr val="276963"/>
                    </a:solidFill>
                  </a:tcPr>
                </a:tc>
                <a:extLst>
                  <a:ext uri="{0D108BD9-81ED-4DB2-BD59-A6C34878D82A}">
                    <a16:rowId xmlns:a16="http://schemas.microsoft.com/office/drawing/2014/main" val="10000"/>
                  </a:ext>
                </a:extLst>
              </a:tr>
              <a:tr h="733425">
                <a:tc>
                  <a:txBody>
                    <a:bodyPr/>
                    <a:lstStyle/>
                    <a:p>
                      <a:r>
                        <a:rPr sz="1875" b="1">
                          <a:solidFill>
                            <a:srgbClr val="193B3A"/>
                          </a:solidFill>
                          <a:latin typeface="Nimbus Sans"/>
                          <a:ea typeface="Nimbus Sans"/>
                          <a:cs typeface="Nimbus Sans"/>
                        </a:rPr>
                        <a:t>Weeks 1–2</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Data preparation and baselines</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Clean splits and baseline metrics</a:t>
                      </a:r>
                    </a:p>
                  </a:txBody>
                  <a:tcPr marL="161925" marR="161925" marT="95250" marB="95250" anchor="ctr">
                    <a:solidFill>
                      <a:srgbClr val="F6F7F3"/>
                    </a:solidFill>
                  </a:tcPr>
                </a:tc>
                <a:extLst>
                  <a:ext uri="{0D108BD9-81ED-4DB2-BD59-A6C34878D82A}">
                    <a16:rowId xmlns:a16="http://schemas.microsoft.com/office/drawing/2014/main" val="10001"/>
                  </a:ext>
                </a:extLst>
              </a:tr>
              <a:tr h="733425">
                <a:tc>
                  <a:txBody>
                    <a:bodyPr/>
                    <a:lstStyle/>
                    <a:p>
                      <a:r>
                        <a:rPr sz="1875" b="1">
                          <a:solidFill>
                            <a:srgbClr val="193B3A"/>
                          </a:solidFill>
                          <a:latin typeface="Nimbus Sans"/>
                          <a:ea typeface="Nimbus Sans"/>
                          <a:cs typeface="Nimbus Sans"/>
                        </a:rPr>
                        <a:t>Weeks 3–4</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Hybrid training and fusion ablations</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Checkpoints and comparison table</a:t>
                      </a:r>
                    </a:p>
                  </a:txBody>
                  <a:tcPr marL="161925" marR="161925" marT="95250" marB="95250" anchor="ctr">
                    <a:solidFill>
                      <a:srgbClr val="EDF2EE"/>
                    </a:solidFill>
                  </a:tcPr>
                </a:tc>
                <a:extLst>
                  <a:ext uri="{0D108BD9-81ED-4DB2-BD59-A6C34878D82A}">
                    <a16:rowId xmlns:a16="http://schemas.microsoft.com/office/drawing/2014/main" val="10002"/>
                  </a:ext>
                </a:extLst>
              </a:tr>
              <a:tr h="733425">
                <a:tc>
                  <a:txBody>
                    <a:bodyPr/>
                    <a:lstStyle/>
                    <a:p>
                      <a:r>
                        <a:rPr sz="1875" b="1">
                          <a:solidFill>
                            <a:srgbClr val="193B3A"/>
                          </a:solidFill>
                          <a:latin typeface="Nimbus Sans"/>
                          <a:ea typeface="Nimbus Sans"/>
                          <a:cs typeface="Nimbus Sans"/>
                        </a:rPr>
                        <a:t>Week 5</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Human review and error analysis</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Failure cases and efficiency report</a:t>
                      </a:r>
                    </a:p>
                  </a:txBody>
                  <a:tcPr marL="161925" marR="161925" marT="95250" marB="95250" anchor="ctr">
                    <a:solidFill>
                      <a:srgbClr val="F6F7F3"/>
                    </a:solidFill>
                  </a:tcPr>
                </a:tc>
                <a:extLst>
                  <a:ext uri="{0D108BD9-81ED-4DB2-BD59-A6C34878D82A}">
                    <a16:rowId xmlns:a16="http://schemas.microsoft.com/office/drawing/2014/main" val="10003"/>
                  </a:ext>
                </a:extLst>
              </a:tr>
              <a:tr h="733425">
                <a:tc>
                  <a:txBody>
                    <a:bodyPr/>
                    <a:lstStyle/>
                    <a:p>
                      <a:r>
                        <a:rPr sz="1875" b="1">
                          <a:solidFill>
                            <a:srgbClr val="193B3A"/>
                          </a:solidFill>
                          <a:latin typeface="Nimbus Sans"/>
                          <a:ea typeface="Nimbus Sans"/>
                          <a:cs typeface="Nimbus Sans"/>
                        </a:rPr>
                        <a:t>Week 6</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Prototype integration and reporting</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Working demo and final report</a:t>
                      </a:r>
                    </a:p>
                  </a:txBody>
                  <a:tcPr marL="161925" marR="161925" marT="95250" marB="95250" anchor="ctr">
                    <a:solidFill>
                      <a:srgbClr val="EDF2EE"/>
                    </a:solidFill>
                  </a:tcPr>
                </a:tc>
                <a:extLst>
                  <a:ext uri="{0D108BD9-81ED-4DB2-BD59-A6C34878D82A}">
                    <a16:rowId xmlns:a16="http://schemas.microsoft.com/office/drawing/2014/main" val="10004"/>
                  </a:ext>
                </a:extLst>
              </a:tr>
            </a:tbl>
          </a:graphicData>
        </a:graphic>
      </p:graphicFrame>
      <p:sp>
        <p:nvSpPr>
          <p:cNvPr id="5" name="text-3">
            <a:extLst>
              <a:ext uri="{FF2B5EF4-FFF2-40B4-BE49-F238E27FC236}">
                <a16:creationId xmlns:a16="http://schemas.microsoft.com/office/drawing/2014/main" id="{9B6212ED-9ACD-407C-8DBA-AA4896F7B671}"/>
              </a:ext>
            </a:extLst>
          </p:cNvPr>
          <p:cNvSpPr>
            <a:spLocks noGrp="1"/>
          </p:cNvSpPr>
          <p:nvPr/>
        </p:nvSpPr>
        <p:spPr>
          <a:xfrm>
            <a:off x="609600" y="5924550"/>
            <a:ext cx="10477500" cy="371475"/>
          </a:xfrm>
          <a:prstGeom prst="rect">
            <a:avLst/>
          </a:prstGeom>
          <a:noFill/>
          <a:ln w="0">
            <a:noFill/>
          </a:ln>
        </p:spPr>
        <p:txBody>
          <a:bodyPr wrap="square" lIns="0" tIns="0" rIns="0" bIns="0" anchor="t">
            <a:noAutofit/>
          </a:bodyPr>
          <a:lstStyle/>
          <a:p>
            <a:pPr algn="l">
              <a:defRPr sz="1875" b="0">
                <a:solidFill>
                  <a:srgbClr val="5F6C6B"/>
                </a:solidFill>
                <a:latin typeface="Nimbus Sans"/>
                <a:ea typeface="Nimbus Sans"/>
                <a:cs typeface="Nimbus Sans"/>
              </a:defRPr>
            </a:pPr>
            <a:r>
              <a:rPr sz="1875" b="0">
                <a:solidFill>
                  <a:srgbClr val="5F6C6B"/>
                </a:solidFill>
                <a:latin typeface="Nimbus Sans"/>
                <a:ea typeface="Nimbus Sans"/>
                <a:cs typeface="Nimbus Sans"/>
              </a:rPr>
              <a:t>Sentence-level MVP first. Paragraph support follows quality and memory checks.</a:t>
            </a:r>
          </a:p>
        </p:txBody>
      </p:sp>
    </p:spTree>
    <p:extLst>
      <p:ext uri="{BB962C8B-B14F-4D97-AF65-F5344CB8AC3E}">
        <p14:creationId xmlns:p14="http://schemas.microsoft.com/office/powerpoint/2010/main" val="90007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3"/>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0D905E72-FF7C-45E8-9D25-671CDDA401D5}"/>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193B3A"/>
                </a:solidFill>
                <a:latin typeface="Nimbus Sans"/>
                <a:ea typeface="Nimbus Sans"/>
                <a:cs typeface="Nimbus Sans"/>
              </a:defRPr>
            </a:pPr>
            <a:r>
              <a:rPr sz="3300" b="1">
                <a:solidFill>
                  <a:srgbClr val="193B3A"/>
                </a:solidFill>
                <a:latin typeface="Nimbus Sans"/>
                <a:ea typeface="Nimbus Sans"/>
                <a:cs typeface="Nimbus Sans"/>
              </a:rPr>
              <a:t>Group responsibilities</a:t>
            </a:r>
          </a:p>
        </p:txBody>
      </p:sp>
      <p:sp>
        <p:nvSpPr>
          <p:cNvPr id="2" name="text-1">
            <a:extLst>
              <a:ext uri="{FF2B5EF4-FFF2-40B4-BE49-F238E27FC236}">
                <a16:creationId xmlns:a16="http://schemas.microsoft.com/office/drawing/2014/main" id="{FA166366-698E-4144-BAC5-550C874369FE}"/>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5F6C6B"/>
                </a:solidFill>
                <a:latin typeface="Nimbus Sans"/>
                <a:ea typeface="Nimbus Sans"/>
                <a:cs typeface="Nimbus Sans"/>
              </a:defRPr>
            </a:pPr>
            <a:r>
              <a:rPr sz="1425" b="0">
                <a:solidFill>
                  <a:srgbClr val="5F6C6B"/>
                </a:solidFill>
                <a:latin typeface="Nimbus Sans"/>
                <a:ea typeface="Nimbus Sans"/>
                <a:cs typeface="Nimbus Sans"/>
              </a:rPr>
              <a:t>10</a:t>
            </a:r>
          </a:p>
        </p:txBody>
      </p:sp>
      <p:sp>
        <p:nvSpPr>
          <p:cNvPr id="3" name="text-2">
            <a:extLst>
              <a:ext uri="{FF2B5EF4-FFF2-40B4-BE49-F238E27FC236}">
                <a16:creationId xmlns:a16="http://schemas.microsoft.com/office/drawing/2014/main" id="{799003A6-3196-4967-83B9-9EDFC396FF0C}"/>
              </a:ext>
            </a:extLst>
          </p:cNvPr>
          <p:cNvSpPr>
            <a:spLocks noGrp="1"/>
          </p:cNvSpPr>
          <p:nvPr/>
        </p:nvSpPr>
        <p:spPr>
          <a:xfrm>
            <a:off x="609600" y="1343025"/>
            <a:ext cx="10763250" cy="495300"/>
          </a:xfrm>
          <a:prstGeom prst="rect">
            <a:avLst/>
          </a:prstGeom>
          <a:noFill/>
          <a:ln w="0">
            <a:noFill/>
          </a:ln>
        </p:spPr>
        <p:txBody>
          <a:bodyPr wrap="square" lIns="0" tIns="0" rIns="0" bIns="0" anchor="t">
            <a:noAutofit/>
          </a:bodyPr>
          <a:lstStyle/>
          <a:p>
            <a:pPr algn="l">
              <a:defRPr sz="2325" b="0">
                <a:solidFill>
                  <a:srgbClr val="5F6C6B"/>
                </a:solidFill>
                <a:latin typeface="Nimbus Sans"/>
                <a:ea typeface="Nimbus Sans"/>
                <a:cs typeface="Nimbus Sans"/>
              </a:defRPr>
            </a:pPr>
            <a:r>
              <a:rPr sz="2325" b="0">
                <a:solidFill>
                  <a:srgbClr val="5F6C6B"/>
                </a:solidFill>
                <a:latin typeface="Nimbus Sans"/>
                <a:ea typeface="Nimbus Sans"/>
                <a:cs typeface="Nimbus Sans"/>
              </a:rPr>
              <a:t>Four owners with clear integration points</a:t>
            </a:r>
          </a:p>
        </p:txBody>
      </p:sp>
      <p:graphicFrame>
        <p:nvGraphicFramePr>
          <p:cNvPr id="8" name="表格 7"/>
          <p:cNvGraphicFramePr/>
          <p:nvPr/>
        </p:nvGraphicFramePr>
        <p:xfrm>
          <a:off x="609600" y="2076450"/>
          <a:ext cx="10858500" cy="4000500"/>
        </p:xfrm>
        <a:graphic>
          <a:graphicData uri="http://schemas.openxmlformats.org/drawingml/2006/table">
            <a:tbl>
              <a:tblPr/>
              <a:tblGrid>
                <a:gridCol w="2305050">
                  <a:extLst>
                    <a:ext uri="{9D8B030D-6E8A-4147-A177-3AD203B41FA5}">
                      <a16:colId xmlns:a16="http://schemas.microsoft.com/office/drawing/2014/main" val="20000"/>
                    </a:ext>
                  </a:extLst>
                </a:gridCol>
                <a:gridCol w="4857750">
                  <a:extLst>
                    <a:ext uri="{9D8B030D-6E8A-4147-A177-3AD203B41FA5}">
                      <a16:colId xmlns:a16="http://schemas.microsoft.com/office/drawing/2014/main" val="20001"/>
                    </a:ext>
                  </a:extLst>
                </a:gridCol>
                <a:gridCol w="3695700">
                  <a:extLst>
                    <a:ext uri="{9D8B030D-6E8A-4147-A177-3AD203B41FA5}">
                      <a16:colId xmlns:a16="http://schemas.microsoft.com/office/drawing/2014/main" val="20002"/>
                    </a:ext>
                  </a:extLst>
                </a:gridCol>
              </a:tblGrid>
              <a:tr h="533400">
                <a:tc>
                  <a:txBody>
                    <a:bodyPr/>
                    <a:lstStyle/>
                    <a:p>
                      <a:r>
                        <a:rPr sz="1725" b="1" dirty="0">
                          <a:solidFill>
                            <a:srgbClr val="FFFFFF"/>
                          </a:solidFill>
                          <a:latin typeface="Nimbus Sans"/>
                          <a:ea typeface="Nimbus Sans"/>
                          <a:cs typeface="Nimbus Sans"/>
                        </a:rPr>
                        <a:t>Member</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Primary responsibility</a:t>
                      </a:r>
                    </a:p>
                  </a:txBody>
                  <a:tcPr marL="161925" marR="161925" marT="95250" marB="95250" anchor="ctr">
                    <a:solidFill>
                      <a:srgbClr val="276963"/>
                    </a:solidFill>
                  </a:tcPr>
                </a:tc>
                <a:tc>
                  <a:txBody>
                    <a:bodyPr/>
                    <a:lstStyle/>
                    <a:p>
                      <a:r>
                        <a:rPr sz="1725" b="1">
                          <a:solidFill>
                            <a:srgbClr val="FFFFFF"/>
                          </a:solidFill>
                          <a:latin typeface="Nimbus Sans"/>
                          <a:ea typeface="Nimbus Sans"/>
                          <a:cs typeface="Nimbus Sans"/>
                        </a:rPr>
                        <a:t>Deliverable</a:t>
                      </a:r>
                    </a:p>
                  </a:txBody>
                  <a:tcPr marL="161925" marR="161925" marT="95250" marB="95250" anchor="ctr">
                    <a:solidFill>
                      <a:srgbClr val="276963"/>
                    </a:solidFill>
                  </a:tcPr>
                </a:tc>
                <a:extLst>
                  <a:ext uri="{0D108BD9-81ED-4DB2-BD59-A6C34878D82A}">
                    <a16:rowId xmlns:a16="http://schemas.microsoft.com/office/drawing/2014/main" val="10000"/>
                  </a:ext>
                </a:extLst>
              </a:tr>
              <a:tr h="866775">
                <a:tc>
                  <a:txBody>
                    <a:bodyPr/>
                    <a:lstStyle/>
                    <a:p>
                      <a:r>
                        <a:rPr sz="1875" b="1">
                          <a:solidFill>
                            <a:srgbClr val="193B3A"/>
                          </a:solidFill>
                          <a:latin typeface="Nimbus Sans"/>
                          <a:ea typeface="Nimbus Sans"/>
                          <a:cs typeface="Nimbus Sans"/>
                        </a:rPr>
                        <a:t>Borui Ning</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Hybrid architecture and fusion</a:t>
                      </a:r>
                    </a:p>
                    <a:p>
                      <a:r>
                        <a:rPr sz="1875" b="0">
                          <a:solidFill>
                            <a:srgbClr val="193B3A"/>
                          </a:solidFill>
                          <a:latin typeface="Nimbus Sans"/>
                          <a:ea typeface="Nimbus Sans"/>
                          <a:cs typeface="Nimbus Sans"/>
                        </a:rPr>
                        <a:t>Model integration</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Integrated hybrid model</a:t>
                      </a:r>
                    </a:p>
                  </a:txBody>
                  <a:tcPr marL="161925" marR="161925" marT="95250" marB="95250" anchor="ctr">
                    <a:solidFill>
                      <a:srgbClr val="F6F7F3"/>
                    </a:solidFill>
                  </a:tcPr>
                </a:tc>
                <a:extLst>
                  <a:ext uri="{0D108BD9-81ED-4DB2-BD59-A6C34878D82A}">
                    <a16:rowId xmlns:a16="http://schemas.microsoft.com/office/drawing/2014/main" val="10001"/>
                  </a:ext>
                </a:extLst>
              </a:tr>
              <a:tr h="866775">
                <a:tc>
                  <a:txBody>
                    <a:bodyPr/>
                    <a:lstStyle/>
                    <a:p>
                      <a:r>
                        <a:rPr lang="en-US" sz="1875" b="1" dirty="0">
                          <a:solidFill>
                            <a:srgbClr val="193B3A"/>
                          </a:solidFill>
                          <a:latin typeface="Nimbus Sans"/>
                          <a:ea typeface="Nimbus Sans"/>
                          <a:cs typeface="Nimbus Sans"/>
                        </a:rPr>
                        <a:t>Lichen</a:t>
                      </a:r>
                      <a:r>
                        <a:rPr sz="1875" b="1" dirty="0">
                          <a:solidFill>
                            <a:srgbClr val="193B3A"/>
                          </a:solidFill>
                          <a:latin typeface="Nimbus Sans"/>
                          <a:ea typeface="Nimbus Sans"/>
                          <a:cs typeface="Nimbus Sans"/>
                        </a:rPr>
                        <a:t> Wang</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Paired data and detector labels</a:t>
                      </a:r>
                    </a:p>
                    <a:p>
                      <a:r>
                        <a:rPr sz="1875" b="0">
                          <a:solidFill>
                            <a:srgbClr val="193B3A"/>
                          </a:solidFill>
                          <a:latin typeface="Nimbus Sans"/>
                          <a:ea typeface="Nimbus Sans"/>
                          <a:cs typeface="Nimbus Sans"/>
                        </a:rPr>
                        <a:t>Cleaning and dataset splits</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Versioned corpus and clean splits</a:t>
                      </a:r>
                    </a:p>
                  </a:txBody>
                  <a:tcPr marL="161925" marR="161925" marT="95250" marB="95250" anchor="ctr">
                    <a:solidFill>
                      <a:srgbClr val="EDF2EE"/>
                    </a:solidFill>
                  </a:tcPr>
                </a:tc>
                <a:extLst>
                  <a:ext uri="{0D108BD9-81ED-4DB2-BD59-A6C34878D82A}">
                    <a16:rowId xmlns:a16="http://schemas.microsoft.com/office/drawing/2014/main" val="10002"/>
                  </a:ext>
                </a:extLst>
              </a:tr>
              <a:tr h="866775">
                <a:tc>
                  <a:txBody>
                    <a:bodyPr/>
                    <a:lstStyle/>
                    <a:p>
                      <a:r>
                        <a:rPr sz="1875" b="1">
                          <a:solidFill>
                            <a:srgbClr val="193B3A"/>
                          </a:solidFill>
                          <a:latin typeface="Nimbus Sans"/>
                          <a:ea typeface="Nimbus Sans"/>
                          <a:cs typeface="Nimbus Sans"/>
                        </a:rPr>
                        <a:t>Haoxiang Ning</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Training, baselines and evaluation</a:t>
                      </a:r>
                    </a:p>
                    <a:p>
                      <a:r>
                        <a:rPr sz="1875" b="0">
                          <a:solidFill>
                            <a:srgbClr val="193B3A"/>
                          </a:solidFill>
                          <a:latin typeface="Nimbus Sans"/>
                          <a:ea typeface="Nimbus Sans"/>
                          <a:cs typeface="Nimbus Sans"/>
                        </a:rPr>
                        <a:t>Tuning and ablation studies</a:t>
                      </a:r>
                    </a:p>
                  </a:txBody>
                  <a:tcPr marL="161925" marR="161925" marT="95250" marB="95250" anchor="ctr">
                    <a:solidFill>
                      <a:srgbClr val="F6F7F3"/>
                    </a:solidFill>
                  </a:tcPr>
                </a:tc>
                <a:tc>
                  <a:txBody>
                    <a:bodyPr/>
                    <a:lstStyle/>
                    <a:p>
                      <a:r>
                        <a:rPr sz="1875" b="0">
                          <a:solidFill>
                            <a:srgbClr val="193B3A"/>
                          </a:solidFill>
                          <a:latin typeface="Nimbus Sans"/>
                          <a:ea typeface="Nimbus Sans"/>
                          <a:cs typeface="Nimbus Sans"/>
                        </a:rPr>
                        <a:t>Metrics and experiment analysis</a:t>
                      </a:r>
                    </a:p>
                  </a:txBody>
                  <a:tcPr marL="161925" marR="161925" marT="95250" marB="95250" anchor="ctr">
                    <a:solidFill>
                      <a:srgbClr val="F6F7F3"/>
                    </a:solidFill>
                  </a:tcPr>
                </a:tc>
                <a:extLst>
                  <a:ext uri="{0D108BD9-81ED-4DB2-BD59-A6C34878D82A}">
                    <a16:rowId xmlns:a16="http://schemas.microsoft.com/office/drawing/2014/main" val="10003"/>
                  </a:ext>
                </a:extLst>
              </a:tr>
              <a:tr h="866775">
                <a:tc>
                  <a:txBody>
                    <a:bodyPr/>
                    <a:lstStyle/>
                    <a:p>
                      <a:r>
                        <a:rPr sz="1875" b="1">
                          <a:solidFill>
                            <a:srgbClr val="193B3A"/>
                          </a:solidFill>
                          <a:latin typeface="Nimbus Sans"/>
                          <a:ea typeface="Nimbus Sans"/>
                          <a:cs typeface="Nimbus Sans"/>
                        </a:rPr>
                        <a:t>Lingfeng Lu</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Interface and qualitative testing</a:t>
                      </a:r>
                    </a:p>
                    <a:p>
                      <a:r>
                        <a:rPr sz="1875" b="0">
                          <a:solidFill>
                            <a:srgbClr val="193B3A"/>
                          </a:solidFill>
                          <a:latin typeface="Nimbus Sans"/>
                          <a:ea typeface="Nimbus Sans"/>
                          <a:cs typeface="Nimbus Sans"/>
                        </a:rPr>
                        <a:t>Visualization and documentation</a:t>
                      </a:r>
                    </a:p>
                  </a:txBody>
                  <a:tcPr marL="161925" marR="161925" marT="95250" marB="95250" anchor="ctr">
                    <a:solidFill>
                      <a:srgbClr val="EDF2EE"/>
                    </a:solidFill>
                  </a:tcPr>
                </a:tc>
                <a:tc>
                  <a:txBody>
                    <a:bodyPr/>
                    <a:lstStyle/>
                    <a:p>
                      <a:r>
                        <a:rPr sz="1875" b="0">
                          <a:solidFill>
                            <a:srgbClr val="193B3A"/>
                          </a:solidFill>
                          <a:latin typeface="Nimbus Sans"/>
                          <a:ea typeface="Nimbus Sans"/>
                          <a:cs typeface="Nimbus Sans"/>
                        </a:rPr>
                        <a:t>Working demo and final materials</a:t>
                      </a:r>
                    </a:p>
                  </a:txBody>
                  <a:tcPr marL="161925" marR="161925" marT="95250" marB="95250" anchor="ctr">
                    <a:solidFill>
                      <a:srgbClr val="EDF2E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73366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83E3B"/>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C0D47A7D-5AC9-4967-8551-FA2854E36BE9}"/>
              </a:ext>
            </a:extLst>
          </p:cNvPr>
          <p:cNvSpPr>
            <a:spLocks noGrp="1"/>
          </p:cNvSpPr>
          <p:nvPr/>
        </p:nvSpPr>
        <p:spPr>
          <a:xfrm>
            <a:off x="609600" y="466725"/>
            <a:ext cx="10953750" cy="638175"/>
          </a:xfrm>
          <a:prstGeom prst="rect">
            <a:avLst/>
          </a:prstGeom>
          <a:noFill/>
          <a:ln w="0">
            <a:noFill/>
          </a:ln>
        </p:spPr>
        <p:txBody>
          <a:bodyPr wrap="square" lIns="0" tIns="0" rIns="0" bIns="0" anchor="t">
            <a:noAutofit/>
          </a:bodyPr>
          <a:lstStyle/>
          <a:p>
            <a:pPr algn="l">
              <a:defRPr sz="3300" b="1">
                <a:solidFill>
                  <a:srgbClr val="FFFFFF"/>
                </a:solidFill>
                <a:latin typeface="Nimbus Sans"/>
                <a:ea typeface="Nimbus Sans"/>
                <a:cs typeface="Nimbus Sans"/>
              </a:defRPr>
            </a:pPr>
            <a:r>
              <a:rPr sz="3300" b="1">
                <a:solidFill>
                  <a:srgbClr val="FFFFFF"/>
                </a:solidFill>
                <a:latin typeface="Nimbus Sans"/>
                <a:ea typeface="Nimbus Sans"/>
                <a:cs typeface="Nimbus Sans"/>
              </a:rPr>
              <a:t>Expected outputs</a:t>
            </a:r>
          </a:p>
        </p:txBody>
      </p:sp>
      <p:sp>
        <p:nvSpPr>
          <p:cNvPr id="2" name="text-1">
            <a:extLst>
              <a:ext uri="{FF2B5EF4-FFF2-40B4-BE49-F238E27FC236}">
                <a16:creationId xmlns:a16="http://schemas.microsoft.com/office/drawing/2014/main" id="{8365BB87-4385-42BC-8406-DEA8953ABEB9}"/>
              </a:ext>
            </a:extLst>
          </p:cNvPr>
          <p:cNvSpPr>
            <a:spLocks noGrp="1"/>
          </p:cNvSpPr>
          <p:nvPr/>
        </p:nvSpPr>
        <p:spPr>
          <a:xfrm>
            <a:off x="11258550" y="6334125"/>
            <a:ext cx="361950" cy="266700"/>
          </a:xfrm>
          <a:prstGeom prst="rect">
            <a:avLst/>
          </a:prstGeom>
          <a:noFill/>
          <a:ln w="0">
            <a:noFill/>
          </a:ln>
        </p:spPr>
        <p:txBody>
          <a:bodyPr wrap="square" lIns="0" tIns="0" rIns="0" bIns="0" anchor="t">
            <a:noAutofit/>
          </a:bodyPr>
          <a:lstStyle/>
          <a:p>
            <a:pPr algn="r">
              <a:defRPr sz="1425" b="0">
                <a:solidFill>
                  <a:srgbClr val="BCD1C7"/>
                </a:solidFill>
                <a:latin typeface="Nimbus Sans"/>
                <a:ea typeface="Nimbus Sans"/>
                <a:cs typeface="Nimbus Sans"/>
              </a:defRPr>
            </a:pPr>
            <a:r>
              <a:rPr sz="1425" b="0">
                <a:solidFill>
                  <a:srgbClr val="BCD1C7"/>
                </a:solidFill>
                <a:latin typeface="Nimbus Sans"/>
                <a:ea typeface="Nimbus Sans"/>
                <a:cs typeface="Nimbus Sans"/>
              </a:rPr>
              <a:t>11</a:t>
            </a:r>
          </a:p>
        </p:txBody>
      </p:sp>
      <p:sp>
        <p:nvSpPr>
          <p:cNvPr id="3" name="text-2">
            <a:extLst>
              <a:ext uri="{FF2B5EF4-FFF2-40B4-BE49-F238E27FC236}">
                <a16:creationId xmlns:a16="http://schemas.microsoft.com/office/drawing/2014/main" id="{D5983810-CC2C-4DF1-860E-A5DF99809A25}"/>
              </a:ext>
            </a:extLst>
          </p:cNvPr>
          <p:cNvSpPr>
            <a:spLocks noGrp="1"/>
          </p:cNvSpPr>
          <p:nvPr/>
        </p:nvSpPr>
        <p:spPr>
          <a:xfrm>
            <a:off x="609600" y="1895475"/>
            <a:ext cx="10906125" cy="561975"/>
          </a:xfrm>
          <a:prstGeom prst="rect">
            <a:avLst/>
          </a:prstGeom>
          <a:noFill/>
          <a:ln w="0">
            <a:noFill/>
          </a:ln>
        </p:spPr>
        <p:txBody>
          <a:bodyPr wrap="square" lIns="0" tIns="0" rIns="0" bIns="0" anchor="t">
            <a:noAutofit/>
          </a:bodyPr>
          <a:lstStyle/>
          <a:p>
            <a:pPr algn="l">
              <a:defRPr sz="3225" b="1">
                <a:solidFill>
                  <a:srgbClr val="FFFFFF"/>
                </a:solidFill>
                <a:latin typeface="Nimbus Sans"/>
                <a:ea typeface="Nimbus Sans"/>
                <a:cs typeface="Nimbus Sans"/>
              </a:defRPr>
            </a:pPr>
            <a:r>
              <a:rPr sz="3225" b="1">
                <a:solidFill>
                  <a:srgbClr val="FFFFFF"/>
                </a:solidFill>
                <a:latin typeface="Nimbus Sans"/>
                <a:ea typeface="Nimbus Sans"/>
                <a:cs typeface="Nimbus Sans"/>
              </a:rPr>
              <a:t>A working writing assistant</a:t>
            </a:r>
          </a:p>
        </p:txBody>
      </p:sp>
      <p:sp>
        <p:nvSpPr>
          <p:cNvPr id="4" name="text-3">
            <a:extLst>
              <a:ext uri="{FF2B5EF4-FFF2-40B4-BE49-F238E27FC236}">
                <a16:creationId xmlns:a16="http://schemas.microsoft.com/office/drawing/2014/main" id="{7A2C451E-B557-4EC7-9FF1-D736E491E073}"/>
              </a:ext>
            </a:extLst>
          </p:cNvPr>
          <p:cNvSpPr>
            <a:spLocks noGrp="1"/>
          </p:cNvSpPr>
          <p:nvPr/>
        </p:nvSpPr>
        <p:spPr>
          <a:xfrm>
            <a:off x="609600" y="2628900"/>
            <a:ext cx="10525125" cy="714375"/>
          </a:xfrm>
          <a:prstGeom prst="rect">
            <a:avLst/>
          </a:prstGeom>
          <a:noFill/>
          <a:ln w="0">
            <a:noFill/>
          </a:ln>
        </p:spPr>
        <p:txBody>
          <a:bodyPr wrap="square" lIns="0" tIns="0" rIns="0" bIns="0" anchor="t">
            <a:noAutofit/>
          </a:bodyPr>
          <a:lstStyle/>
          <a:p>
            <a:pPr algn="l">
              <a:defRPr sz="2325" b="0">
                <a:solidFill>
                  <a:srgbClr val="E7EFE9"/>
                </a:solidFill>
                <a:latin typeface="Nimbus Sans"/>
                <a:ea typeface="Nimbus Sans"/>
                <a:cs typeface="Nimbus Sans"/>
              </a:defRPr>
            </a:pPr>
            <a:r>
              <a:rPr sz="2325" b="0">
                <a:solidFill>
                  <a:srgbClr val="E7EFE9"/>
                </a:solidFill>
                <a:latin typeface="Nimbus Sans"/>
                <a:ea typeface="Nimbus Sans"/>
                <a:cs typeface="Nimbus Sans"/>
              </a:rPr>
              <a:t>Flags weak academic expressions and returns an editable revision.</a:t>
            </a:r>
          </a:p>
        </p:txBody>
      </p:sp>
      <p:sp>
        <p:nvSpPr>
          <p:cNvPr id="5" name="text-4">
            <a:extLst>
              <a:ext uri="{FF2B5EF4-FFF2-40B4-BE49-F238E27FC236}">
                <a16:creationId xmlns:a16="http://schemas.microsoft.com/office/drawing/2014/main" id="{ABB156E2-90ED-44D5-8C6C-D94BEB7A6AAB}"/>
              </a:ext>
            </a:extLst>
          </p:cNvPr>
          <p:cNvSpPr>
            <a:spLocks noGrp="1"/>
          </p:cNvSpPr>
          <p:nvPr/>
        </p:nvSpPr>
        <p:spPr>
          <a:xfrm>
            <a:off x="609600" y="3705225"/>
            <a:ext cx="10906125" cy="561975"/>
          </a:xfrm>
          <a:prstGeom prst="rect">
            <a:avLst/>
          </a:prstGeom>
          <a:noFill/>
          <a:ln w="0">
            <a:noFill/>
          </a:ln>
        </p:spPr>
        <p:txBody>
          <a:bodyPr wrap="square" lIns="0" tIns="0" rIns="0" bIns="0" anchor="t">
            <a:noAutofit/>
          </a:bodyPr>
          <a:lstStyle/>
          <a:p>
            <a:pPr algn="l">
              <a:defRPr sz="3225" b="1">
                <a:solidFill>
                  <a:srgbClr val="FFFFFF"/>
                </a:solidFill>
                <a:latin typeface="Nimbus Sans"/>
                <a:ea typeface="Nimbus Sans"/>
                <a:cs typeface="Nimbus Sans"/>
              </a:defRPr>
            </a:pPr>
            <a:r>
              <a:rPr sz="3225" b="1">
                <a:solidFill>
                  <a:srgbClr val="FFFFFF"/>
                </a:solidFill>
                <a:latin typeface="Nimbus Sans"/>
                <a:ea typeface="Nimbus Sans"/>
                <a:cs typeface="Nimbus Sans"/>
              </a:rPr>
              <a:t>A reproducible model study</a:t>
            </a:r>
          </a:p>
        </p:txBody>
      </p:sp>
      <p:sp>
        <p:nvSpPr>
          <p:cNvPr id="6" name="text-5">
            <a:extLst>
              <a:ext uri="{FF2B5EF4-FFF2-40B4-BE49-F238E27FC236}">
                <a16:creationId xmlns:a16="http://schemas.microsoft.com/office/drawing/2014/main" id="{6C27AC94-3D23-44EB-931C-501B633A3582}"/>
              </a:ext>
            </a:extLst>
          </p:cNvPr>
          <p:cNvSpPr>
            <a:spLocks noGrp="1"/>
          </p:cNvSpPr>
          <p:nvPr/>
        </p:nvSpPr>
        <p:spPr>
          <a:xfrm>
            <a:off x="609600" y="4438650"/>
            <a:ext cx="10477500" cy="866775"/>
          </a:xfrm>
          <a:prstGeom prst="rect">
            <a:avLst/>
          </a:prstGeom>
          <a:noFill/>
          <a:ln w="0">
            <a:noFill/>
          </a:ln>
        </p:spPr>
        <p:txBody>
          <a:bodyPr wrap="square" lIns="0" tIns="0" rIns="0" bIns="0" anchor="t">
            <a:noAutofit/>
          </a:bodyPr>
          <a:lstStyle/>
          <a:p>
            <a:pPr algn="l">
              <a:defRPr sz="2325" b="0">
                <a:solidFill>
                  <a:srgbClr val="E7EFE9"/>
                </a:solidFill>
                <a:latin typeface="Nimbus Sans"/>
                <a:ea typeface="Nimbus Sans"/>
                <a:cs typeface="Nimbus Sans"/>
              </a:defRPr>
            </a:pPr>
            <a:r>
              <a:rPr sz="2325" b="0">
                <a:solidFill>
                  <a:srgbClr val="E7EFE9"/>
                </a:solidFill>
                <a:latin typeface="Nimbus Sans"/>
                <a:ea typeface="Nimbus Sans"/>
                <a:cs typeface="Nimbus Sans"/>
              </a:rPr>
              <a:t>Compares the three architectures and fusion choices</a:t>
            </a:r>
          </a:p>
          <a:p>
            <a:pPr algn="l">
              <a:defRPr sz="2325" b="0">
                <a:solidFill>
                  <a:srgbClr val="E7EFE9"/>
                </a:solidFill>
                <a:latin typeface="Nimbus Sans"/>
                <a:ea typeface="Nimbus Sans"/>
                <a:cs typeface="Nimbus Sans"/>
              </a:defRPr>
            </a:pPr>
            <a:r>
              <a:rPr sz="2325" b="0">
                <a:solidFill>
                  <a:srgbClr val="E7EFE9"/>
                </a:solidFill>
                <a:latin typeface="Nimbus Sans"/>
                <a:ea typeface="Nimbus Sans"/>
                <a:cs typeface="Nimbus Sans"/>
              </a:rPr>
              <a:t>using quality and efficiency evidence.</a:t>
            </a:r>
          </a:p>
        </p:txBody>
      </p:sp>
      <p:sp>
        <p:nvSpPr>
          <p:cNvPr id="7" name="text-6">
            <a:extLst>
              <a:ext uri="{FF2B5EF4-FFF2-40B4-BE49-F238E27FC236}">
                <a16:creationId xmlns:a16="http://schemas.microsoft.com/office/drawing/2014/main" id="{770CD385-88EE-472A-B96A-B1BE25584246}"/>
              </a:ext>
            </a:extLst>
          </p:cNvPr>
          <p:cNvSpPr>
            <a:spLocks noGrp="1"/>
          </p:cNvSpPr>
          <p:nvPr/>
        </p:nvSpPr>
        <p:spPr>
          <a:xfrm>
            <a:off x="609600" y="5962650"/>
            <a:ext cx="6667500" cy="438150"/>
          </a:xfrm>
          <a:prstGeom prst="rect">
            <a:avLst/>
          </a:prstGeom>
          <a:noFill/>
          <a:ln w="0">
            <a:noFill/>
          </a:ln>
        </p:spPr>
        <p:txBody>
          <a:bodyPr wrap="square" lIns="0" tIns="0" rIns="0" bIns="0" anchor="t">
            <a:noAutofit/>
          </a:bodyPr>
          <a:lstStyle/>
          <a:p>
            <a:pPr algn="l">
              <a:defRPr sz="2250" b="0">
                <a:solidFill>
                  <a:srgbClr val="CADBD1"/>
                </a:solidFill>
                <a:latin typeface="Nimbus Sans"/>
                <a:ea typeface="Nimbus Sans"/>
                <a:cs typeface="Nimbus Sans"/>
              </a:defRPr>
            </a:pPr>
            <a:r>
              <a:rPr sz="2250" b="0">
                <a:solidFill>
                  <a:srgbClr val="CADBD1"/>
                </a:solidFill>
                <a:latin typeface="Nimbus Sans"/>
                <a:ea typeface="Nimbus Sans"/>
                <a:cs typeface="Nimbus Sans"/>
              </a:rPr>
              <a:t>Questions</a:t>
            </a:r>
          </a:p>
        </p:txBody>
      </p:sp>
    </p:spTree>
    <p:extLst>
      <p:ext uri="{BB962C8B-B14F-4D97-AF65-F5344CB8AC3E}">
        <p14:creationId xmlns:p14="http://schemas.microsoft.com/office/powerpoint/2010/main" val="152734701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2162</Words>
  <Application>Microsoft Office PowerPoint</Application>
  <DocSecurity>0</DocSecurity>
  <PresentationFormat>宽屏</PresentationFormat>
  <Paragraphs>283</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Nimbus Sans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Wayne Bruce</cp:lastModifiedBy>
  <cp:revision>3</cp:revision>
  <dcterms:created xsi:type="dcterms:W3CDTF">2026-09-15T06:32:56Z</dcterms:created>
  <dcterms:modified xsi:type="dcterms:W3CDTF">2026-09-22T04:40:04Z</dcterms:modified>
</cp:coreProperties>
</file>